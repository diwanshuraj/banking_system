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2.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charts/chart3.xml" ContentType="application/vnd.openxmlformats-officedocument.drawingml.chart+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90e8e59-f88c-9fcb-768b-1714ad2ad198}">
          <p14:sldIdLst>
            <p14:sldId id="256"/>
            <p14:sldId id="257"/>
          </p14:sldIdLst>
        </p14:section>
        <p14:section name="Project overview" id="{d440b2d9-b463-e3bd-c718-56d9a74fda49}">
          <p14:sldIdLst>
            <p14:sldId id="258"/>
            <p14:sldId id="259"/>
            <p14:sldId id="260"/>
            <p14:sldId id="261"/>
            <p14:sldId id="262"/>
          </p14:sldIdLst>
        </p14:section>
        <p14:section name="System design" id="{0846aff5-75d4-041a-80d0-e3a23a40e11d}">
          <p14:sldIdLst>
            <p14:sldId id="263"/>
            <p14:sldId id="264"/>
            <p14:sldId id="265"/>
            <p14:sldId id="266"/>
            <p14:sldId id="267"/>
            <p14:sldId id="268"/>
          </p14:sldIdLst>
        </p14:section>
        <p14:section name="Core Java" id="{6c7d84d0-81ad-7a2f-9056-908b8802bff7}">
          <p14:sldIdLst>
            <p14:sldId id="269"/>
            <p14:sldId id="270"/>
            <p14:sldId id="271"/>
            <p14:sldId id="272"/>
            <p14:sldId id="273"/>
            <p14:sldId id="274"/>
          </p14:sldIdLst>
        </p14:section>
        <p14:section name="JDBC &amp; Servlets" id="{7535f919-62f6-02aa-e755-50b3bfe45a2e}">
          <p14:sldIdLst>
            <p14:sldId id="275"/>
            <p14:sldId id="276"/>
            <p14:sldId id="277"/>
            <p14:sldId id="278"/>
            <p14:sldId id="279"/>
            <p14:sldId id="280"/>
          </p14:sldIdLst>
        </p14:section>
        <p14:section name="Showcase &amp; results" id="{d3bcb62a-d718-a366-37b3-2b0e5ae4e246}">
          <p14:sldIdLst>
            <p14:sldId id="281"/>
            <p14:sldId id="282"/>
            <p14:sldId id="283"/>
            <p14:sldId id="284"/>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Backend Java code by layer (lines)</a:t>
            </a:r>
          </a:p>
        </c:rich>
      </c:tx>
      <c:layout/>
      <c:overlay val="0"/>
    </c:title>
    <c:autoTitleDeleted val="0"/>
    <c:plotArea>
      <c:layout/>
      <c:barChart>
        <c:barDir val="bar"/>
        <c:grouping val="clustered"/>
        <c:varyColors val="0"/>
        <c:ser>
          <c:idx val="0"/>
          <c:order val="0"/>
          <c:tx>
            <c:strRef>
              <c:f>Sheet1!$B$1</c:f>
              <c:strCache>
                <c:ptCount val="1"/>
                <c:pt idx="0">
                  <c:v>Lines of code</c:v>
                </c:pt>
              </c:strCache>
            </c:strRef>
          </c:tx>
          <c:spPr>
            <a:solidFill>
              <a:srgbClr val="1D4ED8"/>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Sheet1!$A$2:$A$12</c:f>
              <c:multiLvlStrCache>
                <c:ptCount val="11"/>
                <c:lvl>
                  <c:pt idx="0">
                    <c:v>Services</c:v>
                  </c:pt>
                  <c:pt idx="1">
                    <c:v>Entities</c:v>
                  </c:pt>
                  <c:pt idx="2">
                    <c:v>Servlets (web)</c:v>
                  </c:pt>
                  <c:pt idx="3">
                    <c:v>Config &amp; seed data</c:v>
                  </c:pt>
                  <c:pt idx="4">
                    <c:v>DTOs</c:v>
                  </c:pt>
                  <c:pt idx="5">
                    <c:v>REST controllers</c:v>
                  </c:pt>
                  <c:pt idx="6">
                    <c:v>JDBC DAOs</c:v>
                  </c:pt>
                  <c:pt idx="7">
                    <c:v>Core OOP model</c:v>
                  </c:pt>
                  <c:pt idx="8">
                    <c:v>Repositories</c:v>
                  </c:pt>
                  <c:pt idx="9">
                    <c:v>Exceptions</c:v>
                  </c:pt>
                  <c:pt idx="10">
                    <c:v>Security</c:v>
                  </c:pt>
                </c:lvl>
              </c:multiLvlStrCache>
            </c:multiLvlStrRef>
          </c:cat>
          <c:val>
            <c:numRef>
              <c:f>Sheet1!$B$2:$B$12</c:f>
              <c:numCache>
                <c:formatCode>General</c:formatCode>
                <c:ptCount val="11"/>
                <c:pt idx="0">
                  <c:v>2342</c:v>
                </c:pt>
                <c:pt idx="1">
                  <c:v>730</c:v>
                </c:pt>
                <c:pt idx="2">
                  <c:v>688</c:v>
                </c:pt>
                <c:pt idx="3">
                  <c:v>505</c:v>
                </c:pt>
                <c:pt idx="4">
                  <c:v>480</c:v>
                </c:pt>
                <c:pt idx="5">
                  <c:v>408</c:v>
                </c:pt>
                <c:pt idx="6">
                  <c:v>404</c:v>
                </c:pt>
                <c:pt idx="7">
                  <c:v>293</c:v>
                </c:pt>
                <c:pt idx="8">
                  <c:v>271</c:v>
                </c:pt>
                <c:pt idx="9">
                  <c:v>165</c:v>
                </c:pt>
                <c:pt idx="10">
                  <c:v>104</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Where the money went, last 30 days (₹)</a:t>
            </a:r>
          </a:p>
        </c:rich>
      </c:tx>
      <c:layout/>
      <c:overlay val="0"/>
    </c:title>
    <c:autoTitleDeleted val="0"/>
    <c:plotArea>
      <c:layout/>
      <c:barChart>
        <c:barDir val="bar"/>
        <c:grouping val="clustered"/>
        <c:varyColors val="0"/>
        <c:ser>
          <c:idx val="0"/>
          <c:order val="0"/>
          <c:tx>
            <c:strRef>
              <c:f>Sheet1!$B$1</c:f>
              <c:strCache>
                <c:ptCount val="1"/>
                <c:pt idx="0">
                  <c:v>Spent</c:v>
                </c:pt>
              </c:strCache>
            </c:strRef>
          </c:tx>
          <c:spPr>
            <a:solidFill>
              <a:srgbClr val="1D4ED8"/>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IMPS</c:v>
                  </c:pt>
                  <c:pt idx="1">
                    <c:v>Loan EMI</c:v>
                  </c:pt>
                  <c:pt idx="2">
                    <c:v>UPI</c:v>
                  </c:pt>
                  <c:pt idx="3">
                    <c:v>Bills</c:v>
                  </c:pt>
                </c:lvl>
              </c:multiLvlStrCache>
            </c:multiLvlStrRef>
          </c:cat>
          <c:val>
            <c:numRef>
              <c:f>Sheet1!$B$2:$B$5</c:f>
              <c:numCache>
                <c:formatCode>General</c:formatCode>
                <c:ptCount val="4"/>
                <c:pt idx="0">
                  <c:v>22000</c:v>
                </c:pt>
                <c:pt idx="1">
                  <c:v>9843</c:v>
                </c:pt>
                <c:pt idx="2">
                  <c:v>8722</c:v>
                </c:pt>
                <c:pt idx="3">
                  <c:v>1904</c:v>
                </c:pt>
              </c:numCache>
            </c:numRef>
          </c:val>
        </c:ser>
        <c:dLbls>
          <c:numFmt formatCode="#,##0"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Money in vs out (₹ thousand)</a:t>
            </a:r>
          </a:p>
        </c:rich>
      </c:tx>
      <c:layout/>
      <c:overlay val="0"/>
    </c:title>
    <c:autoTitleDeleted val="0"/>
    <c:plotArea>
      <c:layout/>
      <c:barChart>
        <c:barDir val="col"/>
        <c:grouping val="clustered"/>
        <c:varyColors val="0"/>
        <c:ser>
          <c:idx val="0"/>
          <c:order val="0"/>
          <c:tx>
            <c:strRef>
              <c:f>Sheet1!$B$1</c:f>
              <c:strCache>
                <c:ptCount val="1"/>
                <c:pt idx="0">
                  <c:v>Money in</c:v>
                </c:pt>
              </c:strCache>
            </c:strRef>
          </c:tx>
          <c:spPr>
            <a:solidFill>
              <a:srgbClr val="1D4ED8"/>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cat>
            <c:multiLvlStrRef>
              <c:f>Sheet1!$A$2:$A$7</c:f>
              <c:multiLvlStrCache>
                <c:ptCount val="6"/>
                <c:lvl>
                  <c:pt idx="0">
                    <c:v>May 26</c:v>
                  </c:pt>
                  <c:pt idx="1">
                    <c:v>Jun 26</c:v>
                  </c:pt>
                  <c:pt idx="2">
                    <c:v>Jul 26</c:v>
                  </c:pt>
                  <c:pt idx="3">
                    <c:v>Aug 26</c:v>
                  </c:pt>
                  <c:pt idx="4">
                    <c:v>Sep 26</c:v>
                  </c:pt>
                  <c:pt idx="5">
                    <c:v>Oct 26</c:v>
                  </c:pt>
                </c:lvl>
              </c:multiLvlStrCache>
            </c:multiLvlStrRef>
          </c:cat>
          <c:val>
            <c:numRef>
              <c:f>Sheet1!$B$2:$B$7</c:f>
              <c:numCache>
                <c:formatCode>General</c:formatCode>
                <c:ptCount val="6"/>
                <c:pt idx="0">
                  <c:v>117</c:v>
                </c:pt>
                <c:pt idx="1">
                  <c:v>114</c:v>
                </c:pt>
                <c:pt idx="2">
                  <c:v>110</c:v>
                </c:pt>
                <c:pt idx="3">
                  <c:v>115</c:v>
                </c:pt>
                <c:pt idx="4">
                  <c:v>112</c:v>
                </c:pt>
                <c:pt idx="5">
                  <c:v>120</c:v>
                </c:pt>
              </c:numCache>
            </c:numRef>
          </c:val>
        </c:ser>
        <c:ser>
          <c:idx val="1"/>
          <c:order val="1"/>
          <c:tx>
            <c:strRef>
              <c:f>Sheet1!$C$1</c:f>
              <c:strCache>
                <c:ptCount val="1"/>
                <c:pt idx="0">
                  <c:v>Money out</c:v>
                </c:pt>
              </c:strCache>
            </c:strRef>
          </c:tx>
          <c:spPr>
            <a:solidFill>
              <a:srgbClr val="F59E0B"/>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cat>
            <c:multiLvlStrRef>
              <c:f>Sheet1!$A$2:$A$7</c:f>
              <c:multiLvlStrCache>
                <c:ptCount val="6"/>
                <c:lvl>
                  <c:pt idx="0">
                    <c:v>May 26</c:v>
                  </c:pt>
                  <c:pt idx="1">
                    <c:v>Jun 26</c:v>
                  </c:pt>
                  <c:pt idx="2">
                    <c:v>Jul 26</c:v>
                  </c:pt>
                  <c:pt idx="3">
                    <c:v>Aug 26</c:v>
                  </c:pt>
                  <c:pt idx="4">
                    <c:v>Sep 26</c:v>
                  </c:pt>
                  <c:pt idx="5">
                    <c:v>Oct 26</c:v>
                  </c:pt>
                </c:lvl>
              </c:multiLvlStrCache>
            </c:multiLvlStrRef>
          </c:cat>
          <c:val>
            <c:numRef>
              <c:f>Sheet1!$C$2:$C$7</c:f>
              <c:numCache>
                <c:formatCode>General</c:formatCode>
                <c:ptCount val="6"/>
                <c:pt idx="0">
                  <c:v>35</c:v>
                </c:pt>
                <c:pt idx="1">
                  <c:v>40</c:v>
                </c:pt>
                <c:pt idx="2">
                  <c:v>38</c:v>
                </c:pt>
                <c:pt idx="3">
                  <c:v>37</c:v>
                </c:pt>
                <c:pt idx="4">
                  <c:v>37</c:v>
                </c:pt>
                <c:pt idx="5">
                  <c:v>24</c:v>
                </c:pt>
              </c:numCache>
            </c:numRef>
          </c:val>
        </c:ser>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Value by payment channel, last 14 days</a:t>
            </a:r>
          </a:p>
        </c:rich>
      </c:tx>
      <c:layout/>
      <c:overlay val="0"/>
    </c:title>
    <c:autoTitleDeleted val="0"/>
    <c:plotArea>
      <c:layout/>
      <c:doughnutChart>
        <c:varyColors val="1"/>
        <c:ser>
          <c:idx val="0"/>
          <c:order val="0"/>
          <c:tx>
            <c:strRef>
              <c:f>Sheet1!$B$1</c:f>
              <c:strCache>
                <c:ptCount val="1"/>
                <c:pt idx="0">
                  <c:v>Share</c:v>
                </c:pt>
              </c:strCache>
            </c:strRef>
          </c:tx>
          <c:spPr>
            <a:solidFill>
              <a:schemeClr val="accent1"/>
            </a:solidFill>
            <a:ln w="9525" cap="flat">
              <a:solidFill>
                <a:srgbClr val="F9F9F9"/>
              </a:solidFill>
              <a:prstDash val="solid"/>
              <a:round/>
            </a:ln>
            <a:effectLst/>
          </c:spPr>
          <c:dPt>
            <c:idx val="0"/>
            <c:bubble3D val="0"/>
            <c:spPr>
              <a:solidFill>
                <a:srgbClr val="1D4ED8"/>
              </a:solidFill>
              <a:effectLst/>
            </c:spPr>
          </c:dPt>
          <c:dPt>
            <c:idx val="1"/>
            <c:bubble3D val="0"/>
            <c:spPr>
              <a:solidFill>
                <a:srgbClr val="60A5FA"/>
              </a:solidFill>
              <a:effectLst/>
            </c:spPr>
          </c:dPt>
          <c:dPt>
            <c:idx val="2"/>
            <c:bubble3D val="0"/>
            <c:spPr>
              <a:solidFill>
                <a:srgbClr val="F59E0B"/>
              </a:solidFill>
              <a:effectLst/>
            </c:spPr>
          </c:dPt>
          <c:dPt>
            <c:idx val="3"/>
            <c:bubble3D val="0"/>
            <c:spPr>
              <a:solidFill>
                <a:srgbClr val="0E7490"/>
              </a:solidFill>
              <a:effectLst/>
            </c:spPr>
          </c:dPt>
          <c:dPt>
            <c:idx val="4"/>
            <c:bubble3D val="0"/>
            <c:spPr>
              <a:solidFill>
                <a:srgbClr val="94A3B8"/>
              </a:solidFill>
              <a:effectLst/>
            </c:spPr>
          </c:dPt>
          <c:dLbls>
            <c:dLbl>
              <c:idx val="0"/>
              <c:numFmt formatCode="General" sourceLinked="0"/>
              <c:spPr/>
              <c:txPr>
                <a:bodyPr/>
                <a:lstStyle/>
                <a:p>
                  <a:pPr>
                    <a:defRPr sz="1100" b="0" i="0" u="none" strike="noStrike">
                      <a:solidFill>
                        <a:srgbClr val="0F172A"/>
                      </a:solidFill>
                      <a:latin typeface="+mn-lt"/>
                    </a:defRPr>
                  </a:pPr>
                </a:p>
              </c:txPr>
              <c:showLegendKey val="0"/>
              <c:showVal val="0"/>
              <c:showCatName val="0"/>
              <c:showSerName val="0"/>
              <c:showPercent val="0"/>
              <c:showBubbleSize val="0"/>
            </c:dLbl>
            <c:dLbl>
              <c:idx val="1"/>
              <c:numFmt formatCode="General" sourceLinked="0"/>
              <c:spPr/>
              <c:txPr>
                <a:bodyPr/>
                <a:lstStyle/>
                <a:p>
                  <a:pPr>
                    <a:defRPr sz="1100" b="0" i="0" u="none" strike="noStrike">
                      <a:solidFill>
                        <a:srgbClr val="0F172A"/>
                      </a:solidFill>
                      <a:latin typeface="+mn-lt"/>
                    </a:defRPr>
                  </a:pPr>
                </a:p>
              </c:txPr>
              <c:showLegendKey val="0"/>
              <c:showVal val="0"/>
              <c:showCatName val="0"/>
              <c:showSerName val="0"/>
              <c:showPercent val="0"/>
              <c:showBubbleSize val="0"/>
            </c:dLbl>
            <c:dLbl>
              <c:idx val="2"/>
              <c:numFmt formatCode="General" sourceLinked="0"/>
              <c:spPr/>
              <c:txPr>
                <a:bodyPr/>
                <a:lstStyle/>
                <a:p>
                  <a:pPr>
                    <a:defRPr sz="1100" b="0" i="0" u="none" strike="noStrike">
                      <a:solidFill>
                        <a:srgbClr val="0F172A"/>
                      </a:solidFill>
                      <a:latin typeface="+mn-lt"/>
                    </a:defRPr>
                  </a:pPr>
                </a:p>
              </c:txPr>
              <c:showLegendKey val="0"/>
              <c:showVal val="0"/>
              <c:showCatName val="0"/>
              <c:showSerName val="0"/>
              <c:showPercent val="0"/>
              <c:showBubbleSize val="0"/>
            </c:dLbl>
            <c:dLbl>
              <c:idx val="3"/>
              <c:numFmt formatCode="General" sourceLinked="0"/>
              <c:spPr/>
              <c:txPr>
                <a:bodyPr/>
                <a:lstStyle/>
                <a:p>
                  <a:pPr>
                    <a:defRPr sz="1100" b="0" i="0" u="none" strike="noStrike">
                      <a:solidFill>
                        <a:srgbClr val="0F172A"/>
                      </a:solidFill>
                      <a:latin typeface="+mn-lt"/>
                    </a:defRPr>
                  </a:pPr>
                </a:p>
              </c:txPr>
              <c:showLegendKey val="0"/>
              <c:showVal val="0"/>
              <c:showCatName val="0"/>
              <c:showSerName val="0"/>
              <c:showPercent val="0"/>
              <c:showBubbleSize val="0"/>
            </c:dLbl>
            <c:dLbl>
              <c:idx val="4"/>
              <c:numFmt formatCode="General" sourceLinked="0"/>
              <c:spPr/>
              <c:txPr>
                <a:bodyPr/>
                <a:lstStyle/>
                <a:p>
                  <a:pPr>
                    <a:defRPr sz="1100" b="0" i="0" u="none" strike="noStrike">
                      <a:solidFill>
                        <a:srgbClr val="0F172A"/>
                      </a:solidFill>
                      <a:latin typeface="+mn-lt"/>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NEFT  56%</c:v>
                </c:pt>
                <c:pt idx="1">
                  <c:v>IMPS  26%</c:v>
                </c:pt>
                <c:pt idx="2">
                  <c:v>UPI  13%</c:v>
                </c:pt>
                <c:pt idx="3">
                  <c:v>Loan  4%</c:v>
                </c:pt>
                <c:pt idx="4">
                  <c:v>Bills  1%</c:v>
                </c:pt>
              </c:strCache>
            </c:strRef>
          </c:cat>
          <c:val>
            <c:numRef>
              <c:f>Sheet1!$B$2:$B$6</c:f>
              <c:numCache>
                <c:ptCount val="5"/>
                <c:pt idx="0">
                  <c:v>132180</c:v>
                </c:pt>
                <c:pt idx="1">
                  <c:v>61500</c:v>
                </c:pt>
                <c:pt idx="2">
                  <c:v>30004</c:v>
                </c:pt>
                <c:pt idx="3">
                  <c:v>9843</c:v>
                </c:pt>
                <c:pt idx="4">
                  <c:v>1904</c:v>
                </c:pt>
              </c:numCache>
            </c:numRef>
          </c:val>
        </c:ser>
        <c:firstSliceAng val="0"/>
        <c:holeSize val="55"/>
      </c:doughnutChart>
      <c:spPr>
        <a:noFill/>
        <a:ln>
          <a:noFill/>
        </a:ln>
        <a:effectLst/>
      </c:spPr>
    </c:plotArea>
    <c:legend>
      <c:legendPos val="r"/>
      <c:overlay val="0"/>
      <c:txPr>
        <a:bodyPr/>
        <a:lstStyle/>
        <a:p>
          <a:pPr>
            <a:defRPr sz="1200">
              <a:solidFill>
                <a:srgbClr val="0F172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1F3A"/>
                </a:solidFill>
                <a:latin typeface="+mn-lt"/>
              </a:defRPr>
            </a:pPr>
            <a:r>
              <a:rPr sz="1400" b="0" i="0" u="none" strike="noStrike">
                <a:solidFill>
                  <a:srgbClr val="0B1F3A"/>
                </a:solidFill>
                <a:latin typeface="+mn-lt"/>
              </a:rPr>
              <a:t>Daily transaction value, October (₹ thousand)</a:t>
            </a:r>
          </a:p>
        </c:rich>
      </c:tx>
      <c:layout/>
      <c:overlay val="0"/>
    </c:title>
    <c:autoTitleDeleted val="0"/>
    <c:plotArea>
      <c:layout/>
      <c:barChart>
        <c:barDir val="col"/>
        <c:grouping val="clustered"/>
        <c:varyColors val="0"/>
        <c:ser>
          <c:idx val="0"/>
          <c:order val="0"/>
          <c:tx>
            <c:strRef>
              <c:f>Sheet1!$B$1</c:f>
              <c:strCache>
                <c:ptCount val="1"/>
                <c:pt idx="0">
                  <c:v>Value</c:v>
                </c:pt>
              </c:strCache>
            </c:strRef>
          </c:tx>
          <c:spPr>
            <a:solidFill>
              <a:srgbClr val="1D4ED8"/>
            </a:solidFill>
            <a:effectLst/>
          </c:spPr>
          <c:invertIfNegative val="0"/>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cat>
            <c:multiLvlStrRef>
              <c:f>Sheet1!$A$2:$A$15</c:f>
              <c:multiLvlStrCache>
                <c:ptCount val="14"/>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lvl>
              </c:multiLvlStrCache>
            </c:multiLvlStrRef>
          </c:cat>
          <c:val>
            <c:numRef>
              <c:f>Sheet1!$B$2:$B$15</c:f>
              <c:numCache>
                <c:formatCode>General</c:formatCode>
                <c:ptCount val="14"/>
                <c:pt idx="0">
                  <c:v>0</c:v>
                </c:pt>
                <c:pt idx="1">
                  <c:v>2.1</c:v>
                </c:pt>
                <c:pt idx="2">
                  <c:v>57</c:v>
                </c:pt>
                <c:pt idx="3">
                  <c:v>4.1</c:v>
                </c:pt>
                <c:pt idx="4">
                  <c:v>14</c:v>
                </c:pt>
                <c:pt idx="5">
                  <c:v>0.3</c:v>
                </c:pt>
                <c:pt idx="6">
                  <c:v>9.8</c:v>
                </c:pt>
                <c:pt idx="7">
                  <c:v>0</c:v>
                </c:pt>
                <c:pt idx="8">
                  <c:v>0</c:v>
                </c:pt>
                <c:pt idx="9">
                  <c:v>0</c:v>
                </c:pt>
                <c:pt idx="10">
                  <c:v>0</c:v>
                </c:pt>
                <c:pt idx="11">
                  <c:v>0</c:v>
                </c:pt>
                <c:pt idx="12">
                  <c:v>0</c:v>
                </c:pt>
                <c:pt idx="13">
                  <c:v>0</c:v>
                </c:pt>
              </c:numCache>
            </c:numRef>
          </c:val>
        </c:ser>
        <c:dLbls>
          <c:numFmt formatCode="#,##0" sourceLinked="0"/>
          <c:txPr>
            <a:bodyPr/>
            <a:lstStyle/>
            <a:p>
              <a:pPr>
                <a:defRPr b="0" i="0" strike="noStrike" sz="1100" u="none">
                  <a:solidFill>
                    <a:srgbClr val="0F172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online banking system for an Indian bank, built in Java. This talk covers the problem, the design, the Java concepts from the rubric, and a tour of the working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parts. The first two explain what was built and how it is designed; the middle two map directly onto the marking rubric; the last part shows the running system and the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in one sentence: give customers and staff self-service banking without ever compromising correctness or privacy. The four objectives on the right drive every design decision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numbers to show the size of the project. The chart shows where the backend code lives: most of the business rules are in the service layer, and the rubric-specific layers (servlets, JDBC DAOs, core model, exceptions) add about 1,500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Customers get full self-service banking. Branch administrators get a separate console. The servlet portal described later is a third, read-focused interface for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17 and Spring Boot on the backend, with the embedded Tomcat servlet container. Data access uses both raw JDBC (for the rubric) and JPA. MySQL in production; an in-memory H2 database makes the demo run anywhere.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to right: browser, presentation, business and data access, database. The outlined top path is the classic Java web stack from the rubric. The bottom path serves the React app. Both read and write the same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core tables: users, accounts and transactions, each one-to-many. A transfer between two customers of this bank writes two transaction rows that share a reference id. The audit log table is not a JPA entity; it is created and written with raw JDBC.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flow in the system. Each step can reject the transfer. Locking the two account rows in a fixed order prevents deadlocks between opposite transfers. Because everything runs in one transaction, money is never half-moved.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synchronous path is the classic servlet pipeline: container, filter, servlet, DAO, response. The template method in PortalServlet also hands an audit event to a queue; a separate thread writes those in batches. That is the producer-consumer pattern in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build pipeline: compile, unit tests, integration tests that start the real server, then package. Nothing is packaged unless every test passes.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BankAccount is abstract and implements InterestBearing. SalaryAccount extends SavingsAccount: multi-level inheritance. The same monthlyInterest() call returns different values depending on the real object type, which is runtime polymorphism.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banking errors extend one checked exception. DatabaseException wraps SQLException, which is exception chaining. The servlet base class catches each type and maps it to the right HTTP status; try-with-resources closes every JDBC object. The screenshot is the real 400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collection was chosen for a reason: EnumMap for enum keys, PriorityQueue to find the top N without sorting everything, BlockingQueue and ConcurrentHashMap where several threads share data. Generics give type-safe DAOs and reusable helpers.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synchronization two threads can read the same balance and both write, losing money. Without a fixed lock order, A-to-B and B-to-A transfers can deadlock. The stress test proves both problems are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fans out one task per account to a fixed thread pool and merges the results. The audit log is a classic producer-consumer: request threads only enqueue, and one daemon thread drains the queue and writes batches.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DBConnection hands out pooled connections. Each DAO is an interface with a JDBC implementation. The code shows the batch insert: auto-commit off, batch, commit, and rollback on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live screenshot of the portal. The ownership check is in the SQL itself, so a hand-typed URL with another customer's account id returns 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six servlets and their URLs. Every page servlet extends the abstract PortalServlet, so session handling, error pages and auditing are written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demo: sign in as priya.v@example.com, open accounts, a mini statement, the report and finally the activity page, which lists every page just visited.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page shows money in and out per account, spending by channel and the five largest transactions. The chart repeats the channel totals that the SQL GROUP BY returned.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React dashboard. The chart on the right uses the same monthly money-in and money-out figures the dashboard API returns for this customer.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the customer screens: accounts with IFSC and UPI details, transfers with live limits, a searchable passbook, fixed deposits with maturity tracking, loans with EMI progress, and debit-card controls.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 overview: customers, deposits, pending loans, frozen accounts and the loan book. The two charts use the same data as the admin metrics API: share of value by payment channel, and daily transaction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admin workflows. Access is enforced on the server, not just hidden in the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is layered: credentials are hashed, sessions are protected, every query is parameterised and scoped to the owner, and every value written to HTML is escaped.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end-to-end test starts the actual server on a random port and drives the servlets over HTTP with a cookie-aware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real problems met while building the project and how each was solved. The future-scope items are natural next steps for a production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three takeaways, then invite questions. Offer a live demo if there 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103120"/>
            <a:ext cx="5577840" cy="9144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640080" y="3127248"/>
            <a:ext cx="5577840" cy="109728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rtlCol="0"/>
          <a:lstStyle>
            <a:lvl1pPr algn="l" indent="0" marL="0">
              <a:buNone/>
              <a:defRPr lang="en-US" sz="7200" b="1" dirty="0">
                <a:solidFill>
                  <a:schemeClr val="accent2"/>
                </a:solidFill>
              </a:defRPr>
            </a:lvl1pPr>
          </a:lstStyle>
          <a:p>
            <a:pPr algn="l" indent="0" marL="0">
              <a:buNone/>
            </a:pPr>
            <a:endParaRPr lang="en-US" sz="7200" dirty="0"/>
          </a:p>
        </p:txBody>
      </p:sp>
      <p:sp>
        <p:nvSpPr>
          <p:cNvPr id="3" name="Text 0"/>
          <p:cNvSpPr/>
          <p:nvPr>
            <p:ph idx="101" type="title" hasCustomPrompt="1"/>
          </p:nvPr>
        </p:nvSpPr>
        <p:spPr>
          <a:xfrm>
            <a:off x="731520" y="2834640"/>
            <a:ext cx="566928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3703320"/>
            <a:ext cx="5486400" cy="914400"/>
          </a:xfrm>
          <a:prstGeom prst="rect">
            <a:avLst/>
          </a:prstGeom>
          <a:noFill/>
          <a:ln/>
        </p:spPr>
        <p:txBody>
          <a:bodyPr wrap="square" rtlCol="0"/>
          <a:lstStyle>
            <a:lvl1pPr algn="l" indent="0" marL="0">
              <a:buNone/>
              <a:defRPr lang="en-US" sz="1800" dirty="0">
                <a:solidFill>
                  <a:srgbClr val="CBD5E1"/>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
        <p:nvSpPr>
          <p:cNvPr id="5"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Bharat National Bank  |  Online Banking System</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4.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4.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slideLayout" Target="../slideLayouts/slideLayout4.xml"/><Relationship Id="rId8"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4.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4.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chart" Target="/ppt/charts/chart2.xml"/><Relationship Id="rId1" Type="http://schemas.openxmlformats.org/officeDocument/2006/relationships/image" Target="../media/image-25-1.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27-1.png"/><Relationship Id="rId3" Type="http://schemas.openxmlformats.org/officeDocument/2006/relationships/slideLayout" Target="../slideLayouts/slideLayout4.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4.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2" Type="http://schemas.openxmlformats.org/officeDocument/2006/relationships/chart" Target="/ppt/charts/chart4.xml"/><Relationship Id="rId3" Type="http://schemas.openxmlformats.org/officeDocument/2006/relationships/chart" Target="/ppt/charts/chart5.xml"/><Relationship Id="rId1" Type="http://schemas.openxmlformats.org/officeDocument/2006/relationships/image" Target="../media/image-29-1.png"/><Relationship Id="rId4" Type="http://schemas.openxmlformats.org/officeDocument/2006/relationships/slideLayout" Target="../slideLayouts/slideLayout4.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slideLayout" Target="../slideLayouts/slideLayout4.xml"/><Relationship Id="rId5"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slideLayout" Target="../slideLayouts/slideLayout4.xml"/><Relationship Id="rId10"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4.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slideLayout" Target="../slideLayouts/slideLayout4.xml"/><Relationship Id="rId7"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737360"/>
            <a:ext cx="5486400"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JAVA WEB PROJECT</a:t>
            </a:r>
            <a:endParaRPr lang="en-US" sz="1300" dirty="0"/>
          </a:p>
        </p:txBody>
      </p:sp>
      <p:sp>
        <p:nvSpPr>
          <p:cNvPr id="3" name="Text 0"/>
          <p:cNvSpPr/>
          <p:nvPr>
            <p:ph idx="100" type="title" hasCustomPrompt="1"/>
          </p:nvPr>
        </p:nvSpPr>
        <p:spPr>
          <a:xfrm>
            <a:off x="640080" y="2103120"/>
            <a:ext cx="5577840" cy="914400"/>
          </a:xfrm>
          <a:prstGeom prst="rect">
            <a:avLst/>
          </a:prstGeom>
          <a:noFill/>
          <a:ln/>
        </p:spPr>
        <p:txBody>
          <a:bodyPr wrap="square" lIns="0" tIns="0" rIns="0" bIns="0" rtlCol="0" anchor="b"/>
          <a:lstStyle/>
          <a:p>
            <a:pPr algn="l" indent="0" marL="0">
              <a:buNone/>
            </a:pPr>
            <a:r>
              <a:rPr lang="en-US" sz="4400" b="1" dirty="0">
                <a:solidFill>
                  <a:schemeClr val="bg1"/>
                </a:solidFill>
              </a:rPr>
              <a:t>Bharat National Bank</a:t>
            </a:r>
            <a:endParaRPr lang="en-US" sz="4400" dirty="0"/>
          </a:p>
        </p:txBody>
      </p:sp>
      <p:sp>
        <p:nvSpPr>
          <p:cNvPr id="4" name="Text 0"/>
          <p:cNvSpPr/>
          <p:nvPr>
            <p:ph idx="101" type="body" hasCustomPrompt="1"/>
          </p:nvPr>
        </p:nvSpPr>
        <p:spPr>
          <a:xfrm>
            <a:off x="640080" y="3127248"/>
            <a:ext cx="5577840" cy="1097280"/>
          </a:xfrm>
          <a:prstGeom prst="rect">
            <a:avLst/>
          </a:prstGeom>
          <a:noFill/>
          <a:ln/>
        </p:spPr>
        <p:txBody>
          <a:bodyPr wrap="square" lIns="0" tIns="0" rIns="0" bIns="0" rtlCol="0" anchor="t"/>
          <a:lstStyle/>
          <a:p>
            <a:pPr algn="l" indent="0" marL="0">
              <a:buNone/>
            </a:pPr>
            <a:r>
              <a:rPr lang="en-US" sz="1800" dirty="0">
                <a:solidFill>
                  <a:srgbClr val="CBD5E1"/>
                </a:solidFill>
              </a:rPr>
              <a:t>A secure online banking system built with Java Servlets, JDBC and core Java, with a modern React interface.</a:t>
            </a:r>
            <a:endParaRPr lang="en-US" sz="1800" dirty="0"/>
          </a:p>
        </p:txBody>
      </p:sp>
      <p:sp>
        <p:nvSpPr>
          <p:cNvPr id="5" name="Text 3"/>
          <p:cNvSpPr txBox="1"/>
          <p:nvPr/>
        </p:nvSpPr>
        <p:spPr>
          <a:xfrm>
            <a:off x="640080" y="4434840"/>
            <a:ext cx="1691640" cy="347472"/>
          </a:xfrm>
          <a:prstGeom prst="roundRect">
            <a:avLst>
              <a:gd name="adj" fmla="val 21053"/>
            </a:avLst>
          </a:prstGeom>
          <a:solidFill>
            <a:srgbClr val="16304F"/>
          </a:solidFill>
          <a:ln/>
        </p:spPr>
        <p:txBody>
          <a:bodyPr wrap="square" lIns="25400" tIns="25400" rIns="25400" bIns="25400" rtlCol="0" anchor="ctr"/>
          <a:lstStyle/>
          <a:p>
            <a:pPr algn="ctr" indent="0" marL="0">
              <a:buNone/>
            </a:pPr>
            <a:r>
              <a:rPr lang="en-US" sz="1300" dirty="0">
                <a:solidFill>
                  <a:schemeClr val="bg1"/>
                </a:solidFill>
              </a:rPr>
              <a:t>Java 17</a:t>
            </a:r>
            <a:endParaRPr lang="en-US" sz="1300" dirty="0"/>
          </a:p>
        </p:txBody>
      </p:sp>
      <p:sp>
        <p:nvSpPr>
          <p:cNvPr id="6" name="Text 4"/>
          <p:cNvSpPr txBox="1"/>
          <p:nvPr/>
        </p:nvSpPr>
        <p:spPr>
          <a:xfrm>
            <a:off x="2468880" y="4434840"/>
            <a:ext cx="1691640" cy="347472"/>
          </a:xfrm>
          <a:prstGeom prst="roundRect">
            <a:avLst>
              <a:gd name="adj" fmla="val 21053"/>
            </a:avLst>
          </a:prstGeom>
          <a:solidFill>
            <a:srgbClr val="16304F"/>
          </a:solidFill>
          <a:ln/>
        </p:spPr>
        <p:txBody>
          <a:bodyPr wrap="square" lIns="25400" tIns="25400" rIns="25400" bIns="25400" rtlCol="0" anchor="ctr"/>
          <a:lstStyle/>
          <a:p>
            <a:pPr algn="ctr" indent="0" marL="0">
              <a:buNone/>
            </a:pPr>
            <a:r>
              <a:rPr lang="en-US" sz="1300" dirty="0">
                <a:solidFill>
                  <a:schemeClr val="bg1"/>
                </a:solidFill>
              </a:rPr>
              <a:t>Spring Boot 3.3</a:t>
            </a:r>
            <a:endParaRPr lang="en-US" sz="1300" dirty="0"/>
          </a:p>
        </p:txBody>
      </p:sp>
      <p:sp>
        <p:nvSpPr>
          <p:cNvPr id="7" name="Text 5"/>
          <p:cNvSpPr txBox="1"/>
          <p:nvPr/>
        </p:nvSpPr>
        <p:spPr>
          <a:xfrm>
            <a:off x="4297680" y="4434840"/>
            <a:ext cx="1691640" cy="347472"/>
          </a:xfrm>
          <a:prstGeom prst="roundRect">
            <a:avLst>
              <a:gd name="adj" fmla="val 21053"/>
            </a:avLst>
          </a:prstGeom>
          <a:solidFill>
            <a:srgbClr val="16304F"/>
          </a:solidFill>
          <a:ln/>
        </p:spPr>
        <p:txBody>
          <a:bodyPr wrap="square" lIns="25400" tIns="25400" rIns="25400" bIns="25400" rtlCol="0" anchor="ctr"/>
          <a:lstStyle/>
          <a:p>
            <a:pPr algn="ctr" indent="0" marL="0">
              <a:buNone/>
            </a:pPr>
            <a:r>
              <a:rPr lang="en-US" sz="1300" dirty="0">
                <a:solidFill>
                  <a:schemeClr val="bg1"/>
                </a:solidFill>
              </a:rPr>
              <a:t>Servlets</a:t>
            </a:r>
            <a:endParaRPr lang="en-US" sz="1300" dirty="0"/>
          </a:p>
        </p:txBody>
      </p:sp>
      <p:sp>
        <p:nvSpPr>
          <p:cNvPr id="8" name="Text 6"/>
          <p:cNvSpPr txBox="1"/>
          <p:nvPr/>
        </p:nvSpPr>
        <p:spPr>
          <a:xfrm>
            <a:off x="640080" y="4892040"/>
            <a:ext cx="1691640" cy="347472"/>
          </a:xfrm>
          <a:prstGeom prst="roundRect">
            <a:avLst>
              <a:gd name="adj" fmla="val 21053"/>
            </a:avLst>
          </a:prstGeom>
          <a:solidFill>
            <a:srgbClr val="16304F"/>
          </a:solidFill>
          <a:ln/>
        </p:spPr>
        <p:txBody>
          <a:bodyPr wrap="square" lIns="25400" tIns="25400" rIns="25400" bIns="25400" rtlCol="0" anchor="ctr"/>
          <a:lstStyle/>
          <a:p>
            <a:pPr algn="ctr" indent="0" marL="0">
              <a:buNone/>
            </a:pPr>
            <a:r>
              <a:rPr lang="en-US" sz="1300" dirty="0">
                <a:solidFill>
                  <a:schemeClr val="bg1"/>
                </a:solidFill>
              </a:rPr>
              <a:t>JDBC</a:t>
            </a:r>
            <a:endParaRPr lang="en-US" sz="1300" dirty="0"/>
          </a:p>
        </p:txBody>
      </p:sp>
      <p:sp>
        <p:nvSpPr>
          <p:cNvPr id="9" name="Text 7"/>
          <p:cNvSpPr txBox="1"/>
          <p:nvPr/>
        </p:nvSpPr>
        <p:spPr>
          <a:xfrm>
            <a:off x="2468880" y="4892040"/>
            <a:ext cx="1691640" cy="347472"/>
          </a:xfrm>
          <a:prstGeom prst="roundRect">
            <a:avLst>
              <a:gd name="adj" fmla="val 21053"/>
            </a:avLst>
          </a:prstGeom>
          <a:solidFill>
            <a:srgbClr val="16304F"/>
          </a:solidFill>
          <a:ln/>
        </p:spPr>
        <p:txBody>
          <a:bodyPr wrap="square" lIns="25400" tIns="25400" rIns="25400" bIns="25400" rtlCol="0" anchor="ctr"/>
          <a:lstStyle/>
          <a:p>
            <a:pPr algn="ctr" indent="0" marL="0">
              <a:buNone/>
            </a:pPr>
            <a:r>
              <a:rPr lang="en-US" sz="1300" dirty="0">
                <a:solidFill>
                  <a:schemeClr val="bg1"/>
                </a:solidFill>
              </a:rPr>
              <a:t>MySQL</a:t>
            </a:r>
            <a:endParaRPr lang="en-US" sz="1300" dirty="0"/>
          </a:p>
        </p:txBody>
      </p:sp>
      <p:sp>
        <p:nvSpPr>
          <p:cNvPr id="10" name="Text 8"/>
          <p:cNvSpPr txBox="1"/>
          <p:nvPr/>
        </p:nvSpPr>
        <p:spPr>
          <a:xfrm>
            <a:off x="4297680" y="4892040"/>
            <a:ext cx="1691640" cy="347472"/>
          </a:xfrm>
          <a:prstGeom prst="roundRect">
            <a:avLst>
              <a:gd name="adj" fmla="val 21053"/>
            </a:avLst>
          </a:prstGeom>
          <a:solidFill>
            <a:srgbClr val="16304F"/>
          </a:solidFill>
          <a:ln/>
        </p:spPr>
        <p:txBody>
          <a:bodyPr wrap="square" lIns="25400" tIns="25400" rIns="25400" bIns="25400" rtlCol="0" anchor="ctr"/>
          <a:lstStyle/>
          <a:p>
            <a:pPr algn="ctr" indent="0" marL="0">
              <a:buNone/>
            </a:pPr>
            <a:r>
              <a:rPr lang="en-US" sz="1300" dirty="0">
                <a:solidFill>
                  <a:schemeClr val="bg1"/>
                </a:solidFill>
              </a:rPr>
              <a:t>React 19</a:t>
            </a:r>
            <a:endParaRPr lang="en-US" sz="1300" dirty="0"/>
          </a:p>
        </p:txBody>
      </p:sp>
      <p:sp>
        <p:nvSpPr>
          <p:cNvPr id="11" name="Text 9"/>
          <p:cNvSpPr txBox="1"/>
          <p:nvPr/>
        </p:nvSpPr>
        <p:spPr>
          <a:xfrm>
            <a:off x="640080" y="5669280"/>
            <a:ext cx="5486400" cy="365760"/>
          </a:xfrm>
          <a:prstGeom prst="rect">
            <a:avLst/>
          </a:prstGeom>
          <a:noFill/>
          <a:ln/>
        </p:spPr>
        <p:txBody>
          <a:bodyPr wrap="square" lIns="0" tIns="0" rIns="0" bIns="0" rtlCol="0" anchor="t"/>
          <a:lstStyle/>
          <a:p>
            <a:pPr indent="0" marL="0">
              <a:buNone/>
            </a:pPr>
            <a:r>
              <a:rPr lang="en-US" sz="1600" dirty="0">
                <a:solidFill>
                  <a:srgbClr val="94A3B8"/>
                </a:solidFill>
              </a:rPr>
              <a:t>Presented by  </a:t>
            </a:r>
            <a:pPr indent="0" marL="0">
              <a:buNone/>
            </a:pPr>
            <a:r>
              <a:rPr lang="en-US" sz="1600" b="1" dirty="0">
                <a:solidFill>
                  <a:schemeClr val="bg1"/>
                </a:solidFill>
              </a:rPr>
              <a:t>Manish</a:t>
            </a:r>
            <a:endParaRPr lang="en-US" sz="1600" dirty="0"/>
          </a:p>
        </p:txBody>
      </p:sp>
      <p:sp>
        <p:nvSpPr>
          <p:cNvPr id="12" name="login-screen-window"/>
          <p:cNvSpPr/>
          <p:nvPr/>
        </p:nvSpPr>
        <p:spPr>
          <a:xfrm>
            <a:off x="6537960" y="1737360"/>
            <a:ext cx="5120640" cy="3277616"/>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13" name="Shape 11"/>
          <p:cNvSpPr/>
          <p:nvPr/>
        </p:nvSpPr>
        <p:spPr>
          <a:xfrm>
            <a:off x="6537960" y="1737360"/>
            <a:ext cx="5120640" cy="219456"/>
          </a:xfrm>
          <a:prstGeom prst="rect">
            <a:avLst/>
          </a:prstGeom>
          <a:solidFill>
            <a:srgbClr val="E2E8F0"/>
          </a:solidFill>
          <a:ln/>
        </p:spPr>
      </p:sp>
      <p:sp>
        <p:nvSpPr>
          <p:cNvPr id="14" name="Shape 12"/>
          <p:cNvSpPr/>
          <p:nvPr/>
        </p:nvSpPr>
        <p:spPr>
          <a:xfrm>
            <a:off x="6629400" y="1805940"/>
            <a:ext cx="82296" cy="82296"/>
          </a:xfrm>
          <a:prstGeom prst="ellipse">
            <a:avLst/>
          </a:prstGeom>
          <a:solidFill>
            <a:srgbClr val="F87171"/>
          </a:solidFill>
          <a:ln/>
        </p:spPr>
      </p:sp>
      <p:sp>
        <p:nvSpPr>
          <p:cNvPr id="15" name="Shape 13"/>
          <p:cNvSpPr/>
          <p:nvPr/>
        </p:nvSpPr>
        <p:spPr>
          <a:xfrm>
            <a:off x="6766560" y="1805940"/>
            <a:ext cx="82296" cy="82296"/>
          </a:xfrm>
          <a:prstGeom prst="ellipse">
            <a:avLst/>
          </a:prstGeom>
          <a:solidFill>
            <a:srgbClr val="FBBF24"/>
          </a:solidFill>
          <a:ln/>
        </p:spPr>
      </p:sp>
      <p:sp>
        <p:nvSpPr>
          <p:cNvPr id="16" name="Shape 14"/>
          <p:cNvSpPr/>
          <p:nvPr/>
        </p:nvSpPr>
        <p:spPr>
          <a:xfrm>
            <a:off x="6903720" y="1805940"/>
            <a:ext cx="82296" cy="82296"/>
          </a:xfrm>
          <a:prstGeom prst="ellipse">
            <a:avLst/>
          </a:prstGeom>
          <a:solidFill>
            <a:srgbClr val="34D399"/>
          </a:solidFill>
          <a:ln/>
        </p:spPr>
      </p:sp>
      <p:pic>
        <p:nvPicPr>
          <p:cNvPr id="17" name="login-screen" descr="login-screen">    </p:cNvPr>
          <p:cNvPicPr>
            <a:picLocks noChangeAspect="1"/>
          </p:cNvPicPr>
          <p:nvPr/>
        </p:nvPicPr>
        <p:blipFill>
          <a:blip r:embed="rId1"/>
          <a:stretch>
            <a:fillRect/>
          </a:stretch>
        </p:blipFill>
        <p:spPr>
          <a:xfrm>
            <a:off x="6537960" y="1956816"/>
            <a:ext cx="5120640" cy="3058160"/>
          </a:xfrm>
          <a:prstGeom prst="rect">
            <a:avLst/>
          </a:prstGeom>
        </p:spPr>
      </p:pic>
      <p:sp>
        <p:nvSpPr>
          <p:cNvPr id="18" name="Text 15"/>
          <p:cNvSpPr txBox="1"/>
          <p:nvPr/>
        </p:nvSpPr>
        <p:spPr>
          <a:xfrm>
            <a:off x="6537960" y="5120640"/>
            <a:ext cx="5120640" cy="274320"/>
          </a:xfrm>
          <a:prstGeom prst="rect">
            <a:avLst/>
          </a:prstGeom>
          <a:noFill/>
          <a:ln/>
        </p:spPr>
        <p:txBody>
          <a:bodyPr wrap="square" lIns="0" tIns="0" rIns="0" bIns="0" rtlCol="0" anchor="t"/>
          <a:lstStyle/>
          <a:p>
            <a:pPr indent="0" marL="0">
              <a:buNone/>
            </a:pPr>
            <a:r>
              <a:rPr lang="en-US" sz="1200" dirty="0">
                <a:solidFill>
                  <a:srgbClr val="94A3B8"/>
                </a:solidFill>
              </a:rPr>
              <a:t>Customer login page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AGENDA</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What this presentation covers</a:t>
            </a:r>
            <a:endParaRPr lang="en-US" sz="3000" dirty="0"/>
          </a:p>
        </p:txBody>
      </p:sp>
      <p:sp>
        <p:nvSpPr>
          <p:cNvPr id="4" name="card"/>
          <p:cNvSpPr/>
          <p:nvPr/>
        </p:nvSpPr>
        <p:spPr>
          <a:xfrm>
            <a:off x="548640" y="1783080"/>
            <a:ext cx="11064240" cy="731520"/>
          </a:xfrm>
          <a:prstGeom prst="roundRect">
            <a:avLst>
              <a:gd name="adj" fmla="val 10000"/>
            </a:avLst>
          </a:prstGeom>
          <a:solidFill>
            <a:schemeClr val="bg2"/>
          </a:solidFill>
          <a:ln/>
        </p:spPr>
      </p:sp>
      <p:sp>
        <p:nvSpPr>
          <p:cNvPr id="5" name="Text 3"/>
          <p:cNvSpPr txBox="1"/>
          <p:nvPr/>
        </p:nvSpPr>
        <p:spPr>
          <a:xfrm>
            <a:off x="731520" y="1911096"/>
            <a:ext cx="822960" cy="475488"/>
          </a:xfrm>
          <a:prstGeom prst="roundRect">
            <a:avLst>
              <a:gd name="adj" fmla="val 15385"/>
            </a:avLst>
          </a:prstGeom>
          <a:solidFill>
            <a:schemeClr val="accent1"/>
          </a:solidFill>
          <a:ln/>
        </p:spPr>
        <p:txBody>
          <a:bodyPr wrap="square" lIns="76200" tIns="76200" rIns="76200" bIns="76200" rtlCol="0" anchor="ctr"/>
          <a:lstStyle/>
          <a:p>
            <a:pPr algn="ctr" indent="0" marL="0">
              <a:buNone/>
            </a:pPr>
            <a:r>
              <a:rPr lang="en-US" sz="1800" b="1" dirty="0">
                <a:solidFill>
                  <a:schemeClr val="bg1"/>
                </a:solidFill>
              </a:rPr>
              <a:t>01</a:t>
            </a:r>
            <a:endParaRPr lang="en-US" sz="1800" dirty="0"/>
          </a:p>
        </p:txBody>
      </p:sp>
      <p:sp>
        <p:nvSpPr>
          <p:cNvPr id="6" name="Text 4"/>
          <p:cNvSpPr txBox="1"/>
          <p:nvPr/>
        </p:nvSpPr>
        <p:spPr>
          <a:xfrm>
            <a:off x="1828800" y="1965960"/>
            <a:ext cx="3291840" cy="365760"/>
          </a:xfrm>
          <a:prstGeom prst="rect">
            <a:avLst/>
          </a:prstGeom>
          <a:noFill/>
          <a:ln/>
        </p:spPr>
        <p:txBody>
          <a:bodyPr wrap="square" lIns="0" tIns="0" rIns="0" bIns="0" rtlCol="0" anchor="t"/>
          <a:lstStyle/>
          <a:p>
            <a:pPr indent="0" marL="0">
              <a:buNone/>
            </a:pPr>
            <a:r>
              <a:rPr lang="en-US" sz="2000" b="1" dirty="0">
                <a:solidFill>
                  <a:schemeClr val="tx2"/>
                </a:solidFill>
              </a:rPr>
              <a:t>Project overview</a:t>
            </a:r>
            <a:endParaRPr lang="en-US" sz="2000" dirty="0"/>
          </a:p>
        </p:txBody>
      </p:sp>
      <p:sp>
        <p:nvSpPr>
          <p:cNvPr id="7" name="Text 5"/>
          <p:cNvSpPr txBox="1"/>
          <p:nvPr/>
        </p:nvSpPr>
        <p:spPr>
          <a:xfrm>
            <a:off x="5303520" y="2002536"/>
            <a:ext cx="6035040" cy="365760"/>
          </a:xfrm>
          <a:prstGeom prst="rect">
            <a:avLst/>
          </a:prstGeom>
          <a:noFill/>
          <a:ln/>
        </p:spPr>
        <p:txBody>
          <a:bodyPr wrap="square" lIns="0" tIns="0" rIns="0" bIns="0" rtlCol="0" anchor="t"/>
          <a:lstStyle/>
          <a:p>
            <a:pPr indent="0" marL="0">
              <a:buNone/>
            </a:pPr>
            <a:r>
              <a:rPr lang="en-US" sz="1600" dirty="0">
                <a:solidFill>
                  <a:schemeClr val="accent6"/>
                </a:solidFill>
              </a:rPr>
              <a:t>Problem, objectives, features and technology stack</a:t>
            </a:r>
            <a:endParaRPr lang="en-US" sz="1600" dirty="0"/>
          </a:p>
        </p:txBody>
      </p:sp>
      <p:sp>
        <p:nvSpPr>
          <p:cNvPr id="8" name="card"/>
          <p:cNvSpPr/>
          <p:nvPr/>
        </p:nvSpPr>
        <p:spPr>
          <a:xfrm>
            <a:off x="548640" y="2651760"/>
            <a:ext cx="11064240" cy="731520"/>
          </a:xfrm>
          <a:prstGeom prst="roundRect">
            <a:avLst>
              <a:gd name="adj" fmla="val 10000"/>
            </a:avLst>
          </a:prstGeom>
          <a:solidFill>
            <a:schemeClr val="bg2"/>
          </a:solidFill>
          <a:ln/>
        </p:spPr>
      </p:sp>
      <p:sp>
        <p:nvSpPr>
          <p:cNvPr id="9" name="Text 7"/>
          <p:cNvSpPr txBox="1"/>
          <p:nvPr/>
        </p:nvSpPr>
        <p:spPr>
          <a:xfrm>
            <a:off x="731520" y="2779776"/>
            <a:ext cx="822960" cy="475488"/>
          </a:xfrm>
          <a:prstGeom prst="roundRect">
            <a:avLst>
              <a:gd name="adj" fmla="val 15385"/>
            </a:avLst>
          </a:prstGeom>
          <a:solidFill>
            <a:schemeClr val="accent1"/>
          </a:solidFill>
          <a:ln/>
        </p:spPr>
        <p:txBody>
          <a:bodyPr wrap="square" lIns="76200" tIns="76200" rIns="76200" bIns="76200" rtlCol="0" anchor="ctr"/>
          <a:lstStyle/>
          <a:p>
            <a:pPr algn="ctr" indent="0" marL="0">
              <a:buNone/>
            </a:pPr>
            <a:r>
              <a:rPr lang="en-US" sz="1800" b="1" dirty="0">
                <a:solidFill>
                  <a:schemeClr val="bg1"/>
                </a:solidFill>
              </a:rPr>
              <a:t>02</a:t>
            </a:r>
            <a:endParaRPr lang="en-US" sz="1800" dirty="0"/>
          </a:p>
        </p:txBody>
      </p:sp>
      <p:sp>
        <p:nvSpPr>
          <p:cNvPr id="10" name="Text 8"/>
          <p:cNvSpPr txBox="1"/>
          <p:nvPr/>
        </p:nvSpPr>
        <p:spPr>
          <a:xfrm>
            <a:off x="1828800" y="2834640"/>
            <a:ext cx="3291840" cy="365760"/>
          </a:xfrm>
          <a:prstGeom prst="rect">
            <a:avLst/>
          </a:prstGeom>
          <a:noFill/>
          <a:ln/>
        </p:spPr>
        <p:txBody>
          <a:bodyPr wrap="square" lIns="0" tIns="0" rIns="0" bIns="0" rtlCol="0" anchor="t"/>
          <a:lstStyle/>
          <a:p>
            <a:pPr indent="0" marL="0">
              <a:buNone/>
            </a:pPr>
            <a:r>
              <a:rPr lang="en-US" sz="2000" b="1" dirty="0">
                <a:solidFill>
                  <a:schemeClr val="tx2"/>
                </a:solidFill>
              </a:rPr>
              <a:t>System design</a:t>
            </a:r>
            <a:endParaRPr lang="en-US" sz="2000" dirty="0"/>
          </a:p>
        </p:txBody>
      </p:sp>
      <p:sp>
        <p:nvSpPr>
          <p:cNvPr id="11" name="Text 9"/>
          <p:cNvSpPr txBox="1"/>
          <p:nvPr/>
        </p:nvSpPr>
        <p:spPr>
          <a:xfrm>
            <a:off x="5303520" y="2871216"/>
            <a:ext cx="6035040" cy="365760"/>
          </a:xfrm>
          <a:prstGeom prst="rect">
            <a:avLst/>
          </a:prstGeom>
          <a:noFill/>
          <a:ln/>
        </p:spPr>
        <p:txBody>
          <a:bodyPr wrap="square" lIns="0" tIns="0" rIns="0" bIns="0" rtlCol="0" anchor="t"/>
          <a:lstStyle/>
          <a:p>
            <a:pPr indent="0" marL="0">
              <a:buNone/>
            </a:pPr>
            <a:r>
              <a:rPr lang="en-US" sz="1600" dirty="0">
                <a:solidFill>
                  <a:schemeClr val="accent6"/>
                </a:solidFill>
              </a:rPr>
              <a:t>Architecture, database design and request pipelines</a:t>
            </a:r>
            <a:endParaRPr lang="en-US" sz="1600" dirty="0"/>
          </a:p>
        </p:txBody>
      </p:sp>
      <p:sp>
        <p:nvSpPr>
          <p:cNvPr id="12" name="card"/>
          <p:cNvSpPr/>
          <p:nvPr/>
        </p:nvSpPr>
        <p:spPr>
          <a:xfrm>
            <a:off x="548640" y="3520440"/>
            <a:ext cx="11064240" cy="731520"/>
          </a:xfrm>
          <a:prstGeom prst="roundRect">
            <a:avLst>
              <a:gd name="adj" fmla="val 10000"/>
            </a:avLst>
          </a:prstGeom>
          <a:solidFill>
            <a:schemeClr val="bg2"/>
          </a:solidFill>
          <a:ln/>
        </p:spPr>
      </p:sp>
      <p:sp>
        <p:nvSpPr>
          <p:cNvPr id="13" name="Text 11"/>
          <p:cNvSpPr txBox="1"/>
          <p:nvPr/>
        </p:nvSpPr>
        <p:spPr>
          <a:xfrm>
            <a:off x="731520" y="3648456"/>
            <a:ext cx="822960" cy="475488"/>
          </a:xfrm>
          <a:prstGeom prst="roundRect">
            <a:avLst>
              <a:gd name="adj" fmla="val 15385"/>
            </a:avLst>
          </a:prstGeom>
          <a:solidFill>
            <a:schemeClr val="accent1"/>
          </a:solidFill>
          <a:ln/>
        </p:spPr>
        <p:txBody>
          <a:bodyPr wrap="square" lIns="76200" tIns="76200" rIns="76200" bIns="76200" rtlCol="0" anchor="ctr"/>
          <a:lstStyle/>
          <a:p>
            <a:pPr algn="ctr" indent="0" marL="0">
              <a:buNone/>
            </a:pPr>
            <a:r>
              <a:rPr lang="en-US" sz="1800" b="1" dirty="0">
                <a:solidFill>
                  <a:schemeClr val="bg1"/>
                </a:solidFill>
              </a:rPr>
              <a:t>03</a:t>
            </a:r>
            <a:endParaRPr lang="en-US" sz="1800" dirty="0"/>
          </a:p>
        </p:txBody>
      </p:sp>
      <p:sp>
        <p:nvSpPr>
          <p:cNvPr id="14" name="Text 12"/>
          <p:cNvSpPr txBox="1"/>
          <p:nvPr/>
        </p:nvSpPr>
        <p:spPr>
          <a:xfrm>
            <a:off x="1828800" y="3703320"/>
            <a:ext cx="3291840" cy="365760"/>
          </a:xfrm>
          <a:prstGeom prst="rect">
            <a:avLst/>
          </a:prstGeom>
          <a:noFill/>
          <a:ln/>
        </p:spPr>
        <p:txBody>
          <a:bodyPr wrap="square" lIns="0" tIns="0" rIns="0" bIns="0" rtlCol="0" anchor="t"/>
          <a:lstStyle/>
          <a:p>
            <a:pPr indent="0" marL="0">
              <a:buNone/>
            </a:pPr>
            <a:r>
              <a:rPr lang="en-US" sz="2000" b="1" dirty="0">
                <a:solidFill>
                  <a:schemeClr val="tx2"/>
                </a:solidFill>
              </a:rPr>
              <a:t>Core Java concepts</a:t>
            </a:r>
            <a:endParaRPr lang="en-US" sz="2000" dirty="0"/>
          </a:p>
        </p:txBody>
      </p:sp>
      <p:sp>
        <p:nvSpPr>
          <p:cNvPr id="15" name="Text 13"/>
          <p:cNvSpPr txBox="1"/>
          <p:nvPr/>
        </p:nvSpPr>
        <p:spPr>
          <a:xfrm>
            <a:off x="5303520" y="3739896"/>
            <a:ext cx="6035040" cy="365760"/>
          </a:xfrm>
          <a:prstGeom prst="rect">
            <a:avLst/>
          </a:prstGeom>
          <a:noFill/>
          <a:ln/>
        </p:spPr>
        <p:txBody>
          <a:bodyPr wrap="square" lIns="0" tIns="0" rIns="0" bIns="0" rtlCol="0" anchor="t"/>
          <a:lstStyle/>
          <a:p>
            <a:pPr indent="0" marL="0">
              <a:buNone/>
            </a:pPr>
            <a:r>
              <a:rPr lang="en-US" sz="1600" dirty="0">
                <a:solidFill>
                  <a:schemeClr val="accent6"/>
                </a:solidFill>
              </a:rPr>
              <a:t>OOP, exception handling, collections, generics, multithreading</a:t>
            </a:r>
            <a:endParaRPr lang="en-US" sz="1600" dirty="0"/>
          </a:p>
        </p:txBody>
      </p:sp>
      <p:sp>
        <p:nvSpPr>
          <p:cNvPr id="16" name="card"/>
          <p:cNvSpPr/>
          <p:nvPr/>
        </p:nvSpPr>
        <p:spPr>
          <a:xfrm>
            <a:off x="548640" y="4389120"/>
            <a:ext cx="11064240" cy="731520"/>
          </a:xfrm>
          <a:prstGeom prst="roundRect">
            <a:avLst>
              <a:gd name="adj" fmla="val 10000"/>
            </a:avLst>
          </a:prstGeom>
          <a:solidFill>
            <a:schemeClr val="bg2"/>
          </a:solidFill>
          <a:ln/>
        </p:spPr>
      </p:sp>
      <p:sp>
        <p:nvSpPr>
          <p:cNvPr id="17" name="Text 15"/>
          <p:cNvSpPr txBox="1"/>
          <p:nvPr/>
        </p:nvSpPr>
        <p:spPr>
          <a:xfrm>
            <a:off x="731520" y="4517136"/>
            <a:ext cx="822960" cy="475488"/>
          </a:xfrm>
          <a:prstGeom prst="roundRect">
            <a:avLst>
              <a:gd name="adj" fmla="val 15385"/>
            </a:avLst>
          </a:prstGeom>
          <a:solidFill>
            <a:schemeClr val="accent1"/>
          </a:solidFill>
          <a:ln/>
        </p:spPr>
        <p:txBody>
          <a:bodyPr wrap="square" lIns="76200" tIns="76200" rIns="76200" bIns="76200" rtlCol="0" anchor="ctr"/>
          <a:lstStyle/>
          <a:p>
            <a:pPr algn="ctr" indent="0" marL="0">
              <a:buNone/>
            </a:pPr>
            <a:r>
              <a:rPr lang="en-US" sz="1800" b="1" dirty="0">
                <a:solidFill>
                  <a:schemeClr val="bg1"/>
                </a:solidFill>
              </a:rPr>
              <a:t>04</a:t>
            </a:r>
            <a:endParaRPr lang="en-US" sz="1800" dirty="0"/>
          </a:p>
        </p:txBody>
      </p:sp>
      <p:sp>
        <p:nvSpPr>
          <p:cNvPr id="18" name="Text 16"/>
          <p:cNvSpPr txBox="1"/>
          <p:nvPr/>
        </p:nvSpPr>
        <p:spPr>
          <a:xfrm>
            <a:off x="1828800" y="4572000"/>
            <a:ext cx="3291840" cy="365760"/>
          </a:xfrm>
          <a:prstGeom prst="rect">
            <a:avLst/>
          </a:prstGeom>
          <a:noFill/>
          <a:ln/>
        </p:spPr>
        <p:txBody>
          <a:bodyPr wrap="square" lIns="0" tIns="0" rIns="0" bIns="0" rtlCol="0" anchor="t"/>
          <a:lstStyle/>
          <a:p>
            <a:pPr indent="0" marL="0">
              <a:buNone/>
            </a:pPr>
            <a:r>
              <a:rPr lang="en-US" sz="2000" b="1" dirty="0">
                <a:solidFill>
                  <a:schemeClr val="tx2"/>
                </a:solidFill>
              </a:rPr>
              <a:t>JDBC &amp; Servlets</a:t>
            </a:r>
            <a:endParaRPr lang="en-US" sz="2000" dirty="0"/>
          </a:p>
        </p:txBody>
      </p:sp>
      <p:sp>
        <p:nvSpPr>
          <p:cNvPr id="19" name="Text 17"/>
          <p:cNvSpPr txBox="1"/>
          <p:nvPr/>
        </p:nvSpPr>
        <p:spPr>
          <a:xfrm>
            <a:off x="5303520" y="4608576"/>
            <a:ext cx="6035040" cy="365760"/>
          </a:xfrm>
          <a:prstGeom prst="rect">
            <a:avLst/>
          </a:prstGeom>
          <a:noFill/>
          <a:ln/>
        </p:spPr>
        <p:txBody>
          <a:bodyPr wrap="square" lIns="0" tIns="0" rIns="0" bIns="0" rtlCol="0" anchor="t"/>
          <a:lstStyle/>
          <a:p>
            <a:pPr indent="0" marL="0">
              <a:buNone/>
            </a:pPr>
            <a:r>
              <a:rPr lang="en-US" sz="1600" dirty="0">
                <a:solidFill>
                  <a:schemeClr val="accent6"/>
                </a:solidFill>
              </a:rPr>
              <a:t>DAO classes over JDBC and the servlet-based customer portal</a:t>
            </a:r>
            <a:endParaRPr lang="en-US" sz="1600" dirty="0"/>
          </a:p>
        </p:txBody>
      </p:sp>
      <p:sp>
        <p:nvSpPr>
          <p:cNvPr id="20" name="card"/>
          <p:cNvSpPr/>
          <p:nvPr/>
        </p:nvSpPr>
        <p:spPr>
          <a:xfrm>
            <a:off x="548640" y="5257800"/>
            <a:ext cx="11064240" cy="731520"/>
          </a:xfrm>
          <a:prstGeom prst="roundRect">
            <a:avLst>
              <a:gd name="adj" fmla="val 10000"/>
            </a:avLst>
          </a:prstGeom>
          <a:solidFill>
            <a:schemeClr val="bg2"/>
          </a:solidFill>
          <a:ln/>
        </p:spPr>
      </p:sp>
      <p:sp>
        <p:nvSpPr>
          <p:cNvPr id="21" name="Text 19"/>
          <p:cNvSpPr txBox="1"/>
          <p:nvPr/>
        </p:nvSpPr>
        <p:spPr>
          <a:xfrm>
            <a:off x="731520" y="5385816"/>
            <a:ext cx="822960" cy="475488"/>
          </a:xfrm>
          <a:prstGeom prst="roundRect">
            <a:avLst>
              <a:gd name="adj" fmla="val 15385"/>
            </a:avLst>
          </a:prstGeom>
          <a:solidFill>
            <a:schemeClr val="accent1"/>
          </a:solidFill>
          <a:ln/>
        </p:spPr>
        <p:txBody>
          <a:bodyPr wrap="square" lIns="76200" tIns="76200" rIns="76200" bIns="76200" rtlCol="0" anchor="ctr"/>
          <a:lstStyle/>
          <a:p>
            <a:pPr algn="ctr" indent="0" marL="0">
              <a:buNone/>
            </a:pPr>
            <a:r>
              <a:rPr lang="en-US" sz="1800" b="1" dirty="0">
                <a:solidFill>
                  <a:schemeClr val="bg1"/>
                </a:solidFill>
              </a:rPr>
              <a:t>05</a:t>
            </a:r>
            <a:endParaRPr lang="en-US" sz="1800" dirty="0"/>
          </a:p>
        </p:txBody>
      </p:sp>
      <p:sp>
        <p:nvSpPr>
          <p:cNvPr id="22" name="Text 20"/>
          <p:cNvSpPr txBox="1"/>
          <p:nvPr/>
        </p:nvSpPr>
        <p:spPr>
          <a:xfrm>
            <a:off x="1828800" y="5440680"/>
            <a:ext cx="3291840" cy="365760"/>
          </a:xfrm>
          <a:prstGeom prst="rect">
            <a:avLst/>
          </a:prstGeom>
          <a:noFill/>
          <a:ln/>
        </p:spPr>
        <p:txBody>
          <a:bodyPr wrap="square" lIns="0" tIns="0" rIns="0" bIns="0" rtlCol="0" anchor="t"/>
          <a:lstStyle/>
          <a:p>
            <a:pPr indent="0" marL="0">
              <a:buNone/>
            </a:pPr>
            <a:r>
              <a:rPr lang="en-US" sz="2000" b="1" dirty="0">
                <a:solidFill>
                  <a:schemeClr val="tx2"/>
                </a:solidFill>
              </a:rPr>
              <a:t>Showcase &amp; results</a:t>
            </a:r>
            <a:endParaRPr lang="en-US" sz="2000" dirty="0"/>
          </a:p>
        </p:txBody>
      </p:sp>
      <p:sp>
        <p:nvSpPr>
          <p:cNvPr id="23" name="Text 21"/>
          <p:cNvSpPr txBox="1"/>
          <p:nvPr/>
        </p:nvSpPr>
        <p:spPr>
          <a:xfrm>
            <a:off x="5303520" y="5477256"/>
            <a:ext cx="6035040" cy="365760"/>
          </a:xfrm>
          <a:prstGeom prst="rect">
            <a:avLst/>
          </a:prstGeom>
          <a:noFill/>
          <a:ln/>
        </p:spPr>
        <p:txBody>
          <a:bodyPr wrap="square" lIns="0" tIns="0" rIns="0" bIns="0" rtlCol="0" anchor="t"/>
          <a:lstStyle/>
          <a:p>
            <a:pPr indent="0" marL="0">
              <a:buNone/>
            </a:pPr>
            <a:r>
              <a:rPr lang="en-US" sz="1600" dirty="0">
                <a:solidFill>
                  <a:schemeClr val="accent6"/>
                </a:solidFill>
              </a:rPr>
              <a:t>Application screens, security, testing and future scope</a:t>
            </a:r>
            <a:endParaRPr lang="en-US" sz="1600" dirty="0"/>
          </a:p>
        </p:txBody>
      </p:sp>
      <p:sp>
        <p:nvSpPr>
          <p:cNvPr id="25"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algn="l" indent="0" marL="0">
              <a:buNone/>
            </a:pPr>
            <a:r>
              <a:rPr lang="en-US" sz="7200" b="1" dirty="0">
                <a:solidFill>
                  <a:schemeClr val="accent2"/>
                </a:solidFill>
              </a:rPr>
              <a:t>01</a:t>
            </a:r>
            <a:endParaRPr lang="en-US" sz="7200" dirty="0"/>
          </a:p>
        </p:txBody>
      </p:sp>
      <p:sp>
        <p:nvSpPr>
          <p:cNvPr id="3" name="Text 0"/>
          <p:cNvSpPr/>
          <p:nvPr>
            <p:ph idx="101" type="title" hasCustomPrompt="1"/>
          </p:nvPr>
        </p:nvSpPr>
        <p:spPr>
          <a:xfrm>
            <a:off x="731520" y="2834640"/>
            <a:ext cx="5669280" cy="822960"/>
          </a:xfrm>
          <a:prstGeom prst="rect">
            <a:avLst/>
          </a:prstGeom>
          <a:noFill/>
          <a:ln/>
        </p:spPr>
        <p:txBody>
          <a:bodyPr wrap="square" lIns="0" tIns="0" rIns="0" bIns="0" rtlCol="0" anchor="t"/>
          <a:lstStyle/>
          <a:p>
            <a:pPr algn="l" indent="0" marL="0">
              <a:buNone/>
            </a:pPr>
            <a:r>
              <a:rPr lang="en-US" sz="4000" b="1" dirty="0">
                <a:solidFill>
                  <a:schemeClr val="bg1"/>
                </a:solidFill>
              </a:rPr>
              <a:t>Project overview</a:t>
            </a:r>
            <a:endParaRPr lang="en-US" sz="4000" dirty="0"/>
          </a:p>
        </p:txBody>
      </p:sp>
      <p:sp>
        <p:nvSpPr>
          <p:cNvPr id="4" name="Text 0"/>
          <p:cNvSpPr/>
          <p:nvPr>
            <p:ph idx="102" type="body" hasCustomPrompt="1"/>
          </p:nvPr>
        </p:nvSpPr>
        <p:spPr>
          <a:xfrm>
            <a:off x="731520" y="3703320"/>
            <a:ext cx="5486400" cy="914400"/>
          </a:xfrm>
          <a:prstGeom prst="rect">
            <a:avLst/>
          </a:prstGeom>
          <a:noFill/>
          <a:ln/>
        </p:spPr>
        <p:txBody>
          <a:bodyPr wrap="square" lIns="0" tIns="0" rIns="0" bIns="0" rtlCol="0" anchor="t"/>
          <a:lstStyle/>
          <a:p>
            <a:pPr algn="l" indent="0" marL="0">
              <a:buNone/>
            </a:pPr>
            <a:r>
              <a:rPr lang="en-US" sz="1800" dirty="0">
                <a:solidFill>
                  <a:srgbClr val="CBD5E1"/>
                </a:solidFill>
              </a:rPr>
              <a:t>What problem the system solves and how it is built.</a:t>
            </a:r>
            <a:endParaRPr lang="en-US" sz="1800" dirty="0"/>
          </a:p>
        </p:txBody>
      </p:sp>
      <p:sp>
        <p:nvSpPr>
          <p:cNvPr id="5" name="card"/>
          <p:cNvSpPr/>
          <p:nvPr/>
        </p:nvSpPr>
        <p:spPr>
          <a:xfrm>
            <a:off x="7315200" y="1463040"/>
            <a:ext cx="4297680" cy="2816352"/>
          </a:xfrm>
          <a:prstGeom prst="roundRect">
            <a:avLst>
              <a:gd name="adj" fmla="val 2597"/>
            </a:avLst>
          </a:prstGeom>
          <a:solidFill>
            <a:srgbClr val="16304F"/>
          </a:solidFill>
          <a:ln/>
        </p:spPr>
      </p:sp>
      <p:sp>
        <p:nvSpPr>
          <p:cNvPr id="6" name="Text 4"/>
          <p:cNvSpPr txBox="1"/>
          <p:nvPr/>
        </p:nvSpPr>
        <p:spPr>
          <a:xfrm>
            <a:off x="7635240" y="169164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 THIS SECTION</a:t>
            </a:r>
            <a:endParaRPr lang="en-US" sz="1200" dirty="0"/>
          </a:p>
        </p:txBody>
      </p:sp>
      <p:sp>
        <p:nvSpPr>
          <p:cNvPr id="7" name="Text 5"/>
          <p:cNvSpPr txBox="1"/>
          <p:nvPr/>
        </p:nvSpPr>
        <p:spPr>
          <a:xfrm>
            <a:off x="7635240" y="2103120"/>
            <a:ext cx="3749040" cy="365760"/>
          </a:xfrm>
          <a:prstGeom prst="rect">
            <a:avLst/>
          </a:prstGeom>
          <a:noFill/>
          <a:ln/>
        </p:spPr>
        <p:txBody>
          <a:bodyPr wrap="square" lIns="0" tIns="0" rIns="0" bIns="0" rtlCol="0" anchor="t"/>
          <a:lstStyle/>
          <a:p>
            <a:pPr indent="0" marL="0">
              <a:buNone/>
            </a:pPr>
            <a:r>
              <a:rPr lang="en-US" sz="1700" dirty="0">
                <a:solidFill>
                  <a:schemeClr val="bg1"/>
                </a:solidFill>
              </a:rPr>
              <a:t>Problem &amp; objectives</a:t>
            </a:r>
            <a:endParaRPr lang="en-US" sz="1700" dirty="0"/>
          </a:p>
        </p:txBody>
      </p:sp>
      <p:sp>
        <p:nvSpPr>
          <p:cNvPr id="8" name="Text 6"/>
          <p:cNvSpPr txBox="1"/>
          <p:nvPr/>
        </p:nvSpPr>
        <p:spPr>
          <a:xfrm>
            <a:off x="7635240" y="2670048"/>
            <a:ext cx="3749040" cy="365760"/>
          </a:xfrm>
          <a:prstGeom prst="rect">
            <a:avLst/>
          </a:prstGeom>
          <a:noFill/>
          <a:ln/>
        </p:spPr>
        <p:txBody>
          <a:bodyPr wrap="square" lIns="0" tIns="0" rIns="0" bIns="0" rtlCol="0" anchor="t"/>
          <a:lstStyle/>
          <a:p>
            <a:pPr indent="0" marL="0">
              <a:buNone/>
            </a:pPr>
            <a:r>
              <a:rPr lang="en-US" sz="1700" dirty="0">
                <a:solidFill>
                  <a:schemeClr val="bg1"/>
                </a:solidFill>
              </a:rPr>
              <a:t>Project at a glance</a:t>
            </a:r>
            <a:endParaRPr lang="en-US" sz="1700" dirty="0"/>
          </a:p>
        </p:txBody>
      </p:sp>
      <p:sp>
        <p:nvSpPr>
          <p:cNvPr id="9" name="Text 7"/>
          <p:cNvSpPr txBox="1"/>
          <p:nvPr/>
        </p:nvSpPr>
        <p:spPr>
          <a:xfrm>
            <a:off x="7635240" y="3236976"/>
            <a:ext cx="3749040" cy="365760"/>
          </a:xfrm>
          <a:prstGeom prst="rect">
            <a:avLst/>
          </a:prstGeom>
          <a:noFill/>
          <a:ln/>
        </p:spPr>
        <p:txBody>
          <a:bodyPr wrap="square" lIns="0" tIns="0" rIns="0" bIns="0" rtlCol="0" anchor="t"/>
          <a:lstStyle/>
          <a:p>
            <a:pPr indent="0" marL="0">
              <a:buNone/>
            </a:pPr>
            <a:r>
              <a:rPr lang="en-US" sz="1700" dirty="0">
                <a:solidFill>
                  <a:schemeClr val="bg1"/>
                </a:solidFill>
              </a:rPr>
              <a:t>Features</a:t>
            </a:r>
            <a:endParaRPr lang="en-US" sz="1700" dirty="0"/>
          </a:p>
        </p:txBody>
      </p:sp>
      <p:sp>
        <p:nvSpPr>
          <p:cNvPr id="10" name="Text 8"/>
          <p:cNvSpPr txBox="1"/>
          <p:nvPr/>
        </p:nvSpPr>
        <p:spPr>
          <a:xfrm>
            <a:off x="7635240" y="3803904"/>
            <a:ext cx="3749040" cy="365760"/>
          </a:xfrm>
          <a:prstGeom prst="rect">
            <a:avLst/>
          </a:prstGeom>
          <a:noFill/>
          <a:ln/>
        </p:spPr>
        <p:txBody>
          <a:bodyPr wrap="square" lIns="0" tIns="0" rIns="0" bIns="0" rtlCol="0" anchor="t"/>
          <a:lstStyle/>
          <a:p>
            <a:pPr indent="0" marL="0">
              <a:buNone/>
            </a:pPr>
            <a:r>
              <a:rPr lang="en-US" sz="1700" dirty="0">
                <a:solidFill>
                  <a:schemeClr val="bg1"/>
                </a:solidFill>
              </a:rPr>
              <a:t>Technology stack</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PROBLEM UNDERSTANDING</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Problem statement &amp; objectives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Banking is about trust: the system must be correct, private and always available.</a:t>
            </a:r>
            <a:endParaRPr lang="en-US" sz="1600" dirty="0"/>
          </a:p>
        </p:txBody>
      </p:sp>
      <p:sp>
        <p:nvSpPr>
          <p:cNvPr id="5" name="card"/>
          <p:cNvSpPr/>
          <p:nvPr/>
        </p:nvSpPr>
        <p:spPr>
          <a:xfrm>
            <a:off x="548640" y="1783080"/>
            <a:ext cx="5120640" cy="4343400"/>
          </a:xfrm>
          <a:prstGeom prst="roundRect">
            <a:avLst>
              <a:gd name="adj" fmla="val 1684"/>
            </a:avLst>
          </a:prstGeom>
          <a:solidFill>
            <a:schemeClr val="bg2"/>
          </a:solidFill>
          <a:ln/>
        </p:spPr>
      </p:sp>
      <p:sp>
        <p:nvSpPr>
          <p:cNvPr id="6" name="Text 4"/>
          <p:cNvSpPr txBox="1"/>
          <p:nvPr/>
        </p:nvSpPr>
        <p:spPr>
          <a:xfrm>
            <a:off x="868680" y="2011680"/>
            <a:ext cx="4572000" cy="365760"/>
          </a:xfrm>
          <a:prstGeom prst="rect">
            <a:avLst/>
          </a:prstGeom>
          <a:noFill/>
          <a:ln/>
        </p:spPr>
        <p:txBody>
          <a:bodyPr wrap="square" lIns="0" tIns="0" rIns="0" bIns="0" rtlCol="0" anchor="t"/>
          <a:lstStyle/>
          <a:p>
            <a:pPr indent="0" marL="0">
              <a:buNone/>
            </a:pPr>
            <a:r>
              <a:rPr lang="en-US" sz="2000" b="1" dirty="0">
                <a:solidFill>
                  <a:schemeClr val="tx2"/>
                </a:solidFill>
              </a:rPr>
              <a:t>The problem</a:t>
            </a:r>
            <a:endParaRPr lang="en-US" sz="2000" dirty="0"/>
          </a:p>
        </p:txBody>
      </p:sp>
      <p:sp>
        <p:nvSpPr>
          <p:cNvPr id="7" name="Text 5"/>
          <p:cNvSpPr txBox="1"/>
          <p:nvPr/>
        </p:nvSpPr>
        <p:spPr>
          <a:xfrm>
            <a:off x="868680" y="2514600"/>
            <a:ext cx="4526280" cy="3383280"/>
          </a:xfrm>
          <a:prstGeom prst="rect">
            <a:avLst/>
          </a:prstGeom>
          <a:noFill/>
          <a:ln/>
        </p:spPr>
        <p:txBody>
          <a:bodyPr wrap="square" lIns="0" tIns="0" rIns="0" bIns="0" rtlCol="0" anchor="t"/>
          <a:lstStyle/>
          <a:p>
            <a:pPr indent="0" marL="0">
              <a:spcAft>
                <a:spcPts val="1000"/>
              </a:spcAft>
              <a:buNone/>
            </a:pPr>
            <a:r>
              <a:rPr lang="en-US" sz="1600" dirty="0">
                <a:solidFill>
                  <a:schemeClr val="tx1"/>
                </a:solidFill>
              </a:rPr>
              <a:t>Customers want to check balances, download statements and transfer money any time, without visiting a branch.</a:t>
            </a:r>
            <a:endParaRPr lang="en-US" sz="1600" dirty="0"/>
          </a:p>
          <a:p>
            <a:pPr indent="0" marL="0">
              <a:spcAft>
                <a:spcPts val="1000"/>
              </a:spcAft>
              <a:buNone/>
            </a:pPr>
            <a:r>
              <a:rPr lang="en-US" sz="1600" dirty="0">
                <a:solidFill>
                  <a:schemeClr val="tx1"/>
                </a:solidFill>
              </a:rPr>
              <a:t>Branch staff need one console to onboard customers, manage accounts, approve loans and set limits.</a:t>
            </a:r>
            <a:endParaRPr lang="en-US" sz="1600" dirty="0"/>
          </a:p>
          <a:p>
            <a:pPr indent="0" marL="0">
              <a:buNone/>
            </a:pPr>
            <a:r>
              <a:rPr lang="en-US" sz="1600" b="1" dirty="0">
                <a:solidFill>
                  <a:schemeClr val="tx2"/>
                </a:solidFill>
              </a:rPr>
              <a:t>Money must never be lost, even when many requests arrive at once, and no customer may see another's data.</a:t>
            </a:r>
            <a:endParaRPr lang="en-US" sz="1600" dirty="0"/>
          </a:p>
        </p:txBody>
      </p:sp>
      <p:sp>
        <p:nvSpPr>
          <p:cNvPr id="8" name="Text 6"/>
          <p:cNvSpPr txBox="1"/>
          <p:nvPr/>
        </p:nvSpPr>
        <p:spPr>
          <a:xfrm>
            <a:off x="868680" y="5074920"/>
            <a:ext cx="4572000" cy="320040"/>
          </a:xfrm>
          <a:prstGeom prst="rect">
            <a:avLst/>
          </a:prstGeom>
          <a:noFill/>
          <a:ln/>
        </p:spPr>
        <p:txBody>
          <a:bodyPr wrap="square" lIns="0" tIns="0" rIns="0" bIns="0" rtlCol="0" anchor="t"/>
          <a:lstStyle/>
          <a:p>
            <a:pPr indent="0" marL="0">
              <a:buNone/>
            </a:pPr>
            <a:r>
              <a:rPr lang="en-US" sz="1400" b="1" dirty="0">
                <a:solidFill>
                  <a:schemeClr val="accent6"/>
                </a:solidFill>
              </a:rPr>
              <a:t>Who uses it</a:t>
            </a:r>
            <a:endParaRPr lang="en-US" sz="1400" dirty="0"/>
          </a:p>
        </p:txBody>
      </p:sp>
      <p:sp>
        <p:nvSpPr>
          <p:cNvPr id="9" name="Text 7"/>
          <p:cNvSpPr txBox="1"/>
          <p:nvPr/>
        </p:nvSpPr>
        <p:spPr>
          <a:xfrm>
            <a:off x="868680" y="5440680"/>
            <a:ext cx="1463040" cy="329184"/>
          </a:xfrm>
          <a:prstGeom prst="roundRect">
            <a:avLst>
              <a:gd name="adj" fmla="val 22222"/>
            </a:avLst>
          </a:prstGeom>
          <a:solidFill>
            <a:schemeClr val="bg1"/>
          </a:solidFill>
          <a:ln w="15875">
            <a:solidFill>
              <a:srgbClr val="E2E8F0"/>
            </a:solidFill>
          </a:ln>
        </p:spPr>
        <p:txBody>
          <a:bodyPr wrap="square" lIns="25400" tIns="25400" rIns="25400" bIns="25400" rtlCol="0" anchor="ctr"/>
          <a:lstStyle/>
          <a:p>
            <a:pPr algn="ctr" indent="0" marL="0">
              <a:buNone/>
            </a:pPr>
            <a:r>
              <a:rPr lang="en-US" sz="1300" dirty="0">
                <a:solidFill>
                  <a:schemeClr val="tx1"/>
                </a:solidFill>
              </a:rPr>
              <a:t>Customers</a:t>
            </a:r>
            <a:endParaRPr lang="en-US" sz="1300" dirty="0"/>
          </a:p>
        </p:txBody>
      </p:sp>
      <p:sp>
        <p:nvSpPr>
          <p:cNvPr id="10" name="Text 8"/>
          <p:cNvSpPr txBox="1"/>
          <p:nvPr/>
        </p:nvSpPr>
        <p:spPr>
          <a:xfrm>
            <a:off x="2468880" y="5440680"/>
            <a:ext cx="1737360" cy="329184"/>
          </a:xfrm>
          <a:prstGeom prst="roundRect">
            <a:avLst>
              <a:gd name="adj" fmla="val 22222"/>
            </a:avLst>
          </a:prstGeom>
          <a:solidFill>
            <a:schemeClr val="bg1"/>
          </a:solidFill>
          <a:ln w="15875">
            <a:solidFill>
              <a:srgbClr val="E2E8F0"/>
            </a:solidFill>
          </a:ln>
        </p:spPr>
        <p:txBody>
          <a:bodyPr wrap="square" lIns="25400" tIns="25400" rIns="25400" bIns="25400" rtlCol="0" anchor="ctr"/>
          <a:lstStyle/>
          <a:p>
            <a:pPr algn="ctr" indent="0" marL="0">
              <a:buNone/>
            </a:pPr>
            <a:r>
              <a:rPr lang="en-US" sz="1300" dirty="0">
                <a:solidFill>
                  <a:schemeClr val="tx1"/>
                </a:solidFill>
              </a:rPr>
              <a:t>Branch admins</a:t>
            </a:r>
            <a:endParaRPr lang="en-US" sz="1300" dirty="0"/>
          </a:p>
        </p:txBody>
      </p:sp>
      <p:sp>
        <p:nvSpPr>
          <p:cNvPr id="11" name="card"/>
          <p:cNvSpPr/>
          <p:nvPr/>
        </p:nvSpPr>
        <p:spPr>
          <a:xfrm>
            <a:off x="5943600" y="1783080"/>
            <a:ext cx="2697480" cy="2103120"/>
          </a:xfrm>
          <a:prstGeom prst="roundRect">
            <a:avLst>
              <a:gd name="adj" fmla="val 3478"/>
            </a:avLst>
          </a:prstGeom>
          <a:solidFill>
            <a:schemeClr val="bg1"/>
          </a:solidFill>
          <a:ln w="12700">
            <a:solidFill>
              <a:srgbClr val="E2E8F0"/>
            </a:solidFill>
            <a:prstDash val="solid"/>
          </a:ln>
        </p:spPr>
      </p:sp>
      <p:sp>
        <p:nvSpPr>
          <p:cNvPr id="12" name="icon-bg"/>
          <p:cNvSpPr/>
          <p:nvPr/>
        </p:nvSpPr>
        <p:spPr>
          <a:xfrm>
            <a:off x="6217920" y="2057400"/>
            <a:ext cx="548640" cy="548640"/>
          </a:xfrm>
          <a:prstGeom prst="ellipse">
            <a:avLst/>
          </a:prstGeom>
          <a:solidFill>
            <a:schemeClr val="accent1"/>
          </a:solidFill>
          <a:ln/>
        </p:spPr>
      </p:sp>
      <p:pic>
        <p:nvPicPr>
          <p:cNvPr id="13" name="icon-FaShieldHalved" descr="preencoded.png">    </p:cNvPr>
          <p:cNvPicPr>
            <a:picLocks noChangeAspect="1"/>
          </p:cNvPicPr>
          <p:nvPr/>
        </p:nvPicPr>
        <p:blipFill>
          <a:blip r:embed="rId1"/>
          <a:stretch>
            <a:fillRect/>
          </a:stretch>
        </p:blipFill>
        <p:spPr>
          <a:xfrm>
            <a:off x="6366053" y="2205533"/>
            <a:ext cx="252374" cy="252374"/>
          </a:xfrm>
          <a:prstGeom prst="rect">
            <a:avLst/>
          </a:prstGeom>
        </p:spPr>
      </p:pic>
      <p:sp>
        <p:nvSpPr>
          <p:cNvPr id="14" name="Text 11"/>
          <p:cNvSpPr txBox="1"/>
          <p:nvPr/>
        </p:nvSpPr>
        <p:spPr>
          <a:xfrm>
            <a:off x="6217920" y="2743200"/>
            <a:ext cx="2194560" cy="365760"/>
          </a:xfrm>
          <a:prstGeom prst="rect">
            <a:avLst/>
          </a:prstGeom>
          <a:noFill/>
          <a:ln/>
        </p:spPr>
        <p:txBody>
          <a:bodyPr wrap="square" lIns="0" tIns="0" rIns="0" bIns="0" rtlCol="0" anchor="t"/>
          <a:lstStyle/>
          <a:p>
            <a:pPr indent="0" marL="0">
              <a:buNone/>
            </a:pPr>
            <a:r>
              <a:rPr lang="en-US" sz="1800" b="1" dirty="0">
                <a:solidFill>
                  <a:schemeClr val="tx2"/>
                </a:solidFill>
              </a:rPr>
              <a:t>Correct</a:t>
            </a:r>
            <a:endParaRPr lang="en-US" sz="1800" dirty="0"/>
          </a:p>
        </p:txBody>
      </p:sp>
      <p:sp>
        <p:nvSpPr>
          <p:cNvPr id="15" name="Text 12"/>
          <p:cNvSpPr txBox="1"/>
          <p:nvPr/>
        </p:nvSpPr>
        <p:spPr>
          <a:xfrm>
            <a:off x="6217920" y="3108960"/>
            <a:ext cx="2240280" cy="731520"/>
          </a:xfrm>
          <a:prstGeom prst="rect">
            <a:avLst/>
          </a:prstGeom>
          <a:noFill/>
          <a:ln/>
        </p:spPr>
        <p:txBody>
          <a:bodyPr wrap="square" lIns="0" tIns="0" rIns="0" bIns="0" rtlCol="0" anchor="t"/>
          <a:lstStyle/>
          <a:p>
            <a:pPr indent="0" marL="0">
              <a:buNone/>
            </a:pPr>
            <a:r>
              <a:rPr lang="en-US" sz="1300" dirty="0">
                <a:solidFill>
                  <a:schemeClr val="accent6"/>
                </a:solidFill>
              </a:rPr>
              <a:t>Atomic transfers with row locks; balances change in one place only</a:t>
            </a:r>
            <a:endParaRPr lang="en-US" sz="1300" dirty="0"/>
          </a:p>
        </p:txBody>
      </p:sp>
      <p:sp>
        <p:nvSpPr>
          <p:cNvPr id="16" name="card"/>
          <p:cNvSpPr/>
          <p:nvPr/>
        </p:nvSpPr>
        <p:spPr>
          <a:xfrm>
            <a:off x="8823960" y="1783080"/>
            <a:ext cx="2697480" cy="2103120"/>
          </a:xfrm>
          <a:prstGeom prst="roundRect">
            <a:avLst>
              <a:gd name="adj" fmla="val 3478"/>
            </a:avLst>
          </a:prstGeom>
          <a:solidFill>
            <a:schemeClr val="bg1"/>
          </a:solidFill>
          <a:ln w="12700">
            <a:solidFill>
              <a:srgbClr val="E2E8F0"/>
            </a:solidFill>
            <a:prstDash val="solid"/>
          </a:ln>
        </p:spPr>
      </p:sp>
      <p:sp>
        <p:nvSpPr>
          <p:cNvPr id="17" name="icon-bg"/>
          <p:cNvSpPr/>
          <p:nvPr/>
        </p:nvSpPr>
        <p:spPr>
          <a:xfrm>
            <a:off x="9098280" y="2057400"/>
            <a:ext cx="548640" cy="548640"/>
          </a:xfrm>
          <a:prstGeom prst="ellipse">
            <a:avLst/>
          </a:prstGeom>
          <a:solidFill>
            <a:schemeClr val="accent1"/>
          </a:solidFill>
          <a:ln/>
        </p:spPr>
      </p:sp>
      <p:pic>
        <p:nvPicPr>
          <p:cNvPr id="18" name="icon-FaUserLock" descr="preencoded.png">    </p:cNvPr>
          <p:cNvPicPr>
            <a:picLocks noChangeAspect="1"/>
          </p:cNvPicPr>
          <p:nvPr/>
        </p:nvPicPr>
        <p:blipFill>
          <a:blip r:embed="rId2"/>
          <a:stretch>
            <a:fillRect/>
          </a:stretch>
        </p:blipFill>
        <p:spPr>
          <a:xfrm>
            <a:off x="9246413" y="2205533"/>
            <a:ext cx="252374" cy="252374"/>
          </a:xfrm>
          <a:prstGeom prst="rect">
            <a:avLst/>
          </a:prstGeom>
        </p:spPr>
      </p:pic>
      <p:sp>
        <p:nvSpPr>
          <p:cNvPr id="19" name="Text 15"/>
          <p:cNvSpPr txBox="1"/>
          <p:nvPr/>
        </p:nvSpPr>
        <p:spPr>
          <a:xfrm>
            <a:off x="9098280" y="2743200"/>
            <a:ext cx="2194560" cy="365760"/>
          </a:xfrm>
          <a:prstGeom prst="rect">
            <a:avLst/>
          </a:prstGeom>
          <a:noFill/>
          <a:ln/>
        </p:spPr>
        <p:txBody>
          <a:bodyPr wrap="square" lIns="0" tIns="0" rIns="0" bIns="0" rtlCol="0" anchor="t"/>
          <a:lstStyle/>
          <a:p>
            <a:pPr indent="0" marL="0">
              <a:buNone/>
            </a:pPr>
            <a:r>
              <a:rPr lang="en-US" sz="1800" b="1" dirty="0">
                <a:solidFill>
                  <a:schemeClr val="tx2"/>
                </a:solidFill>
              </a:rPr>
              <a:t>Private</a:t>
            </a:r>
            <a:endParaRPr lang="en-US" sz="1800" dirty="0"/>
          </a:p>
        </p:txBody>
      </p:sp>
      <p:sp>
        <p:nvSpPr>
          <p:cNvPr id="20" name="Text 16"/>
          <p:cNvSpPr txBox="1"/>
          <p:nvPr/>
        </p:nvSpPr>
        <p:spPr>
          <a:xfrm>
            <a:off x="9098280" y="3108960"/>
            <a:ext cx="2240280" cy="731520"/>
          </a:xfrm>
          <a:prstGeom prst="rect">
            <a:avLst/>
          </a:prstGeom>
          <a:noFill/>
          <a:ln/>
        </p:spPr>
        <p:txBody>
          <a:bodyPr wrap="square" lIns="0" tIns="0" rIns="0" bIns="0" rtlCol="0" anchor="t"/>
          <a:lstStyle/>
          <a:p>
            <a:pPr indent="0" marL="0">
              <a:buNone/>
            </a:pPr>
            <a:r>
              <a:rPr lang="en-US" sz="1300" dirty="0">
                <a:solidFill>
                  <a:schemeClr val="accent6"/>
                </a:solidFill>
              </a:rPr>
              <a:t>Every query is scoped to the signed-in customer</a:t>
            </a:r>
            <a:endParaRPr lang="en-US" sz="1300" dirty="0"/>
          </a:p>
        </p:txBody>
      </p:sp>
      <p:sp>
        <p:nvSpPr>
          <p:cNvPr id="21" name="card"/>
          <p:cNvSpPr/>
          <p:nvPr/>
        </p:nvSpPr>
        <p:spPr>
          <a:xfrm>
            <a:off x="5943600" y="4023360"/>
            <a:ext cx="2697480" cy="2103120"/>
          </a:xfrm>
          <a:prstGeom prst="roundRect">
            <a:avLst>
              <a:gd name="adj" fmla="val 3478"/>
            </a:avLst>
          </a:prstGeom>
          <a:solidFill>
            <a:schemeClr val="bg1"/>
          </a:solidFill>
          <a:ln w="12700">
            <a:solidFill>
              <a:srgbClr val="E2E8F0"/>
            </a:solidFill>
            <a:prstDash val="solid"/>
          </a:ln>
        </p:spPr>
      </p:sp>
      <p:sp>
        <p:nvSpPr>
          <p:cNvPr id="22" name="icon-bg"/>
          <p:cNvSpPr/>
          <p:nvPr/>
        </p:nvSpPr>
        <p:spPr>
          <a:xfrm>
            <a:off x="6217920" y="4297680"/>
            <a:ext cx="548640" cy="548640"/>
          </a:xfrm>
          <a:prstGeom prst="ellipse">
            <a:avLst/>
          </a:prstGeom>
          <a:solidFill>
            <a:schemeClr val="accent1"/>
          </a:solidFill>
          <a:ln/>
        </p:spPr>
      </p:sp>
      <p:pic>
        <p:nvPicPr>
          <p:cNvPr id="23" name="icon-FaLock" descr="preencoded.png">    </p:cNvPr>
          <p:cNvPicPr>
            <a:picLocks noChangeAspect="1"/>
          </p:cNvPicPr>
          <p:nvPr/>
        </p:nvPicPr>
        <p:blipFill>
          <a:blip r:embed="rId3"/>
          <a:stretch>
            <a:fillRect/>
          </a:stretch>
        </p:blipFill>
        <p:spPr>
          <a:xfrm>
            <a:off x="6366053" y="4445813"/>
            <a:ext cx="252374" cy="252374"/>
          </a:xfrm>
          <a:prstGeom prst="rect">
            <a:avLst/>
          </a:prstGeom>
        </p:spPr>
      </p:pic>
      <p:sp>
        <p:nvSpPr>
          <p:cNvPr id="24" name="Text 19"/>
          <p:cNvSpPr txBox="1"/>
          <p:nvPr/>
        </p:nvSpPr>
        <p:spPr>
          <a:xfrm>
            <a:off x="6217920" y="49834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Secure</a:t>
            </a:r>
            <a:endParaRPr lang="en-US" sz="1800" dirty="0"/>
          </a:p>
        </p:txBody>
      </p:sp>
      <p:sp>
        <p:nvSpPr>
          <p:cNvPr id="25" name="Text 20"/>
          <p:cNvSpPr txBox="1"/>
          <p:nvPr/>
        </p:nvSpPr>
        <p:spPr>
          <a:xfrm>
            <a:off x="6217920" y="5349240"/>
            <a:ext cx="2240280" cy="731520"/>
          </a:xfrm>
          <a:prstGeom prst="rect">
            <a:avLst/>
          </a:prstGeom>
          <a:noFill/>
          <a:ln/>
        </p:spPr>
        <p:txBody>
          <a:bodyPr wrap="square" lIns="0" tIns="0" rIns="0" bIns="0" rtlCol="0" anchor="t"/>
          <a:lstStyle/>
          <a:p>
            <a:pPr indent="0" marL="0">
              <a:buNone/>
            </a:pPr>
            <a:r>
              <a:rPr lang="en-US" sz="1300" dirty="0">
                <a:solidFill>
                  <a:schemeClr val="accent6"/>
                </a:solidFill>
              </a:rPr>
              <a:t>BCrypt passwords and PINs, JWT and session login, account lockout</a:t>
            </a:r>
            <a:endParaRPr lang="en-US" sz="1300" dirty="0"/>
          </a:p>
        </p:txBody>
      </p:sp>
      <p:sp>
        <p:nvSpPr>
          <p:cNvPr id="26" name="card"/>
          <p:cNvSpPr/>
          <p:nvPr/>
        </p:nvSpPr>
        <p:spPr>
          <a:xfrm>
            <a:off x="8823960" y="4023360"/>
            <a:ext cx="2697480" cy="2103120"/>
          </a:xfrm>
          <a:prstGeom prst="roundRect">
            <a:avLst>
              <a:gd name="adj" fmla="val 3478"/>
            </a:avLst>
          </a:prstGeom>
          <a:solidFill>
            <a:schemeClr val="bg1"/>
          </a:solidFill>
          <a:ln w="12700">
            <a:solidFill>
              <a:srgbClr val="E2E8F0"/>
            </a:solidFill>
            <a:prstDash val="solid"/>
          </a:ln>
        </p:spPr>
      </p:sp>
      <p:sp>
        <p:nvSpPr>
          <p:cNvPr id="27" name="icon-bg"/>
          <p:cNvSpPr/>
          <p:nvPr/>
        </p:nvSpPr>
        <p:spPr>
          <a:xfrm>
            <a:off x="9098280" y="4297680"/>
            <a:ext cx="548640" cy="548640"/>
          </a:xfrm>
          <a:prstGeom prst="ellipse">
            <a:avLst/>
          </a:prstGeom>
          <a:solidFill>
            <a:schemeClr val="accent1"/>
          </a:solidFill>
          <a:ln/>
        </p:spPr>
      </p:sp>
      <p:pic>
        <p:nvPicPr>
          <p:cNvPr id="28" name="icon-FaClock" descr="preencoded.png">    </p:cNvPr>
          <p:cNvPicPr>
            <a:picLocks noChangeAspect="1"/>
          </p:cNvPicPr>
          <p:nvPr/>
        </p:nvPicPr>
        <p:blipFill>
          <a:blip r:embed="rId4"/>
          <a:stretch>
            <a:fillRect/>
          </a:stretch>
        </p:blipFill>
        <p:spPr>
          <a:xfrm>
            <a:off x="9246413" y="4445813"/>
            <a:ext cx="252374" cy="252374"/>
          </a:xfrm>
          <a:prstGeom prst="rect">
            <a:avLst/>
          </a:prstGeom>
        </p:spPr>
      </p:pic>
      <p:sp>
        <p:nvSpPr>
          <p:cNvPr id="29" name="Text 23"/>
          <p:cNvSpPr txBox="1"/>
          <p:nvPr/>
        </p:nvSpPr>
        <p:spPr>
          <a:xfrm>
            <a:off x="9098280" y="4983480"/>
            <a:ext cx="2194560" cy="365760"/>
          </a:xfrm>
          <a:prstGeom prst="rect">
            <a:avLst/>
          </a:prstGeom>
          <a:noFill/>
          <a:ln/>
        </p:spPr>
        <p:txBody>
          <a:bodyPr wrap="square" lIns="0" tIns="0" rIns="0" bIns="0" rtlCol="0" anchor="t"/>
          <a:lstStyle/>
          <a:p>
            <a:pPr indent="0" marL="0">
              <a:buNone/>
            </a:pPr>
            <a:r>
              <a:rPr lang="en-US" sz="1800" b="1" dirty="0">
                <a:solidFill>
                  <a:schemeClr val="tx2"/>
                </a:solidFill>
              </a:rPr>
              <a:t>Available</a:t>
            </a:r>
            <a:endParaRPr lang="en-US" sz="1800" dirty="0"/>
          </a:p>
        </p:txBody>
      </p:sp>
      <p:sp>
        <p:nvSpPr>
          <p:cNvPr id="30" name="Text 24"/>
          <p:cNvSpPr txBox="1"/>
          <p:nvPr/>
        </p:nvSpPr>
        <p:spPr>
          <a:xfrm>
            <a:off x="9098280" y="5349240"/>
            <a:ext cx="2240280" cy="731520"/>
          </a:xfrm>
          <a:prstGeom prst="rect">
            <a:avLst/>
          </a:prstGeom>
          <a:noFill/>
          <a:ln/>
        </p:spPr>
        <p:txBody>
          <a:bodyPr wrap="square" lIns="0" tIns="0" rIns="0" bIns="0" rtlCol="0" anchor="t"/>
          <a:lstStyle/>
          <a:p>
            <a:pPr indent="0" marL="0">
              <a:buNone/>
            </a:pPr>
            <a:r>
              <a:rPr lang="en-US" sz="1300" dirty="0">
                <a:solidFill>
                  <a:schemeClr val="accent6"/>
                </a:solidFill>
              </a:rPr>
              <a:t>Web portal and React app on one shared database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PROJECT SCOPE</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Project at a glance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A full-stack system: about 6,400 lines of Java backend and 25 React pages.</a:t>
            </a:r>
            <a:endParaRPr lang="en-US" sz="1600" dirty="0"/>
          </a:p>
        </p:txBody>
      </p:sp>
      <p:sp>
        <p:nvSpPr>
          <p:cNvPr id="5" name="card"/>
          <p:cNvSpPr/>
          <p:nvPr/>
        </p:nvSpPr>
        <p:spPr>
          <a:xfrm>
            <a:off x="548640" y="1783080"/>
            <a:ext cx="2514600" cy="1298448"/>
          </a:xfrm>
          <a:prstGeom prst="roundRect">
            <a:avLst>
              <a:gd name="adj" fmla="val 5634"/>
            </a:avLst>
          </a:prstGeom>
          <a:solidFill>
            <a:schemeClr val="bg2"/>
          </a:solidFill>
          <a:ln/>
        </p:spPr>
      </p:sp>
      <p:sp>
        <p:nvSpPr>
          <p:cNvPr id="6" name="Text 4"/>
          <p:cNvSpPr txBox="1"/>
          <p:nvPr/>
        </p:nvSpPr>
        <p:spPr>
          <a:xfrm>
            <a:off x="822960" y="1920240"/>
            <a:ext cx="2103120" cy="685800"/>
          </a:xfrm>
          <a:prstGeom prst="rect">
            <a:avLst/>
          </a:prstGeom>
          <a:noFill/>
          <a:ln/>
        </p:spPr>
        <p:txBody>
          <a:bodyPr wrap="square" lIns="0" tIns="0" rIns="0" bIns="0" rtlCol="0" anchor="t"/>
          <a:lstStyle/>
          <a:p>
            <a:pPr indent="0" marL="0">
              <a:buNone/>
            </a:pPr>
            <a:r>
              <a:rPr lang="en-US" sz="4000" b="1" dirty="0">
                <a:solidFill>
                  <a:schemeClr val="accent1"/>
                </a:solidFill>
              </a:rPr>
              <a:t>55</a:t>
            </a:r>
            <a:endParaRPr lang="en-US" sz="4000" dirty="0"/>
          </a:p>
        </p:txBody>
      </p:sp>
      <p:sp>
        <p:nvSpPr>
          <p:cNvPr id="7" name="Text 5"/>
          <p:cNvSpPr txBox="1"/>
          <p:nvPr/>
        </p:nvSpPr>
        <p:spPr>
          <a:xfrm>
            <a:off x="822960" y="2624328"/>
            <a:ext cx="2103120" cy="365760"/>
          </a:xfrm>
          <a:prstGeom prst="rect">
            <a:avLst/>
          </a:prstGeom>
          <a:noFill/>
          <a:ln/>
        </p:spPr>
        <p:txBody>
          <a:bodyPr wrap="square" lIns="0" tIns="0" rIns="0" bIns="0" rtlCol="0" anchor="t"/>
          <a:lstStyle/>
          <a:p>
            <a:pPr indent="0" marL="0">
              <a:buNone/>
            </a:pPr>
            <a:r>
              <a:rPr lang="en-US" sz="1300" dirty="0">
                <a:solidFill>
                  <a:schemeClr val="accent6"/>
                </a:solidFill>
              </a:rPr>
              <a:t>REST API endpoints</a:t>
            </a:r>
            <a:endParaRPr lang="en-US" sz="1300" dirty="0"/>
          </a:p>
        </p:txBody>
      </p:sp>
      <p:sp>
        <p:nvSpPr>
          <p:cNvPr id="8" name="card"/>
          <p:cNvSpPr/>
          <p:nvPr/>
        </p:nvSpPr>
        <p:spPr>
          <a:xfrm>
            <a:off x="3246120" y="1783080"/>
            <a:ext cx="2514600" cy="1298448"/>
          </a:xfrm>
          <a:prstGeom prst="roundRect">
            <a:avLst>
              <a:gd name="adj" fmla="val 5634"/>
            </a:avLst>
          </a:prstGeom>
          <a:solidFill>
            <a:schemeClr val="bg2"/>
          </a:solidFill>
          <a:ln/>
        </p:spPr>
      </p:sp>
      <p:sp>
        <p:nvSpPr>
          <p:cNvPr id="9" name="Text 7"/>
          <p:cNvSpPr txBox="1"/>
          <p:nvPr/>
        </p:nvSpPr>
        <p:spPr>
          <a:xfrm>
            <a:off x="3520440" y="1920240"/>
            <a:ext cx="2103120" cy="685800"/>
          </a:xfrm>
          <a:prstGeom prst="rect">
            <a:avLst/>
          </a:prstGeom>
          <a:noFill/>
          <a:ln/>
        </p:spPr>
        <p:txBody>
          <a:bodyPr wrap="square" lIns="0" tIns="0" rIns="0" bIns="0" rtlCol="0" anchor="t"/>
          <a:lstStyle/>
          <a:p>
            <a:pPr indent="0" marL="0">
              <a:buNone/>
            </a:pPr>
            <a:r>
              <a:rPr lang="en-US" sz="4000" b="1" dirty="0">
                <a:solidFill>
                  <a:schemeClr val="accent1"/>
                </a:solidFill>
              </a:rPr>
              <a:t>6</a:t>
            </a:r>
            <a:endParaRPr lang="en-US" sz="4000" dirty="0"/>
          </a:p>
        </p:txBody>
      </p:sp>
      <p:sp>
        <p:nvSpPr>
          <p:cNvPr id="10" name="Text 8"/>
          <p:cNvSpPr txBox="1"/>
          <p:nvPr/>
        </p:nvSpPr>
        <p:spPr>
          <a:xfrm>
            <a:off x="3520440" y="2624328"/>
            <a:ext cx="2103120" cy="365760"/>
          </a:xfrm>
          <a:prstGeom prst="rect">
            <a:avLst/>
          </a:prstGeom>
          <a:noFill/>
          <a:ln/>
        </p:spPr>
        <p:txBody>
          <a:bodyPr wrap="square" lIns="0" tIns="0" rIns="0" bIns="0" rtlCol="0" anchor="t"/>
          <a:lstStyle/>
          <a:p>
            <a:pPr indent="0" marL="0">
              <a:buNone/>
            </a:pPr>
            <a:r>
              <a:rPr lang="en-US" sz="1300" dirty="0">
                <a:solidFill>
                  <a:schemeClr val="accent6"/>
                </a:solidFill>
              </a:rPr>
              <a:t>Servlets in the portal</a:t>
            </a:r>
            <a:endParaRPr lang="en-US" sz="1300" dirty="0"/>
          </a:p>
        </p:txBody>
      </p:sp>
      <p:sp>
        <p:nvSpPr>
          <p:cNvPr id="11" name="card"/>
          <p:cNvSpPr/>
          <p:nvPr/>
        </p:nvSpPr>
        <p:spPr>
          <a:xfrm>
            <a:off x="548640" y="3246120"/>
            <a:ext cx="2514600" cy="1298448"/>
          </a:xfrm>
          <a:prstGeom prst="roundRect">
            <a:avLst>
              <a:gd name="adj" fmla="val 5634"/>
            </a:avLst>
          </a:prstGeom>
          <a:solidFill>
            <a:schemeClr val="bg2"/>
          </a:solidFill>
          <a:ln/>
        </p:spPr>
      </p:sp>
      <p:sp>
        <p:nvSpPr>
          <p:cNvPr id="12" name="Text 10"/>
          <p:cNvSpPr txBox="1"/>
          <p:nvPr/>
        </p:nvSpPr>
        <p:spPr>
          <a:xfrm>
            <a:off x="822960" y="3383280"/>
            <a:ext cx="2103120" cy="685800"/>
          </a:xfrm>
          <a:prstGeom prst="rect">
            <a:avLst/>
          </a:prstGeom>
          <a:noFill/>
          <a:ln/>
        </p:spPr>
        <p:txBody>
          <a:bodyPr wrap="square" lIns="0" tIns="0" rIns="0" bIns="0" rtlCol="0" anchor="t"/>
          <a:lstStyle/>
          <a:p>
            <a:pPr indent="0" marL="0">
              <a:buNone/>
            </a:pPr>
            <a:r>
              <a:rPr lang="en-US" sz="4000" b="1" dirty="0">
                <a:solidFill>
                  <a:schemeClr val="accent1"/>
                </a:solidFill>
              </a:rPr>
              <a:t>11</a:t>
            </a:r>
            <a:endParaRPr lang="en-US" sz="4000" dirty="0"/>
          </a:p>
        </p:txBody>
      </p:sp>
      <p:sp>
        <p:nvSpPr>
          <p:cNvPr id="13" name="Text 11"/>
          <p:cNvSpPr txBox="1"/>
          <p:nvPr/>
        </p:nvSpPr>
        <p:spPr>
          <a:xfrm>
            <a:off x="822960" y="4087368"/>
            <a:ext cx="2103120" cy="365760"/>
          </a:xfrm>
          <a:prstGeom prst="rect">
            <a:avLst/>
          </a:prstGeom>
          <a:noFill/>
          <a:ln/>
        </p:spPr>
        <p:txBody>
          <a:bodyPr wrap="square" lIns="0" tIns="0" rIns="0" bIns="0" rtlCol="0" anchor="t"/>
          <a:lstStyle/>
          <a:p>
            <a:pPr indent="0" marL="0">
              <a:buNone/>
            </a:pPr>
            <a:r>
              <a:rPr lang="en-US" sz="1300" dirty="0">
                <a:solidFill>
                  <a:schemeClr val="accent6"/>
                </a:solidFill>
              </a:rPr>
              <a:t>Database tables (JPA entities)</a:t>
            </a:r>
            <a:endParaRPr lang="en-US" sz="1300" dirty="0"/>
          </a:p>
        </p:txBody>
      </p:sp>
      <p:sp>
        <p:nvSpPr>
          <p:cNvPr id="14" name="card"/>
          <p:cNvSpPr/>
          <p:nvPr/>
        </p:nvSpPr>
        <p:spPr>
          <a:xfrm>
            <a:off x="3246120" y="3246120"/>
            <a:ext cx="2514600" cy="1298448"/>
          </a:xfrm>
          <a:prstGeom prst="roundRect">
            <a:avLst>
              <a:gd name="adj" fmla="val 5634"/>
            </a:avLst>
          </a:prstGeom>
          <a:solidFill>
            <a:schemeClr val="bg2"/>
          </a:solidFill>
          <a:ln/>
        </p:spPr>
      </p:sp>
      <p:sp>
        <p:nvSpPr>
          <p:cNvPr id="15" name="Text 13"/>
          <p:cNvSpPr txBox="1"/>
          <p:nvPr/>
        </p:nvSpPr>
        <p:spPr>
          <a:xfrm>
            <a:off x="3520440" y="3383280"/>
            <a:ext cx="2103120" cy="685800"/>
          </a:xfrm>
          <a:prstGeom prst="rect">
            <a:avLst/>
          </a:prstGeom>
          <a:noFill/>
          <a:ln/>
        </p:spPr>
        <p:txBody>
          <a:bodyPr wrap="square" lIns="0" tIns="0" rIns="0" bIns="0" rtlCol="0" anchor="t"/>
          <a:lstStyle/>
          <a:p>
            <a:pPr indent="0" marL="0">
              <a:buNone/>
            </a:pPr>
            <a:r>
              <a:rPr lang="en-US" sz="4000" b="1" dirty="0">
                <a:solidFill>
                  <a:schemeClr val="accent1"/>
                </a:solidFill>
              </a:rPr>
              <a:t>17</a:t>
            </a:r>
            <a:endParaRPr lang="en-US" sz="4000" dirty="0"/>
          </a:p>
        </p:txBody>
      </p:sp>
      <p:sp>
        <p:nvSpPr>
          <p:cNvPr id="16" name="Text 14"/>
          <p:cNvSpPr txBox="1"/>
          <p:nvPr/>
        </p:nvSpPr>
        <p:spPr>
          <a:xfrm>
            <a:off x="3520440" y="4087368"/>
            <a:ext cx="2103120" cy="365760"/>
          </a:xfrm>
          <a:prstGeom prst="rect">
            <a:avLst/>
          </a:prstGeom>
          <a:noFill/>
          <a:ln/>
        </p:spPr>
        <p:txBody>
          <a:bodyPr wrap="square" lIns="0" tIns="0" rIns="0" bIns="0" rtlCol="0" anchor="t"/>
          <a:lstStyle/>
          <a:p>
            <a:pPr indent="0" marL="0">
              <a:buNone/>
            </a:pPr>
            <a:r>
              <a:rPr lang="en-US" sz="1300" dirty="0">
                <a:solidFill>
                  <a:schemeClr val="accent6"/>
                </a:solidFill>
              </a:rPr>
              <a:t>Service classes</a:t>
            </a:r>
            <a:endParaRPr lang="en-US" sz="1300" dirty="0"/>
          </a:p>
        </p:txBody>
      </p:sp>
      <p:sp>
        <p:nvSpPr>
          <p:cNvPr id="17" name="card"/>
          <p:cNvSpPr/>
          <p:nvPr/>
        </p:nvSpPr>
        <p:spPr>
          <a:xfrm>
            <a:off x="548640" y="4709160"/>
            <a:ext cx="2514600" cy="1298448"/>
          </a:xfrm>
          <a:prstGeom prst="roundRect">
            <a:avLst>
              <a:gd name="adj" fmla="val 5634"/>
            </a:avLst>
          </a:prstGeom>
          <a:solidFill>
            <a:schemeClr val="bg2"/>
          </a:solidFill>
          <a:ln/>
        </p:spPr>
      </p:sp>
      <p:sp>
        <p:nvSpPr>
          <p:cNvPr id="18" name="Text 16"/>
          <p:cNvSpPr txBox="1"/>
          <p:nvPr/>
        </p:nvSpPr>
        <p:spPr>
          <a:xfrm>
            <a:off x="822960" y="4846320"/>
            <a:ext cx="2103120" cy="685800"/>
          </a:xfrm>
          <a:prstGeom prst="rect">
            <a:avLst/>
          </a:prstGeom>
          <a:noFill/>
          <a:ln/>
        </p:spPr>
        <p:txBody>
          <a:bodyPr wrap="square" lIns="0" tIns="0" rIns="0" bIns="0" rtlCol="0" anchor="t"/>
          <a:lstStyle/>
          <a:p>
            <a:pPr indent="0" marL="0">
              <a:buNone/>
            </a:pPr>
            <a:r>
              <a:rPr lang="en-US" sz="4000" b="1" dirty="0">
                <a:solidFill>
                  <a:schemeClr val="accent1"/>
                </a:solidFill>
              </a:rPr>
              <a:t>3</a:t>
            </a:r>
            <a:endParaRPr lang="en-US" sz="4000" dirty="0"/>
          </a:p>
        </p:txBody>
      </p:sp>
      <p:sp>
        <p:nvSpPr>
          <p:cNvPr id="19" name="Text 17"/>
          <p:cNvSpPr txBox="1"/>
          <p:nvPr/>
        </p:nvSpPr>
        <p:spPr>
          <a:xfrm>
            <a:off x="822960" y="5550408"/>
            <a:ext cx="2103120" cy="365760"/>
          </a:xfrm>
          <a:prstGeom prst="rect">
            <a:avLst/>
          </a:prstGeom>
          <a:noFill/>
          <a:ln/>
        </p:spPr>
        <p:txBody>
          <a:bodyPr wrap="square" lIns="0" tIns="0" rIns="0" bIns="0" rtlCol="0" anchor="t"/>
          <a:lstStyle/>
          <a:p>
            <a:pPr indent="0" marL="0">
              <a:buNone/>
            </a:pPr>
            <a:r>
              <a:rPr lang="en-US" sz="1300" dirty="0">
                <a:solidFill>
                  <a:schemeClr val="accent6"/>
                </a:solidFill>
              </a:rPr>
              <a:t>DAO interfaces over JDBC</a:t>
            </a:r>
            <a:endParaRPr lang="en-US" sz="1300" dirty="0"/>
          </a:p>
        </p:txBody>
      </p:sp>
      <p:sp>
        <p:nvSpPr>
          <p:cNvPr id="20" name="card"/>
          <p:cNvSpPr/>
          <p:nvPr/>
        </p:nvSpPr>
        <p:spPr>
          <a:xfrm>
            <a:off x="3246120" y="4709160"/>
            <a:ext cx="2514600" cy="1298448"/>
          </a:xfrm>
          <a:prstGeom prst="roundRect">
            <a:avLst>
              <a:gd name="adj" fmla="val 5634"/>
            </a:avLst>
          </a:prstGeom>
          <a:solidFill>
            <a:schemeClr val="bg2"/>
          </a:solidFill>
          <a:ln/>
        </p:spPr>
      </p:sp>
      <p:sp>
        <p:nvSpPr>
          <p:cNvPr id="21" name="Text 19"/>
          <p:cNvSpPr txBox="1"/>
          <p:nvPr/>
        </p:nvSpPr>
        <p:spPr>
          <a:xfrm>
            <a:off x="3520440" y="4846320"/>
            <a:ext cx="2103120" cy="685800"/>
          </a:xfrm>
          <a:prstGeom prst="rect">
            <a:avLst/>
          </a:prstGeom>
          <a:noFill/>
          <a:ln/>
        </p:spPr>
        <p:txBody>
          <a:bodyPr wrap="square" lIns="0" tIns="0" rIns="0" bIns="0" rtlCol="0" anchor="t"/>
          <a:lstStyle/>
          <a:p>
            <a:pPr indent="0" marL="0">
              <a:buNone/>
            </a:pPr>
            <a:r>
              <a:rPr lang="en-US" sz="4000" b="1" dirty="0">
                <a:solidFill>
                  <a:schemeClr val="accent1"/>
                </a:solidFill>
              </a:rPr>
              <a:t>12</a:t>
            </a:r>
            <a:endParaRPr lang="en-US" sz="4000" dirty="0"/>
          </a:p>
        </p:txBody>
      </p:sp>
      <p:sp>
        <p:nvSpPr>
          <p:cNvPr id="22" name="Text 20"/>
          <p:cNvSpPr txBox="1"/>
          <p:nvPr/>
        </p:nvSpPr>
        <p:spPr>
          <a:xfrm>
            <a:off x="3520440" y="5550408"/>
            <a:ext cx="2103120" cy="365760"/>
          </a:xfrm>
          <a:prstGeom prst="rect">
            <a:avLst/>
          </a:prstGeom>
          <a:noFill/>
          <a:ln/>
        </p:spPr>
        <p:txBody>
          <a:bodyPr wrap="square" lIns="0" tIns="0" rIns="0" bIns="0" rtlCol="0" anchor="t"/>
          <a:lstStyle/>
          <a:p>
            <a:pPr indent="0" marL="0">
              <a:buNone/>
            </a:pPr>
            <a:r>
              <a:rPr lang="en-US" sz="1300" dirty="0">
                <a:solidFill>
                  <a:schemeClr val="accent6"/>
                </a:solidFill>
              </a:rPr>
              <a:t>Automated tests, all passing</a:t>
            </a:r>
            <a:endParaRPr lang="en-US" sz="1300" dirty="0"/>
          </a:p>
        </p:txBody>
      </p:sp>
      <p:graphicFrame>
        <p:nvGraphicFramePr>
          <p:cNvPr id="23" name="Chart 0" descr=""/>
          <p:cNvGraphicFramePr/>
          <p:nvPr/>
        </p:nvGraphicFramePr>
        <p:xfrm>
          <a:off x="6035040" y="1737360"/>
          <a:ext cx="5577840" cy="443484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SOLUTION OVERVIEW</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Features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Two kinds of user, one system.</a:t>
            </a:r>
            <a:endParaRPr lang="en-US" sz="1600" dirty="0"/>
          </a:p>
        </p:txBody>
      </p:sp>
      <p:sp>
        <p:nvSpPr>
          <p:cNvPr id="5" name="card"/>
          <p:cNvSpPr/>
          <p:nvPr/>
        </p:nvSpPr>
        <p:spPr>
          <a:xfrm>
            <a:off x="548640" y="1783080"/>
            <a:ext cx="5440680" cy="4389120"/>
          </a:xfrm>
          <a:prstGeom prst="roundRect">
            <a:avLst>
              <a:gd name="adj" fmla="val 1667"/>
            </a:avLst>
          </a:prstGeom>
          <a:solidFill>
            <a:schemeClr val="bg2"/>
          </a:solidFill>
          <a:ln/>
        </p:spPr>
      </p:sp>
      <p:sp>
        <p:nvSpPr>
          <p:cNvPr id="6" name="icon-bg"/>
          <p:cNvSpPr/>
          <p:nvPr/>
        </p:nvSpPr>
        <p:spPr>
          <a:xfrm>
            <a:off x="822960" y="1965960"/>
            <a:ext cx="502920" cy="502920"/>
          </a:xfrm>
          <a:prstGeom prst="ellipse">
            <a:avLst/>
          </a:prstGeom>
          <a:solidFill>
            <a:schemeClr val="accent1"/>
          </a:solidFill>
          <a:ln/>
        </p:spPr>
      </p:sp>
      <p:pic>
        <p:nvPicPr>
          <p:cNvPr id="7" name="icon-FaUser" descr="preencoded.png">    </p:cNvPr>
          <p:cNvPicPr>
            <a:picLocks noChangeAspect="1"/>
          </p:cNvPicPr>
          <p:nvPr/>
        </p:nvPicPr>
        <p:blipFill>
          <a:blip r:embed="rId1"/>
          <a:stretch>
            <a:fillRect/>
          </a:stretch>
        </p:blipFill>
        <p:spPr>
          <a:xfrm>
            <a:off x="958748" y="2101748"/>
            <a:ext cx="231343" cy="231343"/>
          </a:xfrm>
          <a:prstGeom prst="rect">
            <a:avLst/>
          </a:prstGeom>
        </p:spPr>
      </p:pic>
      <p:sp>
        <p:nvSpPr>
          <p:cNvPr id="8" name="Text 5"/>
          <p:cNvSpPr txBox="1"/>
          <p:nvPr/>
        </p:nvSpPr>
        <p:spPr>
          <a:xfrm>
            <a:off x="1463040" y="2057400"/>
            <a:ext cx="4114800" cy="365760"/>
          </a:xfrm>
          <a:prstGeom prst="rect">
            <a:avLst/>
          </a:prstGeom>
          <a:noFill/>
          <a:ln/>
        </p:spPr>
        <p:txBody>
          <a:bodyPr wrap="square" lIns="0" tIns="0" rIns="0" bIns="0" rtlCol="0" anchor="t"/>
          <a:lstStyle/>
          <a:p>
            <a:pPr indent="0" marL="0">
              <a:buNone/>
            </a:pPr>
            <a:r>
              <a:rPr lang="en-US" sz="2000" b="1" dirty="0">
                <a:solidFill>
                  <a:schemeClr val="tx2"/>
                </a:solidFill>
              </a:rPr>
              <a:t>Customer banking</a:t>
            </a:r>
            <a:endParaRPr lang="en-US" sz="2000" dirty="0"/>
          </a:p>
        </p:txBody>
      </p:sp>
      <p:sp>
        <p:nvSpPr>
          <p:cNvPr id="9" name="Text 6"/>
          <p:cNvSpPr txBox="1"/>
          <p:nvPr/>
        </p:nvSpPr>
        <p:spPr>
          <a:xfrm>
            <a:off x="868680" y="2697480"/>
            <a:ext cx="1874520" cy="365760"/>
          </a:xfrm>
          <a:prstGeom prst="rect">
            <a:avLst/>
          </a:prstGeom>
          <a:noFill/>
          <a:ln/>
        </p:spPr>
        <p:txBody>
          <a:bodyPr wrap="square" lIns="0" tIns="0" rIns="0" bIns="0" rtlCol="0" anchor="t"/>
          <a:lstStyle/>
          <a:p>
            <a:pPr indent="0" marL="0">
              <a:buNone/>
            </a:pPr>
            <a:r>
              <a:rPr lang="en-US" sz="1400" b="1" dirty="0">
                <a:solidFill>
                  <a:schemeClr val="tx1"/>
                </a:solidFill>
              </a:rPr>
              <a:t>Accounts &amp; passbook</a:t>
            </a:r>
            <a:endParaRPr lang="en-US" sz="1400" dirty="0"/>
          </a:p>
        </p:txBody>
      </p:sp>
      <p:sp>
        <p:nvSpPr>
          <p:cNvPr id="10" name="Text 7"/>
          <p:cNvSpPr txBox="1"/>
          <p:nvPr/>
        </p:nvSpPr>
        <p:spPr>
          <a:xfrm>
            <a:off x="2743200" y="2697480"/>
            <a:ext cx="3108960" cy="365760"/>
          </a:xfrm>
          <a:prstGeom prst="rect">
            <a:avLst/>
          </a:prstGeom>
          <a:noFill/>
          <a:ln/>
        </p:spPr>
        <p:txBody>
          <a:bodyPr wrap="square" lIns="0" tIns="0" rIns="0" bIns="0" rtlCol="0" anchor="t"/>
          <a:lstStyle/>
          <a:p>
            <a:pPr indent="0" marL="0">
              <a:buNone/>
            </a:pPr>
            <a:r>
              <a:rPr lang="en-US" sz="1400" dirty="0">
                <a:solidFill>
                  <a:schemeClr val="accent6"/>
                </a:solidFill>
              </a:rPr>
              <a:t>Savings, Current and Salary; CSV statements</a:t>
            </a:r>
            <a:endParaRPr lang="en-US" sz="1400" dirty="0"/>
          </a:p>
        </p:txBody>
      </p:sp>
      <p:sp>
        <p:nvSpPr>
          <p:cNvPr id="11" name="Text 8"/>
          <p:cNvSpPr txBox="1"/>
          <p:nvPr/>
        </p:nvSpPr>
        <p:spPr>
          <a:xfrm>
            <a:off x="868680" y="3182112"/>
            <a:ext cx="1874520" cy="365760"/>
          </a:xfrm>
          <a:prstGeom prst="rect">
            <a:avLst/>
          </a:prstGeom>
          <a:noFill/>
          <a:ln/>
        </p:spPr>
        <p:txBody>
          <a:bodyPr wrap="square" lIns="0" tIns="0" rIns="0" bIns="0" rtlCol="0" anchor="t"/>
          <a:lstStyle/>
          <a:p>
            <a:pPr indent="0" marL="0">
              <a:buNone/>
            </a:pPr>
            <a:r>
              <a:rPr lang="en-US" sz="1400" b="1" dirty="0">
                <a:solidFill>
                  <a:schemeClr val="tx1"/>
                </a:solidFill>
              </a:rPr>
              <a:t>Fund transfers</a:t>
            </a:r>
            <a:endParaRPr lang="en-US" sz="1400" dirty="0"/>
          </a:p>
        </p:txBody>
      </p:sp>
      <p:sp>
        <p:nvSpPr>
          <p:cNvPr id="12" name="Text 9"/>
          <p:cNvSpPr txBox="1"/>
          <p:nvPr/>
        </p:nvSpPr>
        <p:spPr>
          <a:xfrm>
            <a:off x="2743200" y="3182112"/>
            <a:ext cx="3108960" cy="365760"/>
          </a:xfrm>
          <a:prstGeom prst="rect">
            <a:avLst/>
          </a:prstGeom>
          <a:noFill/>
          <a:ln/>
        </p:spPr>
        <p:txBody>
          <a:bodyPr wrap="square" lIns="0" tIns="0" rIns="0" bIns="0" rtlCol="0" anchor="t"/>
          <a:lstStyle/>
          <a:p>
            <a:pPr indent="0" marL="0">
              <a:buNone/>
            </a:pPr>
            <a:r>
              <a:rPr lang="en-US" sz="1400" dirty="0">
                <a:solidFill>
                  <a:schemeClr val="accent6"/>
                </a:solidFill>
              </a:rPr>
              <a:t>Own accounts, payees, IMPS / NEFT / RTGS, UPI</a:t>
            </a:r>
            <a:endParaRPr lang="en-US" sz="1400" dirty="0"/>
          </a:p>
        </p:txBody>
      </p:sp>
      <p:sp>
        <p:nvSpPr>
          <p:cNvPr id="13" name="Text 10"/>
          <p:cNvSpPr txBox="1"/>
          <p:nvPr/>
        </p:nvSpPr>
        <p:spPr>
          <a:xfrm>
            <a:off x="868680" y="3666744"/>
            <a:ext cx="1874520" cy="365760"/>
          </a:xfrm>
          <a:prstGeom prst="rect">
            <a:avLst/>
          </a:prstGeom>
          <a:noFill/>
          <a:ln/>
        </p:spPr>
        <p:txBody>
          <a:bodyPr wrap="square" lIns="0" tIns="0" rIns="0" bIns="0" rtlCol="0" anchor="t"/>
          <a:lstStyle/>
          <a:p>
            <a:pPr indent="0" marL="0">
              <a:buNone/>
            </a:pPr>
            <a:r>
              <a:rPr lang="en-US" sz="1400" b="1" dirty="0">
                <a:solidFill>
                  <a:schemeClr val="tx1"/>
                </a:solidFill>
              </a:rPr>
              <a:t>Fixed deposits</a:t>
            </a:r>
            <a:endParaRPr lang="en-US" sz="1400" dirty="0"/>
          </a:p>
        </p:txBody>
      </p:sp>
      <p:sp>
        <p:nvSpPr>
          <p:cNvPr id="14" name="Text 11"/>
          <p:cNvSpPr txBox="1"/>
          <p:nvPr/>
        </p:nvSpPr>
        <p:spPr>
          <a:xfrm>
            <a:off x="2743200" y="3666744"/>
            <a:ext cx="3108960" cy="365760"/>
          </a:xfrm>
          <a:prstGeom prst="rect">
            <a:avLst/>
          </a:prstGeom>
          <a:noFill/>
          <a:ln/>
        </p:spPr>
        <p:txBody>
          <a:bodyPr wrap="square" lIns="0" tIns="0" rIns="0" bIns="0" rtlCol="0" anchor="t"/>
          <a:lstStyle/>
          <a:p>
            <a:pPr indent="0" marL="0">
              <a:buNone/>
            </a:pPr>
            <a:r>
              <a:rPr lang="en-US" sz="1400" dirty="0">
                <a:solidFill>
                  <a:schemeClr val="accent6"/>
                </a:solidFill>
              </a:rPr>
              <a:t>Rate slabs, maturity preview, early closure</a:t>
            </a:r>
            <a:endParaRPr lang="en-US" sz="1400" dirty="0"/>
          </a:p>
        </p:txBody>
      </p:sp>
      <p:sp>
        <p:nvSpPr>
          <p:cNvPr id="15" name="Text 12"/>
          <p:cNvSpPr txBox="1"/>
          <p:nvPr/>
        </p:nvSpPr>
        <p:spPr>
          <a:xfrm>
            <a:off x="868680" y="4151376"/>
            <a:ext cx="1874520" cy="365760"/>
          </a:xfrm>
          <a:prstGeom prst="rect">
            <a:avLst/>
          </a:prstGeom>
          <a:noFill/>
          <a:ln/>
        </p:spPr>
        <p:txBody>
          <a:bodyPr wrap="square" lIns="0" tIns="0" rIns="0" bIns="0" rtlCol="0" anchor="t"/>
          <a:lstStyle/>
          <a:p>
            <a:pPr indent="0" marL="0">
              <a:buNone/>
            </a:pPr>
            <a:r>
              <a:rPr lang="en-US" sz="1400" b="1" dirty="0">
                <a:solidFill>
                  <a:schemeClr val="tx1"/>
                </a:solidFill>
              </a:rPr>
              <a:t>Loans</a:t>
            </a:r>
            <a:endParaRPr lang="en-US" sz="1400" dirty="0"/>
          </a:p>
        </p:txBody>
      </p:sp>
      <p:sp>
        <p:nvSpPr>
          <p:cNvPr id="16" name="Text 13"/>
          <p:cNvSpPr txBox="1"/>
          <p:nvPr/>
        </p:nvSpPr>
        <p:spPr>
          <a:xfrm>
            <a:off x="2743200" y="4151376"/>
            <a:ext cx="3108960" cy="365760"/>
          </a:xfrm>
          <a:prstGeom prst="rect">
            <a:avLst/>
          </a:prstGeom>
          <a:noFill/>
          <a:ln/>
        </p:spPr>
        <p:txBody>
          <a:bodyPr wrap="square" lIns="0" tIns="0" rIns="0" bIns="0" rtlCol="0" anchor="t"/>
          <a:lstStyle/>
          <a:p>
            <a:pPr indent="0" marL="0">
              <a:buNone/>
            </a:pPr>
            <a:r>
              <a:rPr lang="en-US" sz="1400" dirty="0">
                <a:solidFill>
                  <a:schemeClr val="accent6"/>
                </a:solidFill>
              </a:rPr>
              <a:t>EMI calculator, apply online, repay and prepay</a:t>
            </a:r>
            <a:endParaRPr lang="en-US" sz="1400" dirty="0"/>
          </a:p>
        </p:txBody>
      </p:sp>
      <p:sp>
        <p:nvSpPr>
          <p:cNvPr id="17" name="Text 14"/>
          <p:cNvSpPr txBox="1"/>
          <p:nvPr/>
        </p:nvSpPr>
        <p:spPr>
          <a:xfrm>
            <a:off x="868680" y="4636008"/>
            <a:ext cx="1874520" cy="365760"/>
          </a:xfrm>
          <a:prstGeom prst="rect">
            <a:avLst/>
          </a:prstGeom>
          <a:noFill/>
          <a:ln/>
        </p:spPr>
        <p:txBody>
          <a:bodyPr wrap="square" lIns="0" tIns="0" rIns="0" bIns="0" rtlCol="0" anchor="t"/>
          <a:lstStyle/>
          <a:p>
            <a:pPr indent="0" marL="0">
              <a:buNone/>
            </a:pPr>
            <a:r>
              <a:rPr lang="en-US" sz="1400" b="1" dirty="0">
                <a:solidFill>
                  <a:schemeClr val="tx1"/>
                </a:solidFill>
              </a:rPr>
              <a:t>Debit cards</a:t>
            </a:r>
            <a:endParaRPr lang="en-US" sz="1400" dirty="0"/>
          </a:p>
        </p:txBody>
      </p:sp>
      <p:sp>
        <p:nvSpPr>
          <p:cNvPr id="18" name="Text 15"/>
          <p:cNvSpPr txBox="1"/>
          <p:nvPr/>
        </p:nvSpPr>
        <p:spPr>
          <a:xfrm>
            <a:off x="2743200" y="4636008"/>
            <a:ext cx="3108960" cy="365760"/>
          </a:xfrm>
          <a:prstGeom prst="rect">
            <a:avLst/>
          </a:prstGeom>
          <a:noFill/>
          <a:ln/>
        </p:spPr>
        <p:txBody>
          <a:bodyPr wrap="square" lIns="0" tIns="0" rIns="0" bIns="0" rtlCol="0" anchor="t"/>
          <a:lstStyle/>
          <a:p>
            <a:pPr indent="0" marL="0">
              <a:buNone/>
            </a:pPr>
            <a:r>
              <a:rPr lang="en-US" sz="1400" dirty="0">
                <a:solidFill>
                  <a:schemeClr val="accent6"/>
                </a:solidFill>
              </a:rPr>
              <a:t>Block, report lost, channel toggles, limits</a:t>
            </a:r>
            <a:endParaRPr lang="en-US" sz="1400" dirty="0"/>
          </a:p>
        </p:txBody>
      </p:sp>
      <p:sp>
        <p:nvSpPr>
          <p:cNvPr id="19" name="Text 16"/>
          <p:cNvSpPr txBox="1"/>
          <p:nvPr/>
        </p:nvSpPr>
        <p:spPr>
          <a:xfrm>
            <a:off x="868680" y="5120640"/>
            <a:ext cx="1874520" cy="365760"/>
          </a:xfrm>
          <a:prstGeom prst="rect">
            <a:avLst/>
          </a:prstGeom>
          <a:noFill/>
          <a:ln/>
        </p:spPr>
        <p:txBody>
          <a:bodyPr wrap="square" lIns="0" tIns="0" rIns="0" bIns="0" rtlCol="0" anchor="t"/>
          <a:lstStyle/>
          <a:p>
            <a:pPr indent="0" marL="0">
              <a:buNone/>
            </a:pPr>
            <a:r>
              <a:rPr lang="en-US" sz="1400" b="1" dirty="0">
                <a:solidFill>
                  <a:schemeClr val="tx1"/>
                </a:solidFill>
              </a:rPr>
              <a:t>Bills &amp; recharges</a:t>
            </a:r>
            <a:endParaRPr lang="en-US" sz="1400" dirty="0"/>
          </a:p>
        </p:txBody>
      </p:sp>
      <p:sp>
        <p:nvSpPr>
          <p:cNvPr id="20" name="Text 17"/>
          <p:cNvSpPr txBox="1"/>
          <p:nvPr/>
        </p:nvSpPr>
        <p:spPr>
          <a:xfrm>
            <a:off x="2743200" y="5120640"/>
            <a:ext cx="3108960" cy="365760"/>
          </a:xfrm>
          <a:prstGeom prst="rect">
            <a:avLst/>
          </a:prstGeom>
          <a:noFill/>
          <a:ln/>
        </p:spPr>
        <p:txBody>
          <a:bodyPr wrap="square" lIns="0" tIns="0" rIns="0" bIns="0" rtlCol="0" anchor="t"/>
          <a:lstStyle/>
          <a:p>
            <a:pPr indent="0" marL="0">
              <a:buNone/>
            </a:pPr>
            <a:r>
              <a:rPr lang="en-US" sz="1400" dirty="0">
                <a:solidFill>
                  <a:schemeClr val="accent6"/>
                </a:solidFill>
              </a:rPr>
              <a:t>Electricity, mobile, DTH, FASTag and more</a:t>
            </a:r>
            <a:endParaRPr lang="en-US" sz="1400" dirty="0"/>
          </a:p>
        </p:txBody>
      </p:sp>
      <p:sp>
        <p:nvSpPr>
          <p:cNvPr id="21" name="Text 18"/>
          <p:cNvSpPr txBox="1"/>
          <p:nvPr/>
        </p:nvSpPr>
        <p:spPr>
          <a:xfrm>
            <a:off x="868680" y="5605272"/>
            <a:ext cx="1874520" cy="365760"/>
          </a:xfrm>
          <a:prstGeom prst="rect">
            <a:avLst/>
          </a:prstGeom>
          <a:noFill/>
          <a:ln/>
        </p:spPr>
        <p:txBody>
          <a:bodyPr wrap="square" lIns="0" tIns="0" rIns="0" bIns="0" rtlCol="0" anchor="t"/>
          <a:lstStyle/>
          <a:p>
            <a:pPr indent="0" marL="0">
              <a:buNone/>
            </a:pPr>
            <a:r>
              <a:rPr lang="en-US" sz="1400" b="1" dirty="0">
                <a:solidFill>
                  <a:schemeClr val="tx1"/>
                </a:solidFill>
              </a:rPr>
              <a:t>Service requests</a:t>
            </a:r>
            <a:endParaRPr lang="en-US" sz="1400" dirty="0"/>
          </a:p>
        </p:txBody>
      </p:sp>
      <p:sp>
        <p:nvSpPr>
          <p:cNvPr id="22" name="Text 19"/>
          <p:cNvSpPr txBox="1"/>
          <p:nvPr/>
        </p:nvSpPr>
        <p:spPr>
          <a:xfrm>
            <a:off x="2743200" y="5605272"/>
            <a:ext cx="3108960" cy="365760"/>
          </a:xfrm>
          <a:prstGeom prst="rect">
            <a:avLst/>
          </a:prstGeom>
          <a:noFill/>
          <a:ln/>
        </p:spPr>
        <p:txBody>
          <a:bodyPr wrap="square" lIns="0" tIns="0" rIns="0" bIns="0" rtlCol="0" anchor="t"/>
          <a:lstStyle/>
          <a:p>
            <a:pPr indent="0" marL="0">
              <a:buNone/>
            </a:pPr>
            <a:r>
              <a:rPr lang="en-US" sz="1400" dirty="0">
                <a:solidFill>
                  <a:schemeClr val="accent6"/>
                </a:solidFill>
              </a:rPr>
              <a:t>Cheque book, address and nominee changes</a:t>
            </a:r>
            <a:endParaRPr lang="en-US" sz="1400" dirty="0"/>
          </a:p>
        </p:txBody>
      </p:sp>
      <p:sp>
        <p:nvSpPr>
          <p:cNvPr id="23" name="card"/>
          <p:cNvSpPr/>
          <p:nvPr/>
        </p:nvSpPr>
        <p:spPr>
          <a:xfrm>
            <a:off x="6172200" y="1783080"/>
            <a:ext cx="5440680" cy="4389120"/>
          </a:xfrm>
          <a:prstGeom prst="roundRect">
            <a:avLst>
              <a:gd name="adj" fmla="val 1667"/>
            </a:avLst>
          </a:prstGeom>
          <a:solidFill>
            <a:schemeClr val="bg2"/>
          </a:solidFill>
          <a:ln/>
        </p:spPr>
      </p:sp>
      <p:sp>
        <p:nvSpPr>
          <p:cNvPr id="24" name="icon-bg"/>
          <p:cNvSpPr/>
          <p:nvPr/>
        </p:nvSpPr>
        <p:spPr>
          <a:xfrm>
            <a:off x="6446520" y="1965960"/>
            <a:ext cx="502920" cy="502920"/>
          </a:xfrm>
          <a:prstGeom prst="ellipse">
            <a:avLst/>
          </a:prstGeom>
          <a:solidFill>
            <a:schemeClr val="tx2"/>
          </a:solidFill>
          <a:ln/>
        </p:spPr>
      </p:sp>
      <p:pic>
        <p:nvPicPr>
          <p:cNvPr id="25" name="icon-FaUserTie" descr="preencoded.png">    </p:cNvPr>
          <p:cNvPicPr>
            <a:picLocks noChangeAspect="1"/>
          </p:cNvPicPr>
          <p:nvPr/>
        </p:nvPicPr>
        <p:blipFill>
          <a:blip r:embed="rId2"/>
          <a:stretch>
            <a:fillRect/>
          </a:stretch>
        </p:blipFill>
        <p:spPr>
          <a:xfrm>
            <a:off x="6582308" y="2101748"/>
            <a:ext cx="231343" cy="231343"/>
          </a:xfrm>
          <a:prstGeom prst="rect">
            <a:avLst/>
          </a:prstGeom>
        </p:spPr>
      </p:pic>
      <p:sp>
        <p:nvSpPr>
          <p:cNvPr id="26" name="Text 22"/>
          <p:cNvSpPr txBox="1"/>
          <p:nvPr/>
        </p:nvSpPr>
        <p:spPr>
          <a:xfrm>
            <a:off x="7086600" y="2057400"/>
            <a:ext cx="4114800" cy="365760"/>
          </a:xfrm>
          <a:prstGeom prst="rect">
            <a:avLst/>
          </a:prstGeom>
          <a:noFill/>
          <a:ln/>
        </p:spPr>
        <p:txBody>
          <a:bodyPr wrap="square" lIns="0" tIns="0" rIns="0" bIns="0" rtlCol="0" anchor="t"/>
          <a:lstStyle/>
          <a:p>
            <a:pPr indent="0" marL="0">
              <a:buNone/>
            </a:pPr>
            <a:r>
              <a:rPr lang="en-US" sz="2000" b="1" dirty="0">
                <a:solidFill>
                  <a:schemeClr val="tx2"/>
                </a:solidFill>
              </a:rPr>
              <a:t>Branch administration</a:t>
            </a:r>
            <a:endParaRPr lang="en-US" sz="2000" dirty="0"/>
          </a:p>
        </p:txBody>
      </p:sp>
      <p:sp>
        <p:nvSpPr>
          <p:cNvPr id="27" name="Text 23"/>
          <p:cNvSpPr txBox="1"/>
          <p:nvPr/>
        </p:nvSpPr>
        <p:spPr>
          <a:xfrm>
            <a:off x="6492240" y="2697480"/>
            <a:ext cx="1874520" cy="365760"/>
          </a:xfrm>
          <a:prstGeom prst="rect">
            <a:avLst/>
          </a:prstGeom>
          <a:noFill/>
          <a:ln/>
        </p:spPr>
        <p:txBody>
          <a:bodyPr wrap="square" lIns="0" tIns="0" rIns="0" bIns="0" rtlCol="0" anchor="t"/>
          <a:lstStyle/>
          <a:p>
            <a:pPr indent="0" marL="0">
              <a:buNone/>
            </a:pPr>
            <a:r>
              <a:rPr lang="en-US" sz="1400" b="1" dirty="0">
                <a:solidFill>
                  <a:schemeClr val="tx1"/>
                </a:solidFill>
              </a:rPr>
              <a:t>Overview</a:t>
            </a:r>
            <a:endParaRPr lang="en-US" sz="1400" dirty="0"/>
          </a:p>
        </p:txBody>
      </p:sp>
      <p:sp>
        <p:nvSpPr>
          <p:cNvPr id="28" name="Text 24"/>
          <p:cNvSpPr txBox="1"/>
          <p:nvPr/>
        </p:nvSpPr>
        <p:spPr>
          <a:xfrm>
            <a:off x="8366760" y="2697480"/>
            <a:ext cx="3108960" cy="365760"/>
          </a:xfrm>
          <a:prstGeom prst="rect">
            <a:avLst/>
          </a:prstGeom>
          <a:noFill/>
          <a:ln/>
        </p:spPr>
        <p:txBody>
          <a:bodyPr wrap="square" lIns="0" tIns="0" rIns="0" bIns="0" rtlCol="0" anchor="t"/>
          <a:lstStyle/>
          <a:p>
            <a:pPr indent="0" marL="0">
              <a:buNone/>
            </a:pPr>
            <a:r>
              <a:rPr lang="en-US" sz="1400" dirty="0">
                <a:solidFill>
                  <a:schemeClr val="accent6"/>
                </a:solidFill>
              </a:rPr>
              <a:t>KPIs, 14-day volume chart, channel mix</a:t>
            </a:r>
            <a:endParaRPr lang="en-US" sz="1400" dirty="0"/>
          </a:p>
        </p:txBody>
      </p:sp>
      <p:sp>
        <p:nvSpPr>
          <p:cNvPr id="29" name="Text 25"/>
          <p:cNvSpPr txBox="1"/>
          <p:nvPr/>
        </p:nvSpPr>
        <p:spPr>
          <a:xfrm>
            <a:off x="6492240" y="3182112"/>
            <a:ext cx="1874520" cy="365760"/>
          </a:xfrm>
          <a:prstGeom prst="rect">
            <a:avLst/>
          </a:prstGeom>
          <a:noFill/>
          <a:ln/>
        </p:spPr>
        <p:txBody>
          <a:bodyPr wrap="square" lIns="0" tIns="0" rIns="0" bIns="0" rtlCol="0" anchor="t"/>
          <a:lstStyle/>
          <a:p>
            <a:pPr indent="0" marL="0">
              <a:buNone/>
            </a:pPr>
            <a:r>
              <a:rPr lang="en-US" sz="1400" b="1" dirty="0">
                <a:solidFill>
                  <a:schemeClr val="tx1"/>
                </a:solidFill>
              </a:rPr>
              <a:t>Customers</a:t>
            </a:r>
            <a:endParaRPr lang="en-US" sz="1400" dirty="0"/>
          </a:p>
        </p:txBody>
      </p:sp>
      <p:sp>
        <p:nvSpPr>
          <p:cNvPr id="30" name="Text 26"/>
          <p:cNvSpPr txBox="1"/>
          <p:nvPr/>
        </p:nvSpPr>
        <p:spPr>
          <a:xfrm>
            <a:off x="8366760" y="3182112"/>
            <a:ext cx="3108960" cy="365760"/>
          </a:xfrm>
          <a:prstGeom prst="rect">
            <a:avLst/>
          </a:prstGeom>
          <a:noFill/>
          <a:ln/>
        </p:spPr>
        <p:txBody>
          <a:bodyPr wrap="square" lIns="0" tIns="0" rIns="0" bIns="0" rtlCol="0" anchor="t"/>
          <a:lstStyle/>
          <a:p>
            <a:pPr indent="0" marL="0">
              <a:buNone/>
            </a:pPr>
            <a:r>
              <a:rPr lang="en-US" sz="1400" dirty="0">
                <a:solidFill>
                  <a:schemeClr val="accent6"/>
                </a:solidFill>
              </a:rPr>
              <a:t>Search, onboard, suspend, unlock</a:t>
            </a:r>
            <a:endParaRPr lang="en-US" sz="1400" dirty="0"/>
          </a:p>
        </p:txBody>
      </p:sp>
      <p:sp>
        <p:nvSpPr>
          <p:cNvPr id="31" name="Text 27"/>
          <p:cNvSpPr txBox="1"/>
          <p:nvPr/>
        </p:nvSpPr>
        <p:spPr>
          <a:xfrm>
            <a:off x="6492240" y="3666744"/>
            <a:ext cx="1874520" cy="365760"/>
          </a:xfrm>
          <a:prstGeom prst="rect">
            <a:avLst/>
          </a:prstGeom>
          <a:noFill/>
          <a:ln/>
        </p:spPr>
        <p:txBody>
          <a:bodyPr wrap="square" lIns="0" tIns="0" rIns="0" bIns="0" rtlCol="0" anchor="t"/>
          <a:lstStyle/>
          <a:p>
            <a:pPr indent="0" marL="0">
              <a:buNone/>
            </a:pPr>
            <a:r>
              <a:rPr lang="en-US" sz="1400" b="1" dirty="0">
                <a:solidFill>
                  <a:schemeClr val="tx1"/>
                </a:solidFill>
              </a:rPr>
              <a:t>Accounts</a:t>
            </a:r>
            <a:endParaRPr lang="en-US" sz="1400" dirty="0"/>
          </a:p>
        </p:txBody>
      </p:sp>
      <p:sp>
        <p:nvSpPr>
          <p:cNvPr id="32" name="Text 28"/>
          <p:cNvSpPr txBox="1"/>
          <p:nvPr/>
        </p:nvSpPr>
        <p:spPr>
          <a:xfrm>
            <a:off x="8366760" y="3666744"/>
            <a:ext cx="3108960" cy="365760"/>
          </a:xfrm>
          <a:prstGeom prst="rect">
            <a:avLst/>
          </a:prstGeom>
          <a:noFill/>
          <a:ln/>
        </p:spPr>
        <p:txBody>
          <a:bodyPr wrap="square" lIns="0" tIns="0" rIns="0" bIns="0" rtlCol="0" anchor="t"/>
          <a:lstStyle/>
          <a:p>
            <a:pPr indent="0" marL="0">
              <a:buNone/>
            </a:pPr>
            <a:r>
              <a:rPr lang="en-US" sz="1400" dirty="0">
                <a:solidFill>
                  <a:schemeClr val="accent6"/>
                </a:solidFill>
              </a:rPr>
              <a:t>Freeze or unfreeze; branch cash deposits</a:t>
            </a:r>
            <a:endParaRPr lang="en-US" sz="1400" dirty="0"/>
          </a:p>
        </p:txBody>
      </p:sp>
      <p:sp>
        <p:nvSpPr>
          <p:cNvPr id="33" name="Text 29"/>
          <p:cNvSpPr txBox="1"/>
          <p:nvPr/>
        </p:nvSpPr>
        <p:spPr>
          <a:xfrm>
            <a:off x="6492240" y="4151376"/>
            <a:ext cx="1874520" cy="365760"/>
          </a:xfrm>
          <a:prstGeom prst="rect">
            <a:avLst/>
          </a:prstGeom>
          <a:noFill/>
          <a:ln/>
        </p:spPr>
        <p:txBody>
          <a:bodyPr wrap="square" lIns="0" tIns="0" rIns="0" bIns="0" rtlCol="0" anchor="t"/>
          <a:lstStyle/>
          <a:p>
            <a:pPr indent="0" marL="0">
              <a:buNone/>
            </a:pPr>
            <a:r>
              <a:rPr lang="en-US" sz="1400" b="1" dirty="0">
                <a:solidFill>
                  <a:schemeClr val="tx1"/>
                </a:solidFill>
              </a:rPr>
              <a:t>Ledger</a:t>
            </a:r>
            <a:endParaRPr lang="en-US" sz="1400" dirty="0"/>
          </a:p>
        </p:txBody>
      </p:sp>
      <p:sp>
        <p:nvSpPr>
          <p:cNvPr id="34" name="Text 30"/>
          <p:cNvSpPr txBox="1"/>
          <p:nvPr/>
        </p:nvSpPr>
        <p:spPr>
          <a:xfrm>
            <a:off x="8366760" y="4151376"/>
            <a:ext cx="3108960" cy="365760"/>
          </a:xfrm>
          <a:prstGeom prst="rect">
            <a:avLst/>
          </a:prstGeom>
          <a:noFill/>
          <a:ln/>
        </p:spPr>
        <p:txBody>
          <a:bodyPr wrap="square" lIns="0" tIns="0" rIns="0" bIns="0" rtlCol="0" anchor="t"/>
          <a:lstStyle/>
          <a:p>
            <a:pPr indent="0" marL="0">
              <a:buNone/>
            </a:pPr>
            <a:r>
              <a:rPr lang="en-US" sz="1400" dirty="0">
                <a:solidFill>
                  <a:schemeClr val="accent6"/>
                </a:solidFill>
              </a:rPr>
              <a:t>Bank-wide transactions with filters</a:t>
            </a:r>
            <a:endParaRPr lang="en-US" sz="1400" dirty="0"/>
          </a:p>
        </p:txBody>
      </p:sp>
      <p:sp>
        <p:nvSpPr>
          <p:cNvPr id="35" name="Text 31"/>
          <p:cNvSpPr txBox="1"/>
          <p:nvPr/>
        </p:nvSpPr>
        <p:spPr>
          <a:xfrm>
            <a:off x="6492240" y="4636008"/>
            <a:ext cx="1874520" cy="365760"/>
          </a:xfrm>
          <a:prstGeom prst="rect">
            <a:avLst/>
          </a:prstGeom>
          <a:noFill/>
          <a:ln/>
        </p:spPr>
        <p:txBody>
          <a:bodyPr wrap="square" lIns="0" tIns="0" rIns="0" bIns="0" rtlCol="0" anchor="t"/>
          <a:lstStyle/>
          <a:p>
            <a:pPr indent="0" marL="0">
              <a:buNone/>
            </a:pPr>
            <a:r>
              <a:rPr lang="en-US" sz="1400" b="1" dirty="0">
                <a:solidFill>
                  <a:schemeClr val="tx1"/>
                </a:solidFill>
              </a:rPr>
              <a:t>Loan approvals</a:t>
            </a:r>
            <a:endParaRPr lang="en-US" sz="1400" dirty="0"/>
          </a:p>
        </p:txBody>
      </p:sp>
      <p:sp>
        <p:nvSpPr>
          <p:cNvPr id="36" name="Text 32"/>
          <p:cNvSpPr txBox="1"/>
          <p:nvPr/>
        </p:nvSpPr>
        <p:spPr>
          <a:xfrm>
            <a:off x="8366760" y="4636008"/>
            <a:ext cx="3108960" cy="365760"/>
          </a:xfrm>
          <a:prstGeom prst="rect">
            <a:avLst/>
          </a:prstGeom>
          <a:noFill/>
          <a:ln/>
        </p:spPr>
        <p:txBody>
          <a:bodyPr wrap="square" lIns="0" tIns="0" rIns="0" bIns="0" rtlCol="0" anchor="t"/>
          <a:lstStyle/>
          <a:p>
            <a:pPr indent="0" marL="0">
              <a:buNone/>
            </a:pPr>
            <a:r>
              <a:rPr lang="en-US" sz="1400" dirty="0">
                <a:solidFill>
                  <a:schemeClr val="accent6"/>
                </a:solidFill>
              </a:rPr>
              <a:t>Approve to disburse and charge fees</a:t>
            </a:r>
            <a:endParaRPr lang="en-US" sz="1400" dirty="0"/>
          </a:p>
        </p:txBody>
      </p:sp>
      <p:sp>
        <p:nvSpPr>
          <p:cNvPr id="37" name="Text 33"/>
          <p:cNvSpPr txBox="1"/>
          <p:nvPr/>
        </p:nvSpPr>
        <p:spPr>
          <a:xfrm>
            <a:off x="6492240" y="5120640"/>
            <a:ext cx="1874520" cy="365760"/>
          </a:xfrm>
          <a:prstGeom prst="rect">
            <a:avLst/>
          </a:prstGeom>
          <a:noFill/>
          <a:ln/>
        </p:spPr>
        <p:txBody>
          <a:bodyPr wrap="square" lIns="0" tIns="0" rIns="0" bIns="0" rtlCol="0" anchor="t"/>
          <a:lstStyle/>
          <a:p>
            <a:pPr indent="0" marL="0">
              <a:buNone/>
            </a:pPr>
            <a:r>
              <a:rPr lang="en-US" sz="1400" b="1" dirty="0">
                <a:solidFill>
                  <a:schemeClr val="tx1"/>
                </a:solidFill>
              </a:rPr>
              <a:t>Bank settings</a:t>
            </a:r>
            <a:endParaRPr lang="en-US" sz="1400" dirty="0"/>
          </a:p>
        </p:txBody>
      </p:sp>
      <p:sp>
        <p:nvSpPr>
          <p:cNvPr id="38" name="Text 34"/>
          <p:cNvSpPr txBox="1"/>
          <p:nvPr/>
        </p:nvSpPr>
        <p:spPr>
          <a:xfrm>
            <a:off x="8366760" y="5120640"/>
            <a:ext cx="3108960" cy="365760"/>
          </a:xfrm>
          <a:prstGeom prst="rect">
            <a:avLst/>
          </a:prstGeom>
          <a:noFill/>
          <a:ln/>
        </p:spPr>
        <p:txBody>
          <a:bodyPr wrap="square" lIns="0" tIns="0" rIns="0" bIns="0" rtlCol="0" anchor="t"/>
          <a:lstStyle/>
          <a:p>
            <a:pPr indent="0" marL="0">
              <a:buNone/>
            </a:pPr>
            <a:r>
              <a:rPr lang="en-US" sz="1400" dirty="0">
                <a:solidFill>
                  <a:schemeClr val="accent6"/>
                </a:solidFill>
              </a:rPr>
              <a:t>Transfer limits, rates, maintenance mode</a:t>
            </a:r>
            <a:endParaRPr lang="en-US" sz="1400" dirty="0"/>
          </a:p>
        </p:txBody>
      </p:sp>
      <p:sp>
        <p:nvSpPr>
          <p:cNvPr id="39" name="Text 35"/>
          <p:cNvSpPr txBox="1"/>
          <p:nvPr/>
        </p:nvSpPr>
        <p:spPr>
          <a:xfrm>
            <a:off x="6492240" y="5605272"/>
            <a:ext cx="1874520" cy="365760"/>
          </a:xfrm>
          <a:prstGeom prst="rect">
            <a:avLst/>
          </a:prstGeom>
          <a:noFill/>
          <a:ln/>
        </p:spPr>
        <p:txBody>
          <a:bodyPr wrap="square" lIns="0" tIns="0" rIns="0" bIns="0" rtlCol="0" anchor="t"/>
          <a:lstStyle/>
          <a:p>
            <a:pPr indent="0" marL="0">
              <a:buNone/>
            </a:pPr>
            <a:r>
              <a:rPr lang="en-US" sz="1400" b="1" dirty="0">
                <a:solidFill>
                  <a:schemeClr val="tx1"/>
                </a:solidFill>
              </a:rPr>
              <a:t>Interest run</a:t>
            </a:r>
            <a:endParaRPr lang="en-US" sz="1400" dirty="0"/>
          </a:p>
        </p:txBody>
      </p:sp>
      <p:sp>
        <p:nvSpPr>
          <p:cNvPr id="40" name="Text 36"/>
          <p:cNvSpPr txBox="1"/>
          <p:nvPr/>
        </p:nvSpPr>
        <p:spPr>
          <a:xfrm>
            <a:off x="8366760" y="5605272"/>
            <a:ext cx="3108960" cy="365760"/>
          </a:xfrm>
          <a:prstGeom prst="rect">
            <a:avLst/>
          </a:prstGeom>
          <a:noFill/>
          <a:ln/>
        </p:spPr>
        <p:txBody>
          <a:bodyPr wrap="square" lIns="0" tIns="0" rIns="0" bIns="0" rtlCol="0" anchor="t"/>
          <a:lstStyle/>
          <a:p>
            <a:pPr indent="0" marL="0">
              <a:buNone/>
            </a:pPr>
            <a:r>
              <a:rPr lang="en-US" sz="1400" dirty="0">
                <a:solidFill>
                  <a:schemeClr val="accent6"/>
                </a:solidFill>
              </a:rPr>
              <a:t>Monthly savings interest credit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TECHNOLOGY</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Technology stack</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Standard, well-supported tools at every layer.</a:t>
            </a:r>
            <a:endParaRPr lang="en-US" sz="1600" dirty="0"/>
          </a:p>
        </p:txBody>
      </p:sp>
      <p:sp>
        <p:nvSpPr>
          <p:cNvPr id="5" name="Text 3"/>
          <p:cNvSpPr txBox="1"/>
          <p:nvPr/>
        </p:nvSpPr>
        <p:spPr>
          <a:xfrm>
            <a:off x="548640" y="1783080"/>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Frontend</a:t>
            </a:r>
            <a:endParaRPr lang="en-US" sz="1400" dirty="0"/>
          </a:p>
        </p:txBody>
      </p:sp>
      <p:sp>
        <p:nvSpPr>
          <p:cNvPr id="6" name="Text 4"/>
          <p:cNvSpPr txBox="1"/>
          <p:nvPr/>
        </p:nvSpPr>
        <p:spPr>
          <a:xfrm>
            <a:off x="2560320" y="1847088"/>
            <a:ext cx="941832"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React 19</a:t>
            </a:r>
            <a:endParaRPr lang="en-US" sz="1300" dirty="0"/>
          </a:p>
        </p:txBody>
      </p:sp>
      <p:sp>
        <p:nvSpPr>
          <p:cNvPr id="7" name="Text 5"/>
          <p:cNvSpPr txBox="1"/>
          <p:nvPr/>
        </p:nvSpPr>
        <p:spPr>
          <a:xfrm>
            <a:off x="3611880" y="1847088"/>
            <a:ext cx="109728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TypeScript</a:t>
            </a:r>
            <a:endParaRPr lang="en-US" sz="1300" dirty="0"/>
          </a:p>
        </p:txBody>
      </p:sp>
      <p:sp>
        <p:nvSpPr>
          <p:cNvPr id="8" name="Text 6"/>
          <p:cNvSpPr txBox="1"/>
          <p:nvPr/>
        </p:nvSpPr>
        <p:spPr>
          <a:xfrm>
            <a:off x="4818888" y="1847088"/>
            <a:ext cx="630936"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Vite</a:t>
            </a:r>
            <a:endParaRPr lang="en-US" sz="1300" dirty="0"/>
          </a:p>
        </p:txBody>
      </p:sp>
      <p:sp>
        <p:nvSpPr>
          <p:cNvPr id="9" name="Text 7"/>
          <p:cNvSpPr txBox="1"/>
          <p:nvPr/>
        </p:nvSpPr>
        <p:spPr>
          <a:xfrm>
            <a:off x="5559552" y="1847088"/>
            <a:ext cx="1408176"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Tailwind CSS 4</a:t>
            </a:r>
            <a:endParaRPr lang="en-US" sz="1300" dirty="0"/>
          </a:p>
        </p:txBody>
      </p:sp>
      <p:sp>
        <p:nvSpPr>
          <p:cNvPr id="10" name="Text 8"/>
          <p:cNvSpPr txBox="1"/>
          <p:nvPr/>
        </p:nvSpPr>
        <p:spPr>
          <a:xfrm>
            <a:off x="7077456" y="1847088"/>
            <a:ext cx="941832"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Recharts</a:t>
            </a:r>
            <a:endParaRPr lang="en-US" sz="1300" dirty="0"/>
          </a:p>
        </p:txBody>
      </p:sp>
      <p:sp>
        <p:nvSpPr>
          <p:cNvPr id="11" name="Text 9"/>
          <p:cNvSpPr txBox="1"/>
          <p:nvPr/>
        </p:nvSpPr>
        <p:spPr>
          <a:xfrm>
            <a:off x="548640" y="2404872"/>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Web layer</a:t>
            </a:r>
            <a:endParaRPr lang="en-US" sz="1400" dirty="0"/>
          </a:p>
        </p:txBody>
      </p:sp>
      <p:sp>
        <p:nvSpPr>
          <p:cNvPr id="12" name="Text 10"/>
          <p:cNvSpPr txBox="1"/>
          <p:nvPr/>
        </p:nvSpPr>
        <p:spPr>
          <a:xfrm>
            <a:off x="2560320" y="2468880"/>
            <a:ext cx="1563624"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Jakarta Servlets</a:t>
            </a:r>
            <a:endParaRPr lang="en-US" sz="1300" dirty="0"/>
          </a:p>
        </p:txBody>
      </p:sp>
      <p:sp>
        <p:nvSpPr>
          <p:cNvPr id="13" name="Text 11"/>
          <p:cNvSpPr txBox="1"/>
          <p:nvPr/>
        </p:nvSpPr>
        <p:spPr>
          <a:xfrm>
            <a:off x="4233672" y="2468880"/>
            <a:ext cx="1641348"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Spring MVC (REST)</a:t>
            </a:r>
            <a:endParaRPr lang="en-US" sz="1300" dirty="0"/>
          </a:p>
        </p:txBody>
      </p:sp>
      <p:sp>
        <p:nvSpPr>
          <p:cNvPr id="14" name="Text 12"/>
          <p:cNvSpPr txBox="1"/>
          <p:nvPr/>
        </p:nvSpPr>
        <p:spPr>
          <a:xfrm>
            <a:off x="5984748" y="2468880"/>
            <a:ext cx="148590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Embedded Tomcat</a:t>
            </a:r>
            <a:endParaRPr lang="en-US" sz="1300" dirty="0"/>
          </a:p>
        </p:txBody>
      </p:sp>
      <p:sp>
        <p:nvSpPr>
          <p:cNvPr id="15" name="Text 13"/>
          <p:cNvSpPr txBox="1"/>
          <p:nvPr/>
        </p:nvSpPr>
        <p:spPr>
          <a:xfrm>
            <a:off x="548640" y="3026664"/>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Security</a:t>
            </a:r>
            <a:endParaRPr lang="en-US" sz="1400" dirty="0"/>
          </a:p>
        </p:txBody>
      </p:sp>
      <p:sp>
        <p:nvSpPr>
          <p:cNvPr id="16" name="Text 14"/>
          <p:cNvSpPr txBox="1"/>
          <p:nvPr/>
        </p:nvSpPr>
        <p:spPr>
          <a:xfrm>
            <a:off x="2560320" y="3090672"/>
            <a:ext cx="148590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Spring Security</a:t>
            </a:r>
            <a:endParaRPr lang="en-US" sz="1300" dirty="0"/>
          </a:p>
        </p:txBody>
      </p:sp>
      <p:sp>
        <p:nvSpPr>
          <p:cNvPr id="17" name="Text 15"/>
          <p:cNvSpPr txBox="1"/>
          <p:nvPr/>
        </p:nvSpPr>
        <p:spPr>
          <a:xfrm>
            <a:off x="4155948" y="3090672"/>
            <a:ext cx="148590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JWT (jjwt 0.12)</a:t>
            </a:r>
            <a:endParaRPr lang="en-US" sz="1300" dirty="0"/>
          </a:p>
        </p:txBody>
      </p:sp>
      <p:sp>
        <p:nvSpPr>
          <p:cNvPr id="18" name="Text 16"/>
          <p:cNvSpPr txBox="1"/>
          <p:nvPr/>
        </p:nvSpPr>
        <p:spPr>
          <a:xfrm>
            <a:off x="5751576" y="3090672"/>
            <a:ext cx="786384"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BCrypt</a:t>
            </a:r>
            <a:endParaRPr lang="en-US" sz="1300" dirty="0"/>
          </a:p>
        </p:txBody>
      </p:sp>
      <p:sp>
        <p:nvSpPr>
          <p:cNvPr id="19" name="Text 17"/>
          <p:cNvSpPr txBox="1"/>
          <p:nvPr/>
        </p:nvSpPr>
        <p:spPr>
          <a:xfrm>
            <a:off x="6647688" y="3090672"/>
            <a:ext cx="1175004"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HttpSession</a:t>
            </a:r>
            <a:endParaRPr lang="en-US" sz="1300" dirty="0"/>
          </a:p>
        </p:txBody>
      </p:sp>
      <p:sp>
        <p:nvSpPr>
          <p:cNvPr id="20" name="Text 18"/>
          <p:cNvSpPr txBox="1"/>
          <p:nvPr/>
        </p:nvSpPr>
        <p:spPr>
          <a:xfrm>
            <a:off x="548640" y="3648456"/>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Data access</a:t>
            </a:r>
            <a:endParaRPr lang="en-US" sz="1400" dirty="0"/>
          </a:p>
        </p:txBody>
      </p:sp>
      <p:sp>
        <p:nvSpPr>
          <p:cNvPr id="21" name="Text 19"/>
          <p:cNvSpPr txBox="1"/>
          <p:nvPr/>
        </p:nvSpPr>
        <p:spPr>
          <a:xfrm>
            <a:off x="2560320" y="3712464"/>
            <a:ext cx="630936"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JDBC</a:t>
            </a:r>
            <a:endParaRPr lang="en-US" sz="1300" dirty="0"/>
          </a:p>
        </p:txBody>
      </p:sp>
      <p:sp>
        <p:nvSpPr>
          <p:cNvPr id="22" name="Text 20"/>
          <p:cNvSpPr txBox="1"/>
          <p:nvPr/>
        </p:nvSpPr>
        <p:spPr>
          <a:xfrm>
            <a:off x="3300984" y="3712464"/>
            <a:ext cx="148590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Spring Data JPA</a:t>
            </a:r>
            <a:endParaRPr lang="en-US" sz="1300" dirty="0"/>
          </a:p>
        </p:txBody>
      </p:sp>
      <p:sp>
        <p:nvSpPr>
          <p:cNvPr id="23" name="Text 21"/>
          <p:cNvSpPr txBox="1"/>
          <p:nvPr/>
        </p:nvSpPr>
        <p:spPr>
          <a:xfrm>
            <a:off x="4896612" y="3712464"/>
            <a:ext cx="1019556"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Hibernate</a:t>
            </a:r>
            <a:endParaRPr lang="en-US" sz="1300" dirty="0"/>
          </a:p>
        </p:txBody>
      </p:sp>
      <p:sp>
        <p:nvSpPr>
          <p:cNvPr id="24" name="Text 22"/>
          <p:cNvSpPr txBox="1"/>
          <p:nvPr/>
        </p:nvSpPr>
        <p:spPr>
          <a:xfrm>
            <a:off x="6025896" y="3712464"/>
            <a:ext cx="1330452"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HikariCP pool</a:t>
            </a:r>
            <a:endParaRPr lang="en-US" sz="1300" dirty="0"/>
          </a:p>
        </p:txBody>
      </p:sp>
      <p:sp>
        <p:nvSpPr>
          <p:cNvPr id="25" name="Text 23"/>
          <p:cNvSpPr txBox="1"/>
          <p:nvPr/>
        </p:nvSpPr>
        <p:spPr>
          <a:xfrm>
            <a:off x="548640" y="4270248"/>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Database</a:t>
            </a:r>
            <a:endParaRPr lang="en-US" sz="1400" dirty="0"/>
          </a:p>
        </p:txBody>
      </p:sp>
      <p:sp>
        <p:nvSpPr>
          <p:cNvPr id="26" name="Text 24"/>
          <p:cNvSpPr txBox="1"/>
          <p:nvPr/>
        </p:nvSpPr>
        <p:spPr>
          <a:xfrm>
            <a:off x="2560320" y="4334256"/>
            <a:ext cx="864108"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MySQL 8</a:t>
            </a:r>
            <a:endParaRPr lang="en-US" sz="1300" dirty="0"/>
          </a:p>
        </p:txBody>
      </p:sp>
      <p:sp>
        <p:nvSpPr>
          <p:cNvPr id="27" name="Text 25"/>
          <p:cNvSpPr txBox="1"/>
          <p:nvPr/>
        </p:nvSpPr>
        <p:spPr>
          <a:xfrm>
            <a:off x="3534156" y="4334256"/>
            <a:ext cx="187452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H2 (in-memory, demo)</a:t>
            </a:r>
            <a:endParaRPr lang="en-US" sz="1300" dirty="0"/>
          </a:p>
        </p:txBody>
      </p:sp>
      <p:sp>
        <p:nvSpPr>
          <p:cNvPr id="28" name="Text 26"/>
          <p:cNvSpPr txBox="1"/>
          <p:nvPr/>
        </p:nvSpPr>
        <p:spPr>
          <a:xfrm>
            <a:off x="548640" y="4892040"/>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Core Java</a:t>
            </a:r>
            <a:endParaRPr lang="en-US" sz="1400" dirty="0"/>
          </a:p>
        </p:txBody>
      </p:sp>
      <p:sp>
        <p:nvSpPr>
          <p:cNvPr id="29" name="Text 27"/>
          <p:cNvSpPr txBox="1"/>
          <p:nvPr/>
        </p:nvSpPr>
        <p:spPr>
          <a:xfrm>
            <a:off x="2560320" y="4956048"/>
            <a:ext cx="864108"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Java 17</a:t>
            </a:r>
            <a:endParaRPr lang="en-US" sz="1300" dirty="0"/>
          </a:p>
        </p:txBody>
      </p:sp>
      <p:sp>
        <p:nvSpPr>
          <p:cNvPr id="30" name="Text 28"/>
          <p:cNvSpPr txBox="1"/>
          <p:nvPr/>
        </p:nvSpPr>
        <p:spPr>
          <a:xfrm>
            <a:off x="3534156" y="4956048"/>
            <a:ext cx="864108"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Records</a:t>
            </a:r>
            <a:endParaRPr lang="en-US" sz="1300" dirty="0"/>
          </a:p>
        </p:txBody>
      </p:sp>
      <p:sp>
        <p:nvSpPr>
          <p:cNvPr id="31" name="Text 29"/>
          <p:cNvSpPr txBox="1"/>
          <p:nvPr/>
        </p:nvSpPr>
        <p:spPr>
          <a:xfrm>
            <a:off x="4507992" y="4956048"/>
            <a:ext cx="187452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java.util.concurrent</a:t>
            </a:r>
            <a:endParaRPr lang="en-US" sz="1300" dirty="0"/>
          </a:p>
        </p:txBody>
      </p:sp>
      <p:sp>
        <p:nvSpPr>
          <p:cNvPr id="32" name="Text 30"/>
          <p:cNvSpPr txBox="1"/>
          <p:nvPr/>
        </p:nvSpPr>
        <p:spPr>
          <a:xfrm>
            <a:off x="6492240" y="4956048"/>
            <a:ext cx="1175004"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Collections</a:t>
            </a:r>
            <a:endParaRPr lang="en-US" sz="1300" dirty="0"/>
          </a:p>
        </p:txBody>
      </p:sp>
      <p:sp>
        <p:nvSpPr>
          <p:cNvPr id="33" name="Text 31"/>
          <p:cNvSpPr txBox="1"/>
          <p:nvPr/>
        </p:nvSpPr>
        <p:spPr>
          <a:xfrm>
            <a:off x="548640" y="5513832"/>
            <a:ext cx="1828800" cy="457200"/>
          </a:xfrm>
          <a:prstGeom prst="roundRect">
            <a:avLst>
              <a:gd name="adj" fmla="val 16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Build &amp; test</a:t>
            </a:r>
            <a:endParaRPr lang="en-US" sz="1400" dirty="0"/>
          </a:p>
        </p:txBody>
      </p:sp>
      <p:sp>
        <p:nvSpPr>
          <p:cNvPr id="34" name="Text 32"/>
          <p:cNvSpPr txBox="1"/>
          <p:nvPr/>
        </p:nvSpPr>
        <p:spPr>
          <a:xfrm>
            <a:off x="2560320" y="5577840"/>
            <a:ext cx="708660"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Maven</a:t>
            </a:r>
            <a:endParaRPr lang="en-US" sz="1300" dirty="0"/>
          </a:p>
        </p:txBody>
      </p:sp>
      <p:sp>
        <p:nvSpPr>
          <p:cNvPr id="35" name="Text 33"/>
          <p:cNvSpPr txBox="1"/>
          <p:nvPr/>
        </p:nvSpPr>
        <p:spPr>
          <a:xfrm>
            <a:off x="3378708" y="5577840"/>
            <a:ext cx="864108"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JUnit 5</a:t>
            </a:r>
            <a:endParaRPr lang="en-US" sz="1300" dirty="0"/>
          </a:p>
        </p:txBody>
      </p:sp>
      <p:sp>
        <p:nvSpPr>
          <p:cNvPr id="36" name="Text 34"/>
          <p:cNvSpPr txBox="1"/>
          <p:nvPr/>
        </p:nvSpPr>
        <p:spPr>
          <a:xfrm>
            <a:off x="4352544" y="5577840"/>
            <a:ext cx="864108"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AssertJ</a:t>
            </a:r>
            <a:endParaRPr lang="en-US" sz="1300" dirty="0"/>
          </a:p>
        </p:txBody>
      </p:sp>
      <p:sp>
        <p:nvSpPr>
          <p:cNvPr id="37" name="Text 35"/>
          <p:cNvSpPr txBox="1"/>
          <p:nvPr/>
        </p:nvSpPr>
        <p:spPr>
          <a:xfrm>
            <a:off x="5326380" y="5577840"/>
            <a:ext cx="1563624" cy="329184"/>
          </a:xfrm>
          <a:prstGeom prst="roundRect">
            <a:avLst>
              <a:gd name="adj" fmla="val 22222"/>
            </a:avLst>
          </a:prstGeom>
          <a:solidFill>
            <a:schemeClr val="bg2"/>
          </a:solidFill>
          <a:ln/>
        </p:spPr>
        <p:txBody>
          <a:bodyPr wrap="square" lIns="25400" tIns="25400" rIns="25400" bIns="25400" rtlCol="0" anchor="ctr"/>
          <a:lstStyle/>
          <a:p>
            <a:pPr algn="ctr" indent="0" marL="0">
              <a:buNone/>
            </a:pPr>
            <a:r>
              <a:rPr lang="en-US" sz="1300" dirty="0">
                <a:solidFill>
                  <a:schemeClr val="tx1"/>
                </a:solidFill>
              </a:rPr>
              <a:t>Spring Boot Test</a:t>
            </a:r>
            <a:endParaRPr lang="en-US" sz="1300" dirty="0"/>
          </a:p>
        </p:txBody>
      </p:sp>
      <p:sp>
        <p:nvSpPr>
          <p:cNvPr id="38" name="card"/>
          <p:cNvSpPr/>
          <p:nvPr/>
        </p:nvSpPr>
        <p:spPr>
          <a:xfrm>
            <a:off x="8412480" y="1783080"/>
            <a:ext cx="3200400" cy="4343400"/>
          </a:xfrm>
          <a:prstGeom prst="roundRect">
            <a:avLst>
              <a:gd name="adj" fmla="val 2286"/>
            </a:avLst>
          </a:prstGeom>
          <a:solidFill>
            <a:srgbClr val="EFF6FF"/>
          </a:solidFill>
          <a:ln/>
        </p:spPr>
      </p:sp>
      <p:sp>
        <p:nvSpPr>
          <p:cNvPr id="39" name="Text 37"/>
          <p:cNvSpPr txBox="1"/>
          <p:nvPr/>
        </p:nvSpPr>
        <p:spPr>
          <a:xfrm>
            <a:off x="8641080" y="1965960"/>
            <a:ext cx="2743200" cy="365760"/>
          </a:xfrm>
          <a:prstGeom prst="rect">
            <a:avLst/>
          </a:prstGeom>
          <a:noFill/>
          <a:ln/>
        </p:spPr>
        <p:txBody>
          <a:bodyPr wrap="square" lIns="0" tIns="0" rIns="0" bIns="0" rtlCol="0" anchor="t"/>
          <a:lstStyle/>
          <a:p>
            <a:pPr indent="0" marL="0">
              <a:buNone/>
            </a:pPr>
            <a:r>
              <a:rPr lang="en-US" sz="1800" b="1" dirty="0">
                <a:solidFill>
                  <a:schemeClr val="tx2"/>
                </a:solidFill>
              </a:rPr>
              <a:t>Why these choices</a:t>
            </a:r>
            <a:endParaRPr lang="en-US" sz="1800" dirty="0"/>
          </a:p>
        </p:txBody>
      </p:sp>
      <p:sp>
        <p:nvSpPr>
          <p:cNvPr id="40" name="Text 38"/>
          <p:cNvSpPr txBox="1"/>
          <p:nvPr/>
        </p:nvSpPr>
        <p:spPr>
          <a:xfrm>
            <a:off x="8641080" y="2423160"/>
            <a:ext cx="2743200" cy="3566160"/>
          </a:xfrm>
          <a:prstGeom prst="rect">
            <a:avLst/>
          </a:prstGeom>
          <a:noFill/>
          <a:ln/>
        </p:spPr>
        <p:txBody>
          <a:bodyPr wrap="square" lIns="0" tIns="0" rIns="0" bIns="0" rtlCol="0" anchor="t"/>
          <a:lstStyle/>
          <a:p>
            <a:pPr indent="0" marL="0">
              <a:buNone/>
            </a:pPr>
            <a:r>
              <a:rPr lang="en-US" sz="1400" b="1" dirty="0">
                <a:solidFill>
                  <a:schemeClr val="tx1"/>
                </a:solidFill>
              </a:rPr>
              <a:t>Servlets + JDBC</a:t>
            </a:r>
            <a:endParaRPr lang="en-US" sz="1400" dirty="0"/>
          </a:p>
          <a:p>
            <a:pPr indent="0" marL="0">
              <a:spcAft>
                <a:spcPts val="1000"/>
              </a:spcAft>
              <a:buNone/>
            </a:pPr>
            <a:r>
              <a:rPr lang="en-US" sz="1400" dirty="0">
                <a:solidFill>
                  <a:schemeClr val="tx1"/>
                </a:solidFill>
              </a:rPr>
              <a:t>Show the Java fundamentals the rubric asks for, with no framework magic.</a:t>
            </a:r>
            <a:endParaRPr lang="en-US" sz="1400" dirty="0"/>
          </a:p>
          <a:p>
            <a:pPr indent="0" marL="0">
              <a:buNone/>
            </a:pPr>
            <a:r>
              <a:rPr lang="en-US" sz="1400" b="1" dirty="0">
                <a:solidFill>
                  <a:schemeClr val="tx1"/>
                </a:solidFill>
              </a:rPr>
              <a:t>Spring Boot</a:t>
            </a:r>
            <a:endParaRPr lang="en-US" sz="1400" dirty="0"/>
          </a:p>
          <a:p>
            <a:pPr indent="0" marL="0">
              <a:spcAft>
                <a:spcPts val="1000"/>
              </a:spcAft>
              <a:buNone/>
            </a:pPr>
            <a:r>
              <a:rPr lang="en-US" sz="1400" dirty="0">
                <a:solidFill>
                  <a:schemeClr val="tx1"/>
                </a:solidFill>
              </a:rPr>
              <a:t>Embedded Tomcat and one-command startup for the demo.</a:t>
            </a:r>
            <a:endParaRPr lang="en-US" sz="1400" dirty="0"/>
          </a:p>
          <a:p>
            <a:pPr indent="0" marL="0">
              <a:buNone/>
            </a:pPr>
            <a:r>
              <a:rPr lang="en-US" sz="1400" b="1" dirty="0">
                <a:solidFill>
                  <a:schemeClr val="tx1"/>
                </a:solidFill>
              </a:rPr>
              <a:t>React</a:t>
            </a:r>
            <a:endParaRPr lang="en-US" sz="1400" dirty="0"/>
          </a:p>
          <a:p>
            <a:pPr indent="0" marL="0">
              <a:buNone/>
            </a:pPr>
            <a:r>
              <a:rPr lang="en-US" sz="1400" dirty="0">
                <a:solidFill>
                  <a:schemeClr val="tx1"/>
                </a:solidFill>
              </a:rPr>
              <a:t>A modern interface on top of the same Java API.</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algn="l" indent="0" marL="0">
              <a:buNone/>
            </a:pPr>
            <a:r>
              <a:rPr lang="en-US" sz="7200" b="1" dirty="0">
                <a:solidFill>
                  <a:schemeClr val="accent2"/>
                </a:solidFill>
              </a:rPr>
              <a:t>02</a:t>
            </a:r>
            <a:endParaRPr lang="en-US" sz="7200" dirty="0"/>
          </a:p>
        </p:txBody>
      </p:sp>
      <p:sp>
        <p:nvSpPr>
          <p:cNvPr id="3" name="Text 0"/>
          <p:cNvSpPr/>
          <p:nvPr>
            <p:ph idx="101" type="title" hasCustomPrompt="1"/>
          </p:nvPr>
        </p:nvSpPr>
        <p:spPr>
          <a:xfrm>
            <a:off x="731520" y="2834640"/>
            <a:ext cx="5669280" cy="822960"/>
          </a:xfrm>
          <a:prstGeom prst="rect">
            <a:avLst/>
          </a:prstGeom>
          <a:noFill/>
          <a:ln/>
        </p:spPr>
        <p:txBody>
          <a:bodyPr wrap="square" lIns="0" tIns="0" rIns="0" bIns="0" rtlCol="0" anchor="t"/>
          <a:lstStyle/>
          <a:p>
            <a:pPr algn="l" indent="0" marL="0">
              <a:buNone/>
            </a:pPr>
            <a:r>
              <a:rPr lang="en-US" sz="4000" b="1" dirty="0">
                <a:solidFill>
                  <a:schemeClr val="bg1"/>
                </a:solidFill>
              </a:rPr>
              <a:t>System design</a:t>
            </a:r>
            <a:endParaRPr lang="en-US" sz="4000" dirty="0"/>
          </a:p>
        </p:txBody>
      </p:sp>
      <p:sp>
        <p:nvSpPr>
          <p:cNvPr id="4" name="Text 0"/>
          <p:cNvSpPr/>
          <p:nvPr>
            <p:ph idx="102" type="body" hasCustomPrompt="1"/>
          </p:nvPr>
        </p:nvSpPr>
        <p:spPr>
          <a:xfrm>
            <a:off x="731520" y="3703320"/>
            <a:ext cx="5486400" cy="914400"/>
          </a:xfrm>
          <a:prstGeom prst="rect">
            <a:avLst/>
          </a:prstGeom>
          <a:noFill/>
          <a:ln/>
        </p:spPr>
        <p:txBody>
          <a:bodyPr wrap="square" lIns="0" tIns="0" rIns="0" bIns="0" rtlCol="0" anchor="t"/>
          <a:lstStyle/>
          <a:p>
            <a:pPr algn="l" indent="0" marL="0">
              <a:buNone/>
            </a:pPr>
            <a:r>
              <a:rPr lang="en-US" sz="1800" dirty="0">
                <a:solidFill>
                  <a:srgbClr val="CBD5E1"/>
                </a:solidFill>
              </a:rPr>
              <a:t>How the pieces fit together and how a request flows through them.</a:t>
            </a:r>
            <a:endParaRPr lang="en-US" sz="1800" dirty="0"/>
          </a:p>
        </p:txBody>
      </p:sp>
      <p:sp>
        <p:nvSpPr>
          <p:cNvPr id="5" name="card"/>
          <p:cNvSpPr/>
          <p:nvPr/>
        </p:nvSpPr>
        <p:spPr>
          <a:xfrm>
            <a:off x="7315200" y="1463040"/>
            <a:ext cx="4297680" cy="3383280"/>
          </a:xfrm>
          <a:prstGeom prst="roundRect">
            <a:avLst>
              <a:gd name="adj" fmla="val 2162"/>
            </a:avLst>
          </a:prstGeom>
          <a:solidFill>
            <a:srgbClr val="16304F"/>
          </a:solidFill>
          <a:ln/>
        </p:spPr>
      </p:sp>
      <p:sp>
        <p:nvSpPr>
          <p:cNvPr id="6" name="Text 4"/>
          <p:cNvSpPr txBox="1"/>
          <p:nvPr/>
        </p:nvSpPr>
        <p:spPr>
          <a:xfrm>
            <a:off x="7635240" y="169164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 THIS SECTION</a:t>
            </a:r>
            <a:endParaRPr lang="en-US" sz="1200" dirty="0"/>
          </a:p>
        </p:txBody>
      </p:sp>
      <p:sp>
        <p:nvSpPr>
          <p:cNvPr id="7" name="Text 5"/>
          <p:cNvSpPr txBox="1"/>
          <p:nvPr/>
        </p:nvSpPr>
        <p:spPr>
          <a:xfrm>
            <a:off x="7635240" y="2103120"/>
            <a:ext cx="3749040" cy="365760"/>
          </a:xfrm>
          <a:prstGeom prst="rect">
            <a:avLst/>
          </a:prstGeom>
          <a:noFill/>
          <a:ln/>
        </p:spPr>
        <p:txBody>
          <a:bodyPr wrap="square" lIns="0" tIns="0" rIns="0" bIns="0" rtlCol="0" anchor="t"/>
          <a:lstStyle/>
          <a:p>
            <a:pPr indent="0" marL="0">
              <a:buNone/>
            </a:pPr>
            <a:r>
              <a:rPr lang="en-US" sz="1700" dirty="0">
                <a:solidFill>
                  <a:schemeClr val="bg1"/>
                </a:solidFill>
              </a:rPr>
              <a:t>Layered architecture</a:t>
            </a:r>
            <a:endParaRPr lang="en-US" sz="1700" dirty="0"/>
          </a:p>
        </p:txBody>
      </p:sp>
      <p:sp>
        <p:nvSpPr>
          <p:cNvPr id="8" name="Text 6"/>
          <p:cNvSpPr txBox="1"/>
          <p:nvPr/>
        </p:nvSpPr>
        <p:spPr>
          <a:xfrm>
            <a:off x="7635240" y="2670048"/>
            <a:ext cx="3749040" cy="365760"/>
          </a:xfrm>
          <a:prstGeom prst="rect">
            <a:avLst/>
          </a:prstGeom>
          <a:noFill/>
          <a:ln/>
        </p:spPr>
        <p:txBody>
          <a:bodyPr wrap="square" lIns="0" tIns="0" rIns="0" bIns="0" rtlCol="0" anchor="t"/>
          <a:lstStyle/>
          <a:p>
            <a:pPr indent="0" marL="0">
              <a:buNone/>
            </a:pPr>
            <a:r>
              <a:rPr lang="en-US" sz="1700" dirty="0">
                <a:solidFill>
                  <a:schemeClr val="bg1"/>
                </a:solidFill>
              </a:rPr>
              <a:t>Database design</a:t>
            </a:r>
            <a:endParaRPr lang="en-US" sz="1700" dirty="0"/>
          </a:p>
        </p:txBody>
      </p:sp>
      <p:sp>
        <p:nvSpPr>
          <p:cNvPr id="9" name="Text 7"/>
          <p:cNvSpPr txBox="1"/>
          <p:nvPr/>
        </p:nvSpPr>
        <p:spPr>
          <a:xfrm>
            <a:off x="7635240" y="3236976"/>
            <a:ext cx="3749040" cy="365760"/>
          </a:xfrm>
          <a:prstGeom prst="rect">
            <a:avLst/>
          </a:prstGeom>
          <a:noFill/>
          <a:ln/>
        </p:spPr>
        <p:txBody>
          <a:bodyPr wrap="square" lIns="0" tIns="0" rIns="0" bIns="0" rtlCol="0" anchor="t"/>
          <a:lstStyle/>
          <a:p>
            <a:pPr indent="0" marL="0">
              <a:buNone/>
            </a:pPr>
            <a:r>
              <a:rPr lang="en-US" sz="1700" dirty="0">
                <a:solidFill>
                  <a:schemeClr val="bg1"/>
                </a:solidFill>
              </a:rPr>
              <a:t>Fund-transfer pipeline</a:t>
            </a:r>
            <a:endParaRPr lang="en-US" sz="1700" dirty="0"/>
          </a:p>
        </p:txBody>
      </p:sp>
      <p:sp>
        <p:nvSpPr>
          <p:cNvPr id="10" name="Text 8"/>
          <p:cNvSpPr txBox="1"/>
          <p:nvPr/>
        </p:nvSpPr>
        <p:spPr>
          <a:xfrm>
            <a:off x="7635240" y="3803904"/>
            <a:ext cx="3749040" cy="365760"/>
          </a:xfrm>
          <a:prstGeom prst="rect">
            <a:avLst/>
          </a:prstGeom>
          <a:noFill/>
          <a:ln/>
        </p:spPr>
        <p:txBody>
          <a:bodyPr wrap="square" lIns="0" tIns="0" rIns="0" bIns="0" rtlCol="0" anchor="t"/>
          <a:lstStyle/>
          <a:p>
            <a:pPr indent="0" marL="0">
              <a:buNone/>
            </a:pPr>
            <a:r>
              <a:rPr lang="en-US" sz="1700" dirty="0">
                <a:solidFill>
                  <a:schemeClr val="bg1"/>
                </a:solidFill>
              </a:rPr>
              <a:t>Servlet request pipeline</a:t>
            </a:r>
            <a:endParaRPr lang="en-US" sz="1700" dirty="0"/>
          </a:p>
        </p:txBody>
      </p:sp>
      <p:sp>
        <p:nvSpPr>
          <p:cNvPr id="11" name="Text 9"/>
          <p:cNvSpPr txBox="1"/>
          <p:nvPr/>
        </p:nvSpPr>
        <p:spPr>
          <a:xfrm>
            <a:off x="7635240" y="4370832"/>
            <a:ext cx="3749040" cy="365760"/>
          </a:xfrm>
          <a:prstGeom prst="rect">
            <a:avLst/>
          </a:prstGeom>
          <a:noFill/>
          <a:ln/>
        </p:spPr>
        <p:txBody>
          <a:bodyPr wrap="square" lIns="0" tIns="0" rIns="0" bIns="0" rtlCol="0" anchor="t"/>
          <a:lstStyle/>
          <a:p>
            <a:pPr indent="0" marL="0">
              <a:buNone/>
            </a:pPr>
            <a:r>
              <a:rPr lang="en-US" sz="1700" dirty="0">
                <a:solidFill>
                  <a:schemeClr val="bg1"/>
                </a:solidFill>
              </a:rPr>
              <a:t>Build &amp; test pipeline</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SOLUTION DESIGN</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Layered architecture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Two entry points share one database; the outlined path is the plain Servlet + JDBC stack.</a:t>
            </a:r>
            <a:endParaRPr lang="en-US" sz="1600" dirty="0"/>
          </a:p>
        </p:txBody>
      </p:sp>
      <p:sp>
        <p:nvSpPr>
          <p:cNvPr id="5" name="Text 3"/>
          <p:cNvSpPr txBox="1"/>
          <p:nvPr/>
        </p:nvSpPr>
        <p:spPr>
          <a:xfrm>
            <a:off x="548640" y="1783080"/>
            <a:ext cx="29260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CLIENT</a:t>
            </a:r>
            <a:endParaRPr lang="en-US" sz="1200" dirty="0"/>
          </a:p>
        </p:txBody>
      </p:sp>
      <p:sp>
        <p:nvSpPr>
          <p:cNvPr id="6" name="Text 4"/>
          <p:cNvSpPr txBox="1"/>
          <p:nvPr/>
        </p:nvSpPr>
        <p:spPr>
          <a:xfrm>
            <a:off x="3246120" y="1783080"/>
            <a:ext cx="29260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PRESENTATION</a:t>
            </a:r>
            <a:endParaRPr lang="en-US" sz="1200" dirty="0"/>
          </a:p>
        </p:txBody>
      </p:sp>
      <p:sp>
        <p:nvSpPr>
          <p:cNvPr id="7" name="Text 5"/>
          <p:cNvSpPr txBox="1"/>
          <p:nvPr/>
        </p:nvSpPr>
        <p:spPr>
          <a:xfrm>
            <a:off x="6537960" y="1783080"/>
            <a:ext cx="29260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BUSINESS &amp; DATA ACCESS</a:t>
            </a:r>
            <a:endParaRPr lang="en-US" sz="1200" dirty="0"/>
          </a:p>
        </p:txBody>
      </p:sp>
      <p:sp>
        <p:nvSpPr>
          <p:cNvPr id="8" name="Text 6"/>
          <p:cNvSpPr txBox="1"/>
          <p:nvPr/>
        </p:nvSpPr>
        <p:spPr>
          <a:xfrm>
            <a:off x="9829800" y="1783080"/>
            <a:ext cx="2926080" cy="274320"/>
          </a:xfrm>
          <a:prstGeom prst="rect">
            <a:avLst/>
          </a:prstGeom>
          <a:noFill/>
          <a:ln/>
        </p:spPr>
        <p:txBody>
          <a:bodyPr wrap="square" lIns="0" tIns="0" rIns="0" bIns="0" rtlCol="0" anchor="t"/>
          <a:lstStyle/>
          <a:p>
            <a:pPr indent="0" marL="0">
              <a:buNone/>
            </a:pPr>
            <a:r>
              <a:rPr lang="en-US" sz="1200" b="1" spc="100" kern="0" dirty="0">
                <a:solidFill>
                  <a:schemeClr val="accent6"/>
                </a:solidFill>
              </a:rPr>
              <a:t>DATABASE</a:t>
            </a:r>
            <a:endParaRPr lang="en-US" sz="1200" dirty="0"/>
          </a:p>
        </p:txBody>
      </p:sp>
      <p:sp>
        <p:nvSpPr>
          <p:cNvPr id="9" name="Text 7"/>
          <p:cNvSpPr txBox="1"/>
          <p:nvPr/>
        </p:nvSpPr>
        <p:spPr>
          <a:xfrm>
            <a:off x="548640" y="3246120"/>
            <a:ext cx="2194560" cy="1280160"/>
          </a:xfrm>
          <a:prstGeom prst="roundRect">
            <a:avLst>
              <a:gd name="adj" fmla="val 5714"/>
            </a:avLst>
          </a:prstGeom>
          <a:solidFill>
            <a:schemeClr val="tx2"/>
          </a:solidFill>
          <a:ln/>
        </p:spPr>
        <p:txBody>
          <a:bodyPr wrap="square" lIns="76200" tIns="76200" rIns="76200" bIns="76200" rtlCol="0" anchor="ctr"/>
          <a:lstStyle/>
          <a:p>
            <a:pPr algn="ctr" indent="0" marL="0">
              <a:buNone/>
            </a:pPr>
            <a:r>
              <a:rPr lang="en-US" sz="1800" b="1" dirty="0">
                <a:solidFill>
                  <a:schemeClr val="bg1"/>
                </a:solidFill>
              </a:rPr>
              <a:t>Browser</a:t>
            </a:r>
            <a:endParaRPr lang="en-US" sz="1400" dirty="0"/>
          </a:p>
          <a:p>
            <a:pPr algn="ctr" indent="0" marL="0">
              <a:buNone/>
            </a:pPr>
            <a:r>
              <a:rPr lang="en-US" sz="1300" dirty="0">
                <a:solidFill>
                  <a:schemeClr val="bg1"/>
                </a:solidFill>
              </a:rPr>
              <a:t>HTML pages and the React app</a:t>
            </a:r>
            <a:endParaRPr lang="en-US" sz="1400" dirty="0"/>
          </a:p>
        </p:txBody>
      </p:sp>
      <p:sp>
        <p:nvSpPr>
          <p:cNvPr id="10" name="Text 8"/>
          <p:cNvSpPr txBox="1"/>
          <p:nvPr/>
        </p:nvSpPr>
        <p:spPr>
          <a:xfrm>
            <a:off x="3246120" y="2240280"/>
            <a:ext cx="2743200" cy="1325880"/>
          </a:xfrm>
          <a:prstGeom prst="roundRect">
            <a:avLst>
              <a:gd name="adj" fmla="val 5517"/>
            </a:avLst>
          </a:prstGeom>
          <a:solidFill>
            <a:srgbClr val="EFF6FF"/>
          </a:solidFill>
          <a:ln w="15875">
            <a:solidFill>
              <a:schemeClr val="accent1"/>
            </a:solidFill>
          </a:ln>
        </p:spPr>
        <p:txBody>
          <a:bodyPr wrap="square" lIns="76200" tIns="76200" rIns="76200" bIns="76200" rtlCol="0" anchor="ctr"/>
          <a:lstStyle/>
          <a:p>
            <a:pPr algn="ctr" indent="0" marL="0">
              <a:buNone/>
            </a:pPr>
            <a:r>
              <a:rPr lang="en-US" sz="1400" b="1" dirty="0">
                <a:solidFill>
                  <a:schemeClr val="tx1"/>
                </a:solidFill>
              </a:rPr>
              <a:t>Servlet portal  /portal/*</a:t>
            </a:r>
            <a:endParaRPr lang="en-US" sz="1400" dirty="0"/>
          </a:p>
          <a:p>
            <a:pPr algn="ctr" indent="0" marL="0">
              <a:buNone/>
            </a:pPr>
            <a:r>
              <a:rPr lang="en-US" sz="1300" dirty="0">
                <a:solidFill>
                  <a:schemeClr val="tx1"/>
                </a:solidFill>
              </a:rPr>
              <a:t>HttpServlet, Filter, Listener, HttpSession</a:t>
            </a:r>
            <a:endParaRPr lang="en-US" sz="1400" dirty="0"/>
          </a:p>
        </p:txBody>
      </p:sp>
      <p:sp>
        <p:nvSpPr>
          <p:cNvPr id="11" name="Text 9"/>
          <p:cNvSpPr txBox="1"/>
          <p:nvPr/>
        </p:nvSpPr>
        <p:spPr>
          <a:xfrm>
            <a:off x="3246120" y="4206240"/>
            <a:ext cx="2743200" cy="1325880"/>
          </a:xfrm>
          <a:prstGeom prst="roundRect">
            <a:avLst>
              <a:gd name="adj" fmla="val 5517"/>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REST API  /api/*</a:t>
            </a:r>
            <a:endParaRPr lang="en-US" sz="1400" dirty="0"/>
          </a:p>
          <a:p>
            <a:pPr algn="ctr" indent="0" marL="0">
              <a:buNone/>
            </a:pPr>
            <a:r>
              <a:rPr lang="en-US" sz="1300" dirty="0">
                <a:solidFill>
                  <a:schemeClr val="tx1"/>
                </a:solidFill>
              </a:rPr>
              <a:t>Controllers, JWT security filter</a:t>
            </a:r>
            <a:endParaRPr lang="en-US" sz="1400" dirty="0"/>
          </a:p>
        </p:txBody>
      </p:sp>
      <p:sp>
        <p:nvSpPr>
          <p:cNvPr id="12" name="Text 10"/>
          <p:cNvSpPr txBox="1"/>
          <p:nvPr/>
        </p:nvSpPr>
        <p:spPr>
          <a:xfrm>
            <a:off x="6537960" y="2240280"/>
            <a:ext cx="2743200" cy="1325880"/>
          </a:xfrm>
          <a:prstGeom prst="roundRect">
            <a:avLst>
              <a:gd name="adj" fmla="val 5517"/>
            </a:avLst>
          </a:prstGeom>
          <a:solidFill>
            <a:srgbClr val="EFF6FF"/>
          </a:solidFill>
          <a:ln w="15875">
            <a:solidFill>
              <a:schemeClr val="accent1"/>
            </a:solidFill>
          </a:ln>
        </p:spPr>
        <p:txBody>
          <a:bodyPr wrap="square" lIns="76200" tIns="76200" rIns="76200" bIns="76200" rtlCol="0" anchor="ctr"/>
          <a:lstStyle/>
          <a:p>
            <a:pPr algn="ctr" indent="0" marL="0">
              <a:buNone/>
            </a:pPr>
            <a:r>
              <a:rPr lang="en-US" sz="1400" b="1" dirty="0">
                <a:solidFill>
                  <a:schemeClr val="tx1"/>
                </a:solidFill>
              </a:rPr>
              <a:t>DAO layer  (jdbc/)</a:t>
            </a:r>
            <a:endParaRPr lang="en-US" sz="1400" dirty="0"/>
          </a:p>
          <a:p>
            <a:pPr algn="ctr" indent="0" marL="0">
              <a:buNone/>
            </a:pPr>
            <a:r>
              <a:rPr lang="en-US" sz="1300" dirty="0">
                <a:solidFill>
                  <a:schemeClr val="tx1"/>
                </a:solidFill>
              </a:rPr>
              <a:t>DBConnection, PreparedStatement, ResultSet</a:t>
            </a:r>
            <a:endParaRPr lang="en-US" sz="1400" dirty="0"/>
          </a:p>
        </p:txBody>
      </p:sp>
      <p:sp>
        <p:nvSpPr>
          <p:cNvPr id="13" name="Text 11"/>
          <p:cNvSpPr txBox="1"/>
          <p:nvPr/>
        </p:nvSpPr>
        <p:spPr>
          <a:xfrm>
            <a:off x="6537960" y="4206240"/>
            <a:ext cx="2743200" cy="1325880"/>
          </a:xfrm>
          <a:prstGeom prst="roundRect">
            <a:avLst>
              <a:gd name="adj" fmla="val 5517"/>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Services + JPA</a:t>
            </a:r>
            <a:endParaRPr lang="en-US" sz="1400" dirty="0"/>
          </a:p>
          <a:p>
            <a:pPr algn="ctr" indent="0" marL="0">
              <a:buNone/>
            </a:pPr>
            <a:r>
              <a:rPr lang="en-US" sz="1300" dirty="0">
                <a:solidFill>
                  <a:schemeClr val="tx1"/>
                </a:solidFill>
              </a:rPr>
              <a:t>LedgerService, Spring Data repositories</a:t>
            </a:r>
            <a:endParaRPr lang="en-US" sz="1400" dirty="0"/>
          </a:p>
        </p:txBody>
      </p:sp>
      <p:sp>
        <p:nvSpPr>
          <p:cNvPr id="14" name="Text 12"/>
          <p:cNvSpPr txBox="1"/>
          <p:nvPr/>
        </p:nvSpPr>
        <p:spPr>
          <a:xfrm>
            <a:off x="9829800" y="2697480"/>
            <a:ext cx="1828800" cy="2377440"/>
          </a:xfrm>
          <a:prstGeom prst="can">
            <a:avLst/>
          </a:prstGeom>
          <a:solidFill>
            <a:schemeClr val="tx2"/>
          </a:solidFill>
          <a:ln/>
        </p:spPr>
        <p:txBody>
          <a:bodyPr wrap="square" lIns="76200" tIns="76200" rIns="76200" bIns="76200" rtlCol="0" anchor="ctr"/>
          <a:lstStyle/>
          <a:p>
            <a:pPr algn="ctr" indent="0" marL="0">
              <a:buNone/>
            </a:pPr>
            <a:r>
              <a:rPr lang="en-US" sz="1800" b="1" dirty="0">
                <a:solidFill>
                  <a:schemeClr val="bg1"/>
                </a:solidFill>
              </a:rPr>
              <a:t>MySQL / H2</a:t>
            </a:r>
            <a:endParaRPr lang="en-US" sz="1800" dirty="0"/>
          </a:p>
          <a:p>
            <a:pPr algn="ctr" indent="0" marL="0">
              <a:buNone/>
            </a:pPr>
            <a:r>
              <a:rPr lang="en-US" sz="1300" dirty="0">
                <a:solidFill>
                  <a:schemeClr val="bg1"/>
                </a:solidFill>
              </a:rPr>
              <a:t>11 tables + audit log</a:t>
            </a:r>
            <a:endParaRPr lang="en-US" sz="1800" dirty="0"/>
          </a:p>
        </p:txBody>
      </p:sp>
      <p:sp>
        <p:nvSpPr>
          <p:cNvPr id="15" name="Shape 13"/>
          <p:cNvSpPr/>
          <p:nvPr/>
        </p:nvSpPr>
        <p:spPr>
          <a:xfrm flipV="1">
            <a:off x="2743200" y="2926080"/>
            <a:ext cx="502920" cy="777240"/>
          </a:xfrm>
          <a:prstGeom prst="line">
            <a:avLst/>
          </a:prstGeom>
          <a:noFill/>
          <a:ln w="22225">
            <a:solidFill>
              <a:srgbClr val="94A3B8"/>
            </a:solidFill>
            <a:prstDash val="solid"/>
            <a:tailEnd type="triangle"/>
          </a:ln>
        </p:spPr>
      </p:sp>
      <p:sp>
        <p:nvSpPr>
          <p:cNvPr id="16" name="Shape 14"/>
          <p:cNvSpPr/>
          <p:nvPr/>
        </p:nvSpPr>
        <p:spPr>
          <a:xfrm>
            <a:off x="2743200" y="4069080"/>
            <a:ext cx="502920" cy="777240"/>
          </a:xfrm>
          <a:prstGeom prst="line">
            <a:avLst/>
          </a:prstGeom>
          <a:noFill/>
          <a:ln w="22225">
            <a:solidFill>
              <a:srgbClr val="94A3B8"/>
            </a:solidFill>
            <a:prstDash val="solid"/>
            <a:tailEnd type="triangle"/>
          </a:ln>
        </p:spPr>
      </p:sp>
      <p:sp>
        <p:nvSpPr>
          <p:cNvPr id="17" name="Shape 15"/>
          <p:cNvSpPr/>
          <p:nvPr/>
        </p:nvSpPr>
        <p:spPr>
          <a:xfrm>
            <a:off x="5989320" y="2898648"/>
            <a:ext cx="548640" cy="0"/>
          </a:xfrm>
          <a:prstGeom prst="line">
            <a:avLst/>
          </a:prstGeom>
          <a:noFill/>
          <a:ln w="22225">
            <a:solidFill>
              <a:srgbClr val="94A3B8"/>
            </a:solidFill>
            <a:prstDash val="solid"/>
            <a:tailEnd type="triangle"/>
          </a:ln>
        </p:spPr>
      </p:sp>
      <p:sp>
        <p:nvSpPr>
          <p:cNvPr id="18" name="Shape 16"/>
          <p:cNvSpPr/>
          <p:nvPr/>
        </p:nvSpPr>
        <p:spPr>
          <a:xfrm>
            <a:off x="5989320" y="4864608"/>
            <a:ext cx="548640" cy="0"/>
          </a:xfrm>
          <a:prstGeom prst="line">
            <a:avLst/>
          </a:prstGeom>
          <a:noFill/>
          <a:ln w="22225">
            <a:solidFill>
              <a:srgbClr val="94A3B8"/>
            </a:solidFill>
            <a:prstDash val="solid"/>
            <a:tailEnd type="triangle"/>
          </a:ln>
        </p:spPr>
      </p:sp>
      <p:sp>
        <p:nvSpPr>
          <p:cNvPr id="19" name="Shape 17"/>
          <p:cNvSpPr/>
          <p:nvPr/>
        </p:nvSpPr>
        <p:spPr>
          <a:xfrm>
            <a:off x="9281160" y="2898648"/>
            <a:ext cx="548640" cy="438912"/>
          </a:xfrm>
          <a:prstGeom prst="line">
            <a:avLst/>
          </a:prstGeom>
          <a:noFill/>
          <a:ln w="22225">
            <a:solidFill>
              <a:srgbClr val="94A3B8"/>
            </a:solidFill>
            <a:prstDash val="solid"/>
            <a:tailEnd type="triangle"/>
          </a:ln>
        </p:spPr>
      </p:sp>
      <p:sp>
        <p:nvSpPr>
          <p:cNvPr id="20" name="Shape 18"/>
          <p:cNvSpPr/>
          <p:nvPr/>
        </p:nvSpPr>
        <p:spPr>
          <a:xfrm flipV="1">
            <a:off x="9281160" y="4434840"/>
            <a:ext cx="548640" cy="429768"/>
          </a:xfrm>
          <a:prstGeom prst="line">
            <a:avLst/>
          </a:prstGeom>
          <a:noFill/>
          <a:ln w="22225">
            <a:solidFill>
              <a:srgbClr val="94A3B8"/>
            </a:solidFill>
            <a:prstDash val="solid"/>
            <a:tailEnd type="triangle"/>
          </a:ln>
        </p:spPr>
      </p:sp>
      <p:sp>
        <p:nvSpPr>
          <p:cNvPr id="21" name="Text 19"/>
          <p:cNvSpPr txBox="1"/>
          <p:nvPr/>
        </p:nvSpPr>
        <p:spPr>
          <a:xfrm>
            <a:off x="3246120" y="5760720"/>
            <a:ext cx="6035040" cy="411480"/>
          </a:xfrm>
          <a:prstGeom prst="roundRect">
            <a:avLst>
              <a:gd name="adj" fmla="val 17778"/>
            </a:avLst>
          </a:prstGeom>
          <a:solidFill>
            <a:srgbClr val="FEF3C7"/>
          </a:solidFill>
          <a:ln/>
        </p:spPr>
        <p:txBody>
          <a:bodyPr wrap="square" lIns="76200" tIns="76200" rIns="76200" bIns="76200" rtlCol="0" anchor="ctr"/>
          <a:lstStyle/>
          <a:p>
            <a:pPr algn="ctr" indent="0" marL="0">
              <a:buNone/>
            </a:pPr>
            <a:r>
              <a:rPr lang="en-US" sz="1300" dirty="0">
                <a:solidFill>
                  <a:schemeClr val="tx1"/>
                </a:solidFill>
              </a:rPr>
              <a:t>core/   BankAccount hierarchy, interfaces and exceptions, shared by DAOs and servlets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DATABASE DESIGN</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Entity-relationship model</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Users own accounts; accounts own ledger entries. Every other table hangs off these two.</a:t>
            </a:r>
            <a:endParaRPr lang="en-US" sz="1600" dirty="0"/>
          </a:p>
        </p:txBody>
      </p:sp>
      <p:sp>
        <p:nvSpPr>
          <p:cNvPr id="5" name="Shape 3"/>
          <p:cNvSpPr/>
          <p:nvPr/>
        </p:nvSpPr>
        <p:spPr>
          <a:xfrm>
            <a:off x="548640" y="1783080"/>
            <a:ext cx="2834640" cy="1847088"/>
          </a:xfrm>
          <a:prstGeom prst="rect">
            <a:avLst/>
          </a:prstGeom>
          <a:solidFill>
            <a:schemeClr val="bg1"/>
          </a:solidFill>
          <a:ln w="12700">
            <a:solidFill>
              <a:srgbClr val="CBD5E1"/>
            </a:solidFill>
            <a:prstDash val="solid"/>
          </a:ln>
          <a:effectLst>
            <a:outerShdw sx="100000" sy="100000" kx="0" ky="0" algn="bl" rotWithShape="0" blurRad="127000" dist="38100" dir="5400000">
              <a:srgbClr val="0F172A">
                <a:alpha val="14000"/>
              </a:srgbClr>
            </a:outerShdw>
          </a:effectLst>
        </p:spPr>
      </p:sp>
      <p:sp>
        <p:nvSpPr>
          <p:cNvPr id="6" name="Text 4"/>
          <p:cNvSpPr txBox="1"/>
          <p:nvPr/>
        </p:nvSpPr>
        <p:spPr>
          <a:xfrm>
            <a:off x="548640" y="1783080"/>
            <a:ext cx="2834640" cy="384048"/>
          </a:xfrm>
          <a:prstGeom prst="roundRect">
            <a:avLst>
              <a:gd name="adj" fmla="val 19048"/>
            </a:avLst>
          </a:prstGeom>
          <a:solidFill>
            <a:schemeClr val="tx2"/>
          </a:solidFill>
          <a:ln/>
        </p:spPr>
        <p:txBody>
          <a:bodyPr wrap="square" lIns="50800" tIns="50800" rIns="50800" bIns="50800" rtlCol="0" anchor="ctr"/>
          <a:lstStyle/>
          <a:p>
            <a:pPr algn="ctr" indent="0" marL="0">
              <a:buNone/>
            </a:pPr>
            <a:r>
              <a:rPr lang="en-US" sz="1400" b="1" dirty="0">
                <a:solidFill>
                  <a:schemeClr val="bg1"/>
                </a:solidFill>
              </a:rPr>
              <a:t>users</a:t>
            </a:r>
            <a:endParaRPr lang="en-US" sz="1400" dirty="0"/>
          </a:p>
        </p:txBody>
      </p:sp>
      <p:sp>
        <p:nvSpPr>
          <p:cNvPr id="7" name="Text 5"/>
          <p:cNvSpPr txBox="1"/>
          <p:nvPr/>
        </p:nvSpPr>
        <p:spPr>
          <a:xfrm>
            <a:off x="685800" y="2240280"/>
            <a:ext cx="260604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PK </a:t>
            </a:r>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p:txBody>
      </p:sp>
      <p:sp>
        <p:nvSpPr>
          <p:cNvPr id="8" name="Text 6"/>
          <p:cNvSpPr txBox="1"/>
          <p:nvPr/>
        </p:nvSpPr>
        <p:spPr>
          <a:xfrm>
            <a:off x="685800" y="251460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customer_id</a:t>
            </a:r>
            <a:endParaRPr lang="en-US" sz="1200" dirty="0"/>
          </a:p>
        </p:txBody>
      </p:sp>
      <p:sp>
        <p:nvSpPr>
          <p:cNvPr id="9" name="Text 7"/>
          <p:cNvSpPr txBox="1"/>
          <p:nvPr/>
        </p:nvSpPr>
        <p:spPr>
          <a:xfrm>
            <a:off x="685800" y="278892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email</a:t>
            </a:r>
            <a:endParaRPr lang="en-US" sz="1200" dirty="0"/>
          </a:p>
        </p:txBody>
      </p:sp>
      <p:sp>
        <p:nvSpPr>
          <p:cNvPr id="10" name="Text 8"/>
          <p:cNvSpPr txBox="1"/>
          <p:nvPr/>
        </p:nvSpPr>
        <p:spPr>
          <a:xfrm>
            <a:off x="685800" y="306324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password_hash</a:t>
            </a:r>
            <a:endParaRPr lang="en-US" sz="1200" dirty="0"/>
          </a:p>
        </p:txBody>
      </p:sp>
      <p:sp>
        <p:nvSpPr>
          <p:cNvPr id="11" name="Text 9"/>
          <p:cNvSpPr txBox="1"/>
          <p:nvPr/>
        </p:nvSpPr>
        <p:spPr>
          <a:xfrm>
            <a:off x="685800" y="333756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role, status</a:t>
            </a:r>
            <a:endParaRPr lang="en-US" sz="1200" dirty="0"/>
          </a:p>
        </p:txBody>
      </p:sp>
      <p:sp>
        <p:nvSpPr>
          <p:cNvPr id="12" name="Shape 10"/>
          <p:cNvSpPr/>
          <p:nvPr/>
        </p:nvSpPr>
        <p:spPr>
          <a:xfrm>
            <a:off x="4663440" y="1783080"/>
            <a:ext cx="2834640" cy="1847088"/>
          </a:xfrm>
          <a:prstGeom prst="rect">
            <a:avLst/>
          </a:prstGeom>
          <a:solidFill>
            <a:schemeClr val="bg1"/>
          </a:solidFill>
          <a:ln w="12700">
            <a:solidFill>
              <a:srgbClr val="CBD5E1"/>
            </a:solidFill>
            <a:prstDash val="solid"/>
          </a:ln>
          <a:effectLst>
            <a:outerShdw sx="100000" sy="100000" kx="0" ky="0" algn="bl" rotWithShape="0" blurRad="127000" dist="38100" dir="5400000">
              <a:srgbClr val="0F172A">
                <a:alpha val="14000"/>
              </a:srgbClr>
            </a:outerShdw>
          </a:effectLst>
        </p:spPr>
      </p:sp>
      <p:sp>
        <p:nvSpPr>
          <p:cNvPr id="13" name="Text 11"/>
          <p:cNvSpPr txBox="1"/>
          <p:nvPr/>
        </p:nvSpPr>
        <p:spPr>
          <a:xfrm>
            <a:off x="4663440" y="1783080"/>
            <a:ext cx="2834640" cy="384048"/>
          </a:xfrm>
          <a:prstGeom prst="roundRect">
            <a:avLst>
              <a:gd name="adj" fmla="val 19048"/>
            </a:avLst>
          </a:prstGeom>
          <a:solidFill>
            <a:schemeClr val="tx2"/>
          </a:solidFill>
          <a:ln/>
        </p:spPr>
        <p:txBody>
          <a:bodyPr wrap="square" lIns="50800" tIns="50800" rIns="50800" bIns="50800" rtlCol="0" anchor="ctr"/>
          <a:lstStyle/>
          <a:p>
            <a:pPr algn="ctr" indent="0" marL="0">
              <a:buNone/>
            </a:pPr>
            <a:r>
              <a:rPr lang="en-US" sz="1400" b="1" dirty="0">
                <a:solidFill>
                  <a:schemeClr val="bg1"/>
                </a:solidFill>
              </a:rPr>
              <a:t>accounts</a:t>
            </a:r>
            <a:endParaRPr lang="en-US" sz="1400" dirty="0"/>
          </a:p>
        </p:txBody>
      </p:sp>
      <p:sp>
        <p:nvSpPr>
          <p:cNvPr id="14" name="Text 12"/>
          <p:cNvSpPr txBox="1"/>
          <p:nvPr/>
        </p:nvSpPr>
        <p:spPr>
          <a:xfrm>
            <a:off x="4800600" y="2240280"/>
            <a:ext cx="260604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PK </a:t>
            </a:r>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p:txBody>
      </p:sp>
      <p:sp>
        <p:nvSpPr>
          <p:cNvPr id="15" name="Text 13"/>
          <p:cNvSpPr txBox="1"/>
          <p:nvPr/>
        </p:nvSpPr>
        <p:spPr>
          <a:xfrm>
            <a:off x="4800600" y="2514600"/>
            <a:ext cx="260604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pPr indent="0" marL="0">
              <a:buNone/>
            </a:pPr>
            <a:r>
              <a:rPr lang="en-US" sz="1200" dirty="0">
                <a:solidFill>
                  <a:schemeClr val="tx1"/>
                </a:solidFill>
                <a:latin typeface="Courier New" pitchFamily="34" charset="0"/>
                <a:ea typeface="Courier New" pitchFamily="34" charset="-122"/>
                <a:cs typeface="Courier New" pitchFamily="34" charset="-120"/>
              </a:rPr>
              <a:t>user_id</a:t>
            </a:r>
            <a:endParaRPr lang="en-US" sz="1200" dirty="0"/>
          </a:p>
        </p:txBody>
      </p:sp>
      <p:sp>
        <p:nvSpPr>
          <p:cNvPr id="16" name="Text 14"/>
          <p:cNvSpPr txBox="1"/>
          <p:nvPr/>
        </p:nvSpPr>
        <p:spPr>
          <a:xfrm>
            <a:off x="4800600" y="278892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account_number</a:t>
            </a:r>
            <a:endParaRPr lang="en-US" sz="1200" dirty="0"/>
          </a:p>
        </p:txBody>
      </p:sp>
      <p:sp>
        <p:nvSpPr>
          <p:cNvPr id="17" name="Text 15"/>
          <p:cNvSpPr txBox="1"/>
          <p:nvPr/>
        </p:nvSpPr>
        <p:spPr>
          <a:xfrm>
            <a:off x="4800600" y="306324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account_type</a:t>
            </a:r>
            <a:endParaRPr lang="en-US" sz="1200" dirty="0"/>
          </a:p>
        </p:txBody>
      </p:sp>
      <p:sp>
        <p:nvSpPr>
          <p:cNvPr id="18" name="Text 16"/>
          <p:cNvSpPr txBox="1"/>
          <p:nvPr/>
        </p:nvSpPr>
        <p:spPr>
          <a:xfrm>
            <a:off x="4800600" y="333756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balance, status</a:t>
            </a:r>
            <a:endParaRPr lang="en-US" sz="1200" dirty="0"/>
          </a:p>
        </p:txBody>
      </p:sp>
      <p:sp>
        <p:nvSpPr>
          <p:cNvPr id="19" name="Shape 17"/>
          <p:cNvSpPr/>
          <p:nvPr/>
        </p:nvSpPr>
        <p:spPr>
          <a:xfrm>
            <a:off x="8778240" y="1783080"/>
            <a:ext cx="2834640" cy="1847088"/>
          </a:xfrm>
          <a:prstGeom prst="rect">
            <a:avLst/>
          </a:prstGeom>
          <a:solidFill>
            <a:schemeClr val="bg1"/>
          </a:solidFill>
          <a:ln w="12700">
            <a:solidFill>
              <a:srgbClr val="CBD5E1"/>
            </a:solidFill>
            <a:prstDash val="solid"/>
          </a:ln>
          <a:effectLst>
            <a:outerShdw sx="100000" sy="100000" kx="0" ky="0" algn="bl" rotWithShape="0" blurRad="127000" dist="38100" dir="5400000">
              <a:srgbClr val="0F172A">
                <a:alpha val="14000"/>
              </a:srgbClr>
            </a:outerShdw>
          </a:effectLst>
        </p:spPr>
      </p:sp>
      <p:sp>
        <p:nvSpPr>
          <p:cNvPr id="20" name="Text 18"/>
          <p:cNvSpPr txBox="1"/>
          <p:nvPr/>
        </p:nvSpPr>
        <p:spPr>
          <a:xfrm>
            <a:off x="8778240" y="1783080"/>
            <a:ext cx="2834640" cy="384048"/>
          </a:xfrm>
          <a:prstGeom prst="roundRect">
            <a:avLst>
              <a:gd name="adj" fmla="val 19048"/>
            </a:avLst>
          </a:prstGeom>
          <a:solidFill>
            <a:schemeClr val="tx2"/>
          </a:solidFill>
          <a:ln/>
        </p:spPr>
        <p:txBody>
          <a:bodyPr wrap="square" lIns="50800" tIns="50800" rIns="50800" bIns="50800" rtlCol="0" anchor="ctr"/>
          <a:lstStyle/>
          <a:p>
            <a:pPr algn="ctr" indent="0" marL="0">
              <a:buNone/>
            </a:pPr>
            <a:r>
              <a:rPr lang="en-US" sz="1400" b="1" dirty="0">
                <a:solidFill>
                  <a:schemeClr val="bg1"/>
                </a:solidFill>
              </a:rPr>
              <a:t>transactions</a:t>
            </a:r>
            <a:endParaRPr lang="en-US" sz="1400" dirty="0"/>
          </a:p>
        </p:txBody>
      </p:sp>
      <p:sp>
        <p:nvSpPr>
          <p:cNvPr id="21" name="Text 19"/>
          <p:cNvSpPr txBox="1"/>
          <p:nvPr/>
        </p:nvSpPr>
        <p:spPr>
          <a:xfrm>
            <a:off x="8915400" y="2240280"/>
            <a:ext cx="2606040" cy="274320"/>
          </a:xfrm>
          <a:prstGeom prst="rect">
            <a:avLst/>
          </a:prstGeom>
          <a:noFill/>
          <a:ln/>
        </p:spPr>
        <p:txBody>
          <a:bodyPr wrap="square" lIns="0" tIns="0" rIns="0" bIns="0" rtlCol="0" anchor="t"/>
          <a:lstStyle/>
          <a:p>
            <a:pPr indent="0" marL="0">
              <a:buNone/>
            </a:pPr>
            <a:r>
              <a:rPr lang="en-US" sz="1200" b="1" dirty="0">
                <a:solidFill>
                  <a:schemeClr val="accent2"/>
                </a:solidFill>
                <a:latin typeface="Courier New" pitchFamily="34" charset="0"/>
                <a:ea typeface="Courier New" pitchFamily="34" charset="-122"/>
                <a:cs typeface="Courier New" pitchFamily="34" charset="-120"/>
              </a:rPr>
              <a:t>PK </a:t>
            </a:r>
            <a:pPr indent="0" marL="0">
              <a:buNone/>
            </a:pPr>
            <a:r>
              <a:rPr lang="en-US" sz="1200" dirty="0">
                <a:solidFill>
                  <a:schemeClr val="tx1"/>
                </a:solidFill>
                <a:latin typeface="Courier New" pitchFamily="34" charset="0"/>
                <a:ea typeface="Courier New" pitchFamily="34" charset="-122"/>
                <a:cs typeface="Courier New" pitchFamily="34" charset="-120"/>
              </a:rPr>
              <a:t>id</a:t>
            </a:r>
            <a:endParaRPr lang="en-US" sz="1200" dirty="0"/>
          </a:p>
        </p:txBody>
      </p:sp>
      <p:sp>
        <p:nvSpPr>
          <p:cNvPr id="22" name="Text 20"/>
          <p:cNvSpPr txBox="1"/>
          <p:nvPr/>
        </p:nvSpPr>
        <p:spPr>
          <a:xfrm>
            <a:off x="8915400" y="2514600"/>
            <a:ext cx="260604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FK </a:t>
            </a:r>
            <a:pPr indent="0" marL="0">
              <a:buNone/>
            </a:pPr>
            <a:r>
              <a:rPr lang="en-US" sz="1200" dirty="0">
                <a:solidFill>
                  <a:schemeClr val="tx1"/>
                </a:solidFill>
                <a:latin typeface="Courier New" pitchFamily="34" charset="0"/>
                <a:ea typeface="Courier New" pitchFamily="34" charset="-122"/>
                <a:cs typeface="Courier New" pitchFamily="34" charset="-120"/>
              </a:rPr>
              <a:t>account_id</a:t>
            </a:r>
            <a:endParaRPr lang="en-US" sz="1200" dirty="0"/>
          </a:p>
        </p:txBody>
      </p:sp>
      <p:sp>
        <p:nvSpPr>
          <p:cNvPr id="23" name="Text 21"/>
          <p:cNvSpPr txBox="1"/>
          <p:nvPr/>
        </p:nvSpPr>
        <p:spPr>
          <a:xfrm>
            <a:off x="8915400" y="278892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reference_id</a:t>
            </a:r>
            <a:endParaRPr lang="en-US" sz="1200" dirty="0"/>
          </a:p>
        </p:txBody>
      </p:sp>
      <p:sp>
        <p:nvSpPr>
          <p:cNvPr id="24" name="Text 22"/>
          <p:cNvSpPr txBox="1"/>
          <p:nvPr/>
        </p:nvSpPr>
        <p:spPr>
          <a:xfrm>
            <a:off x="8915400" y="306324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direction, channel</a:t>
            </a:r>
            <a:endParaRPr lang="en-US" sz="1200" dirty="0"/>
          </a:p>
        </p:txBody>
      </p:sp>
      <p:sp>
        <p:nvSpPr>
          <p:cNvPr id="25" name="Text 23"/>
          <p:cNvSpPr txBox="1"/>
          <p:nvPr/>
        </p:nvSpPr>
        <p:spPr>
          <a:xfrm>
            <a:off x="8915400" y="3337560"/>
            <a:ext cx="2606040" cy="274320"/>
          </a:xfrm>
          <a:prstGeom prst="rect">
            <a:avLst/>
          </a:prstGeom>
          <a:noFill/>
          <a:ln/>
        </p:spPr>
        <p:txBody>
          <a:bodyPr wrap="square" lIns="0" tIns="0" rIns="0" bIns="0" rtlCol="0" anchor="t"/>
          <a:lstStyle/>
          <a:p>
            <a:pPr indent="0" marL="0">
              <a:buNone/>
            </a:pPr>
            <a:r>
              <a:rPr lang="en-US" sz="1200" b="1" dirty="0">
                <a:solidFill>
                  <a:schemeClr val="accent6"/>
                </a:solidFill>
                <a:latin typeface="Courier New" pitchFamily="34" charset="0"/>
                <a:ea typeface="Courier New" pitchFamily="34" charset="-122"/>
                <a:cs typeface="Courier New" pitchFamily="34" charset="-120"/>
              </a:rPr>
              <a:t>   </a:t>
            </a:r>
            <a:pPr indent="0" marL="0">
              <a:buNone/>
            </a:pPr>
            <a:r>
              <a:rPr lang="en-US" sz="1200" dirty="0">
                <a:solidFill>
                  <a:schemeClr val="tx1"/>
                </a:solidFill>
                <a:latin typeface="Courier New" pitchFamily="34" charset="0"/>
                <a:ea typeface="Courier New" pitchFamily="34" charset="-122"/>
                <a:cs typeface="Courier New" pitchFamily="34" charset="-120"/>
              </a:rPr>
              <a:t>amount, balance_after</a:t>
            </a:r>
            <a:endParaRPr lang="en-US" sz="1200" dirty="0"/>
          </a:p>
        </p:txBody>
      </p:sp>
      <p:sp>
        <p:nvSpPr>
          <p:cNvPr id="26" name="Shape 24"/>
          <p:cNvSpPr/>
          <p:nvPr/>
        </p:nvSpPr>
        <p:spPr>
          <a:xfrm>
            <a:off x="3383280" y="2514600"/>
            <a:ext cx="1280160" cy="0"/>
          </a:xfrm>
          <a:prstGeom prst="line">
            <a:avLst/>
          </a:prstGeom>
          <a:noFill/>
          <a:ln w="19050">
            <a:solidFill>
              <a:schemeClr val="accent1"/>
            </a:solidFill>
            <a:prstDash val="solid"/>
          </a:ln>
        </p:spPr>
      </p:sp>
      <p:sp>
        <p:nvSpPr>
          <p:cNvPr id="27" name="Shape 25"/>
          <p:cNvSpPr/>
          <p:nvPr/>
        </p:nvSpPr>
        <p:spPr>
          <a:xfrm>
            <a:off x="7498080" y="2514600"/>
            <a:ext cx="1280160" cy="0"/>
          </a:xfrm>
          <a:prstGeom prst="line">
            <a:avLst/>
          </a:prstGeom>
          <a:noFill/>
          <a:ln w="19050">
            <a:solidFill>
              <a:schemeClr val="accent1"/>
            </a:solidFill>
            <a:prstDash val="solid"/>
          </a:ln>
        </p:spPr>
      </p:sp>
      <p:sp>
        <p:nvSpPr>
          <p:cNvPr id="28" name="Text 26"/>
          <p:cNvSpPr txBox="1"/>
          <p:nvPr/>
        </p:nvSpPr>
        <p:spPr>
          <a:xfrm>
            <a:off x="3703320" y="2194560"/>
            <a:ext cx="731520" cy="274320"/>
          </a:xfrm>
          <a:prstGeom prst="rect">
            <a:avLst/>
          </a:prstGeom>
          <a:noFill/>
          <a:ln/>
        </p:spPr>
        <p:txBody>
          <a:bodyPr wrap="square" lIns="0" tIns="0" rIns="0" bIns="0" rtlCol="0" anchor="t"/>
          <a:lstStyle/>
          <a:p>
            <a:pPr algn="ctr" indent="0" marL="0">
              <a:buNone/>
            </a:pPr>
            <a:r>
              <a:rPr lang="en-US" sz="1200" b="1" dirty="0">
                <a:solidFill>
                  <a:schemeClr val="accent1"/>
                </a:solidFill>
              </a:rPr>
              <a:t>1 : N</a:t>
            </a:r>
            <a:endParaRPr lang="en-US" sz="1200" dirty="0"/>
          </a:p>
        </p:txBody>
      </p:sp>
      <p:sp>
        <p:nvSpPr>
          <p:cNvPr id="29" name="Text 27"/>
          <p:cNvSpPr txBox="1"/>
          <p:nvPr/>
        </p:nvSpPr>
        <p:spPr>
          <a:xfrm>
            <a:off x="7772400" y="2194560"/>
            <a:ext cx="731520" cy="274320"/>
          </a:xfrm>
          <a:prstGeom prst="rect">
            <a:avLst/>
          </a:prstGeom>
          <a:noFill/>
          <a:ln/>
        </p:spPr>
        <p:txBody>
          <a:bodyPr wrap="square" lIns="0" tIns="0" rIns="0" bIns="0" rtlCol="0" anchor="t"/>
          <a:lstStyle/>
          <a:p>
            <a:pPr algn="ctr" indent="0" marL="0">
              <a:buNone/>
            </a:pPr>
            <a:r>
              <a:rPr lang="en-US" sz="1200" b="1" dirty="0">
                <a:solidFill>
                  <a:schemeClr val="accent1"/>
                </a:solidFill>
              </a:rPr>
              <a:t>1 : N</a:t>
            </a:r>
            <a:endParaRPr lang="en-US" sz="1200" dirty="0"/>
          </a:p>
        </p:txBody>
      </p:sp>
      <p:sp>
        <p:nvSpPr>
          <p:cNvPr id="30" name="card"/>
          <p:cNvSpPr/>
          <p:nvPr/>
        </p:nvSpPr>
        <p:spPr>
          <a:xfrm>
            <a:off x="548640" y="4133088"/>
            <a:ext cx="3474720" cy="2039112"/>
          </a:xfrm>
          <a:prstGeom prst="roundRect">
            <a:avLst>
              <a:gd name="adj" fmla="val 3587"/>
            </a:avLst>
          </a:prstGeom>
          <a:solidFill>
            <a:schemeClr val="bg2"/>
          </a:solidFill>
          <a:ln/>
        </p:spPr>
      </p:sp>
      <p:sp>
        <p:nvSpPr>
          <p:cNvPr id="31" name="Text 29"/>
          <p:cNvSpPr txBox="1"/>
          <p:nvPr/>
        </p:nvSpPr>
        <p:spPr>
          <a:xfrm>
            <a:off x="777240" y="4297680"/>
            <a:ext cx="3108960" cy="320040"/>
          </a:xfrm>
          <a:prstGeom prst="rect">
            <a:avLst/>
          </a:prstGeom>
          <a:noFill/>
          <a:ln/>
        </p:spPr>
        <p:txBody>
          <a:bodyPr wrap="square" lIns="0" tIns="0" rIns="0" bIns="0" rtlCol="0" anchor="t"/>
          <a:lstStyle/>
          <a:p>
            <a:pPr indent="0" marL="0">
              <a:buNone/>
            </a:pPr>
            <a:r>
              <a:rPr lang="en-US" sz="1400" b="1" dirty="0">
                <a:solidFill>
                  <a:schemeClr val="tx2"/>
                </a:solidFill>
              </a:rPr>
              <a:t>Belongs to a user</a:t>
            </a:r>
            <a:endParaRPr lang="en-US" sz="1400" dirty="0"/>
          </a:p>
        </p:txBody>
      </p:sp>
      <p:sp>
        <p:nvSpPr>
          <p:cNvPr id="32" name="Text 30"/>
          <p:cNvSpPr txBox="1"/>
          <p:nvPr/>
        </p:nvSpPr>
        <p:spPr>
          <a:xfrm>
            <a:off x="777240" y="4727448"/>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beneficiaries</a:t>
            </a:r>
            <a:endParaRPr lang="en-US" sz="1200" dirty="0"/>
          </a:p>
        </p:txBody>
      </p:sp>
      <p:sp>
        <p:nvSpPr>
          <p:cNvPr id="33" name="Text 31"/>
          <p:cNvSpPr txBox="1"/>
          <p:nvPr/>
        </p:nvSpPr>
        <p:spPr>
          <a:xfrm>
            <a:off x="2331720" y="4727448"/>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notifications</a:t>
            </a:r>
            <a:endParaRPr lang="en-US" sz="1200" dirty="0"/>
          </a:p>
        </p:txBody>
      </p:sp>
      <p:sp>
        <p:nvSpPr>
          <p:cNvPr id="34" name="Text 32"/>
          <p:cNvSpPr txBox="1"/>
          <p:nvPr/>
        </p:nvSpPr>
        <p:spPr>
          <a:xfrm>
            <a:off x="777240" y="5166360"/>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service_requests</a:t>
            </a:r>
            <a:endParaRPr lang="en-US" sz="1200" dirty="0"/>
          </a:p>
        </p:txBody>
      </p:sp>
      <p:sp>
        <p:nvSpPr>
          <p:cNvPr id="35" name="Text 33"/>
          <p:cNvSpPr txBox="1"/>
          <p:nvPr/>
        </p:nvSpPr>
        <p:spPr>
          <a:xfrm>
            <a:off x="2331720" y="5166360"/>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portal_audit_log *</a:t>
            </a:r>
            <a:endParaRPr lang="en-US" sz="1200" dirty="0"/>
          </a:p>
        </p:txBody>
      </p:sp>
      <p:sp>
        <p:nvSpPr>
          <p:cNvPr id="36" name="card"/>
          <p:cNvSpPr/>
          <p:nvPr/>
        </p:nvSpPr>
        <p:spPr>
          <a:xfrm>
            <a:off x="4343400" y="4133088"/>
            <a:ext cx="3474720" cy="2039112"/>
          </a:xfrm>
          <a:prstGeom prst="roundRect">
            <a:avLst>
              <a:gd name="adj" fmla="val 3587"/>
            </a:avLst>
          </a:prstGeom>
          <a:solidFill>
            <a:schemeClr val="bg2"/>
          </a:solidFill>
          <a:ln/>
        </p:spPr>
      </p:sp>
      <p:sp>
        <p:nvSpPr>
          <p:cNvPr id="37" name="Text 35"/>
          <p:cNvSpPr txBox="1"/>
          <p:nvPr/>
        </p:nvSpPr>
        <p:spPr>
          <a:xfrm>
            <a:off x="4572000" y="4297680"/>
            <a:ext cx="3108960" cy="320040"/>
          </a:xfrm>
          <a:prstGeom prst="rect">
            <a:avLst/>
          </a:prstGeom>
          <a:noFill/>
          <a:ln/>
        </p:spPr>
        <p:txBody>
          <a:bodyPr wrap="square" lIns="0" tIns="0" rIns="0" bIns="0" rtlCol="0" anchor="t"/>
          <a:lstStyle/>
          <a:p>
            <a:pPr indent="0" marL="0">
              <a:buNone/>
            </a:pPr>
            <a:r>
              <a:rPr lang="en-US" sz="1400" b="1" dirty="0">
                <a:solidFill>
                  <a:schemeClr val="tx2"/>
                </a:solidFill>
              </a:rPr>
              <a:t>Belongs to a user and an account</a:t>
            </a:r>
            <a:endParaRPr lang="en-US" sz="1400" dirty="0"/>
          </a:p>
        </p:txBody>
      </p:sp>
      <p:sp>
        <p:nvSpPr>
          <p:cNvPr id="38" name="Text 36"/>
          <p:cNvSpPr txBox="1"/>
          <p:nvPr/>
        </p:nvSpPr>
        <p:spPr>
          <a:xfrm>
            <a:off x="4572000" y="4727448"/>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fixed_deposits</a:t>
            </a:r>
            <a:endParaRPr lang="en-US" sz="1200" dirty="0"/>
          </a:p>
        </p:txBody>
      </p:sp>
      <p:sp>
        <p:nvSpPr>
          <p:cNvPr id="39" name="Text 37"/>
          <p:cNvSpPr txBox="1"/>
          <p:nvPr/>
        </p:nvSpPr>
        <p:spPr>
          <a:xfrm>
            <a:off x="6126480" y="4727448"/>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loans</a:t>
            </a:r>
            <a:endParaRPr lang="en-US" sz="1200" dirty="0"/>
          </a:p>
        </p:txBody>
      </p:sp>
      <p:sp>
        <p:nvSpPr>
          <p:cNvPr id="40" name="Text 38"/>
          <p:cNvSpPr txBox="1"/>
          <p:nvPr/>
        </p:nvSpPr>
        <p:spPr>
          <a:xfrm>
            <a:off x="4572000" y="5166360"/>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bill_payments</a:t>
            </a:r>
            <a:endParaRPr lang="en-US" sz="1200" dirty="0"/>
          </a:p>
        </p:txBody>
      </p:sp>
      <p:sp>
        <p:nvSpPr>
          <p:cNvPr id="41" name="card"/>
          <p:cNvSpPr/>
          <p:nvPr/>
        </p:nvSpPr>
        <p:spPr>
          <a:xfrm>
            <a:off x="8138160" y="4133088"/>
            <a:ext cx="3474720" cy="2039112"/>
          </a:xfrm>
          <a:prstGeom prst="roundRect">
            <a:avLst>
              <a:gd name="adj" fmla="val 3587"/>
            </a:avLst>
          </a:prstGeom>
          <a:solidFill>
            <a:schemeClr val="bg2"/>
          </a:solidFill>
          <a:ln/>
        </p:spPr>
      </p:sp>
      <p:sp>
        <p:nvSpPr>
          <p:cNvPr id="42" name="Text 40"/>
          <p:cNvSpPr txBox="1"/>
          <p:nvPr/>
        </p:nvSpPr>
        <p:spPr>
          <a:xfrm>
            <a:off x="8366760" y="4297680"/>
            <a:ext cx="3108960" cy="320040"/>
          </a:xfrm>
          <a:prstGeom prst="rect">
            <a:avLst/>
          </a:prstGeom>
          <a:noFill/>
          <a:ln/>
        </p:spPr>
        <p:txBody>
          <a:bodyPr wrap="square" lIns="0" tIns="0" rIns="0" bIns="0" rtlCol="0" anchor="t"/>
          <a:lstStyle/>
          <a:p>
            <a:pPr indent="0" marL="0">
              <a:buNone/>
            </a:pPr>
            <a:r>
              <a:rPr lang="en-US" sz="1400" b="1" dirty="0">
                <a:solidFill>
                  <a:schemeClr val="tx2"/>
                </a:solidFill>
              </a:rPr>
              <a:t>Belongs to an account</a:t>
            </a:r>
            <a:endParaRPr lang="en-US" sz="1400" dirty="0"/>
          </a:p>
        </p:txBody>
      </p:sp>
      <p:sp>
        <p:nvSpPr>
          <p:cNvPr id="43" name="Text 41"/>
          <p:cNvSpPr txBox="1"/>
          <p:nvPr/>
        </p:nvSpPr>
        <p:spPr>
          <a:xfrm>
            <a:off x="8366760" y="4727448"/>
            <a:ext cx="1463040" cy="329184"/>
          </a:xfrm>
          <a:prstGeom prst="roundRect">
            <a:avLst>
              <a:gd name="adj" fmla="val 22222"/>
            </a:avLst>
          </a:prstGeom>
          <a:solidFill>
            <a:schemeClr val="bg1"/>
          </a:solidFill>
          <a:ln w="15875">
            <a:solidFill>
              <a:srgbClr val="CBD5E1"/>
            </a:solidFill>
          </a:ln>
        </p:spPr>
        <p:txBody>
          <a:bodyPr wrap="square" lIns="25400" tIns="25400" rIns="25400" bIns="25400" rtlCol="0" anchor="ctr"/>
          <a:lstStyle/>
          <a:p>
            <a:pPr algn="ctr" indent="0" marL="0">
              <a:buNone/>
            </a:pPr>
            <a:r>
              <a:rPr lang="en-US" sz="1200" dirty="0">
                <a:solidFill>
                  <a:schemeClr val="tx1"/>
                </a:solidFill>
              </a:rPr>
              <a:t>debit_cards</a:t>
            </a:r>
            <a:endParaRPr lang="en-US" sz="1200" dirty="0"/>
          </a:p>
        </p:txBody>
      </p:sp>
      <p:sp>
        <p:nvSpPr>
          <p:cNvPr id="44" name="Shape 42"/>
          <p:cNvSpPr/>
          <p:nvPr/>
        </p:nvSpPr>
        <p:spPr>
          <a:xfrm>
            <a:off x="1965960" y="3630168"/>
            <a:ext cx="0" cy="502920"/>
          </a:xfrm>
          <a:prstGeom prst="line">
            <a:avLst/>
          </a:prstGeom>
          <a:noFill/>
          <a:ln w="19050">
            <a:solidFill>
              <a:srgbClr val="94A3B8"/>
            </a:solidFill>
            <a:prstDash val="dash"/>
          </a:ln>
        </p:spPr>
      </p:sp>
      <p:sp>
        <p:nvSpPr>
          <p:cNvPr id="45" name="Shape 43"/>
          <p:cNvSpPr/>
          <p:nvPr/>
        </p:nvSpPr>
        <p:spPr>
          <a:xfrm>
            <a:off x="6080760" y="3630168"/>
            <a:ext cx="0" cy="502920"/>
          </a:xfrm>
          <a:prstGeom prst="line">
            <a:avLst/>
          </a:prstGeom>
          <a:noFill/>
          <a:ln w="19050">
            <a:solidFill>
              <a:srgbClr val="94A3B8"/>
            </a:solidFill>
            <a:prstDash val="dash"/>
          </a:ln>
        </p:spPr>
      </p:sp>
      <p:sp>
        <p:nvSpPr>
          <p:cNvPr id="46" name="Shape 44"/>
          <p:cNvSpPr/>
          <p:nvPr/>
        </p:nvSpPr>
        <p:spPr>
          <a:xfrm>
            <a:off x="9875520" y="3630168"/>
            <a:ext cx="0" cy="502920"/>
          </a:xfrm>
          <a:prstGeom prst="line">
            <a:avLst/>
          </a:prstGeom>
          <a:noFill/>
          <a:ln w="19050">
            <a:solidFill>
              <a:srgbClr val="94A3B8"/>
            </a:solidFill>
            <a:prstDash val="dash"/>
          </a:ln>
        </p:spPr>
      </p:sp>
      <p:sp>
        <p:nvSpPr>
          <p:cNvPr id="47" name="Text 45"/>
          <p:cNvSpPr txBox="1"/>
          <p:nvPr/>
        </p:nvSpPr>
        <p:spPr>
          <a:xfrm>
            <a:off x="8138160" y="5276088"/>
            <a:ext cx="3474720" cy="457200"/>
          </a:xfrm>
          <a:prstGeom prst="rect">
            <a:avLst/>
          </a:prstGeom>
          <a:noFill/>
          <a:ln/>
        </p:spPr>
        <p:txBody>
          <a:bodyPr wrap="square" lIns="0" tIns="0" rIns="0" bIns="0" rtlCol="0" anchor="t"/>
          <a:lstStyle/>
          <a:p>
            <a:pPr indent="0" marL="0">
              <a:buNone/>
            </a:pPr>
            <a:r>
              <a:rPr lang="en-US" sz="1200" dirty="0">
                <a:solidFill>
                  <a:schemeClr val="accent6"/>
                </a:solidFill>
              </a:rPr>
              <a:t>* created and written with plain JDBC; system_settings stands alone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PIPELINE 1</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Fund-transfer pipeline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Seven checks and steps run inside one database transaction; any failure rolls the whole transfer back.</a:t>
            </a:r>
            <a:endParaRPr lang="en-US" sz="1600" dirty="0"/>
          </a:p>
        </p:txBody>
      </p:sp>
      <p:sp>
        <p:nvSpPr>
          <p:cNvPr id="5" name="Text 3"/>
          <p:cNvSpPr txBox="1"/>
          <p:nvPr/>
        </p:nvSpPr>
        <p:spPr>
          <a:xfrm>
            <a:off x="548640" y="1783080"/>
            <a:ext cx="1674658" cy="822960"/>
          </a:xfrm>
          <a:prstGeom prst="homePlate">
            <a:avLst/>
          </a:prstGeom>
          <a:solidFill>
            <a:schemeClr val="accent1"/>
          </a:solidFill>
          <a:ln/>
        </p:spPr>
        <p:txBody>
          <a:bodyPr wrap="square" lIns="25400" tIns="50800" rIns="177800" bIns="25400" rtlCol="0" anchor="ctr"/>
          <a:lstStyle/>
          <a:p>
            <a:pPr algn="ctr" indent="0" marL="0">
              <a:buNone/>
            </a:pPr>
            <a:r>
              <a:rPr lang="en-US" sz="1400" b="1" dirty="0">
                <a:solidFill>
                  <a:schemeClr val="bg1"/>
                </a:solidFill>
              </a:rPr>
              <a:t>Authenticate</a:t>
            </a:r>
            <a:endParaRPr lang="en-US" sz="1400" dirty="0"/>
          </a:p>
        </p:txBody>
      </p:sp>
      <p:sp>
        <p:nvSpPr>
          <p:cNvPr id="6" name="Text 4"/>
          <p:cNvSpPr txBox="1"/>
          <p:nvPr/>
        </p:nvSpPr>
        <p:spPr>
          <a:xfrm>
            <a:off x="621792"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JWT filter re-reads the user, so a suspended customer is cut off at once</a:t>
            </a:r>
            <a:endParaRPr lang="en-US" sz="1300" dirty="0"/>
          </a:p>
        </p:txBody>
      </p:sp>
      <p:sp>
        <p:nvSpPr>
          <p:cNvPr id="7" name="Text 5"/>
          <p:cNvSpPr txBox="1"/>
          <p:nvPr/>
        </p:nvSpPr>
        <p:spPr>
          <a:xfrm>
            <a:off x="2113570" y="1783080"/>
            <a:ext cx="1674658"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Validate</a:t>
            </a:r>
            <a:endParaRPr lang="en-US" sz="1400" dirty="0"/>
          </a:p>
        </p:txBody>
      </p:sp>
      <p:sp>
        <p:nvSpPr>
          <p:cNvPr id="8" name="Text 6"/>
          <p:cNvSpPr txBox="1"/>
          <p:nvPr/>
        </p:nvSpPr>
        <p:spPr>
          <a:xfrm>
            <a:off x="2186722"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@Valid request DTO with field-level error messages</a:t>
            </a:r>
            <a:endParaRPr lang="en-US" sz="1300" dirty="0"/>
          </a:p>
        </p:txBody>
      </p:sp>
      <p:sp>
        <p:nvSpPr>
          <p:cNvPr id="9" name="Text 7"/>
          <p:cNvSpPr txBox="1"/>
          <p:nvPr/>
        </p:nvSpPr>
        <p:spPr>
          <a:xfrm>
            <a:off x="3678501" y="1783080"/>
            <a:ext cx="1674658"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Verify PIN</a:t>
            </a:r>
            <a:endParaRPr lang="en-US" sz="1400" dirty="0"/>
          </a:p>
        </p:txBody>
      </p:sp>
      <p:sp>
        <p:nvSpPr>
          <p:cNvPr id="10" name="Text 8"/>
          <p:cNvSpPr txBox="1"/>
          <p:nvPr/>
        </p:nvSpPr>
        <p:spPr>
          <a:xfrm>
            <a:off x="3751653"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6-digit transaction PIN checked against its BCrypt hash</a:t>
            </a:r>
            <a:endParaRPr lang="en-US" sz="1300" dirty="0"/>
          </a:p>
        </p:txBody>
      </p:sp>
      <p:sp>
        <p:nvSpPr>
          <p:cNvPr id="11" name="Text 9"/>
          <p:cNvSpPr txBox="1"/>
          <p:nvPr/>
        </p:nvSpPr>
        <p:spPr>
          <a:xfrm>
            <a:off x="5243431" y="1783080"/>
            <a:ext cx="1674658"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Check limits</a:t>
            </a:r>
            <a:endParaRPr lang="en-US" sz="1400" dirty="0"/>
          </a:p>
        </p:txBody>
      </p:sp>
      <p:sp>
        <p:nvSpPr>
          <p:cNvPr id="12" name="Text 10"/>
          <p:cNvSpPr txBox="1"/>
          <p:nvPr/>
        </p:nvSpPr>
        <p:spPr>
          <a:xfrm>
            <a:off x="5316583"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Per-channel cap, payee limit, 24-hour cooling, daily and UPI limits</a:t>
            </a:r>
            <a:endParaRPr lang="en-US" sz="1300" dirty="0"/>
          </a:p>
        </p:txBody>
      </p:sp>
      <p:sp>
        <p:nvSpPr>
          <p:cNvPr id="13" name="Text 11"/>
          <p:cNvSpPr txBox="1"/>
          <p:nvPr/>
        </p:nvSpPr>
        <p:spPr>
          <a:xfrm>
            <a:off x="6808361" y="1783080"/>
            <a:ext cx="1674658"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Lock rows</a:t>
            </a:r>
            <a:endParaRPr lang="en-US" sz="1400" dirty="0"/>
          </a:p>
        </p:txBody>
      </p:sp>
      <p:sp>
        <p:nvSpPr>
          <p:cNvPr id="14" name="Text 12"/>
          <p:cNvSpPr txBox="1"/>
          <p:nvPr/>
        </p:nvSpPr>
        <p:spPr>
          <a:xfrm>
            <a:off x="6881513"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SELECT … FOR UPDATE, always in ascending account-id order</a:t>
            </a:r>
            <a:endParaRPr lang="en-US" sz="1300" dirty="0"/>
          </a:p>
        </p:txBody>
      </p:sp>
      <p:sp>
        <p:nvSpPr>
          <p:cNvPr id="15" name="Text 13"/>
          <p:cNvSpPr txBox="1"/>
          <p:nvPr/>
        </p:nvSpPr>
        <p:spPr>
          <a:xfrm>
            <a:off x="8373291" y="1783080"/>
            <a:ext cx="1674658"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Post ledger</a:t>
            </a:r>
            <a:endParaRPr lang="en-US" sz="1400" dirty="0"/>
          </a:p>
        </p:txBody>
      </p:sp>
      <p:sp>
        <p:nvSpPr>
          <p:cNvPr id="16" name="Text 14"/>
          <p:cNvSpPr txBox="1"/>
          <p:nvPr/>
        </p:nvSpPr>
        <p:spPr>
          <a:xfrm>
            <a:off x="8446443"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Debit and credit with a shared reference; balance_after recorded</a:t>
            </a:r>
            <a:endParaRPr lang="en-US" sz="1300" dirty="0"/>
          </a:p>
        </p:txBody>
      </p:sp>
      <p:sp>
        <p:nvSpPr>
          <p:cNvPr id="17" name="Text 15"/>
          <p:cNvSpPr txBox="1"/>
          <p:nvPr/>
        </p:nvSpPr>
        <p:spPr>
          <a:xfrm>
            <a:off x="9938222" y="1783080"/>
            <a:ext cx="1674658"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Notify &amp; commit</a:t>
            </a:r>
            <a:endParaRPr lang="en-US" sz="1400" dirty="0"/>
          </a:p>
        </p:txBody>
      </p:sp>
      <p:sp>
        <p:nvSpPr>
          <p:cNvPr id="18" name="Text 16"/>
          <p:cNvSpPr txBox="1"/>
          <p:nvPr/>
        </p:nvSpPr>
        <p:spPr>
          <a:xfrm>
            <a:off x="10011374" y="2770632"/>
            <a:ext cx="1400338" cy="1188720"/>
          </a:xfrm>
          <a:prstGeom prst="rect">
            <a:avLst/>
          </a:prstGeom>
          <a:noFill/>
          <a:ln/>
        </p:spPr>
        <p:txBody>
          <a:bodyPr wrap="square" lIns="0" tIns="0" rIns="0" bIns="0" rtlCol="0" anchor="t"/>
          <a:lstStyle/>
          <a:p>
            <a:pPr indent="0" marL="0">
              <a:buNone/>
            </a:pPr>
            <a:r>
              <a:rPr lang="en-US" sz="1300" dirty="0">
                <a:solidFill>
                  <a:schemeClr val="tx1"/>
                </a:solidFill>
              </a:rPr>
              <a:t>Both parties notified, then @Transactional commits</a:t>
            </a:r>
            <a:endParaRPr lang="en-US" sz="1300" dirty="0"/>
          </a:p>
        </p:txBody>
      </p:sp>
      <p:sp>
        <p:nvSpPr>
          <p:cNvPr id="19" name="card"/>
          <p:cNvSpPr/>
          <p:nvPr/>
        </p:nvSpPr>
        <p:spPr>
          <a:xfrm>
            <a:off x="548640" y="4160520"/>
            <a:ext cx="5303520" cy="2011680"/>
          </a:xfrm>
          <a:prstGeom prst="roundRect">
            <a:avLst>
              <a:gd name="adj" fmla="val 3636"/>
            </a:avLst>
          </a:prstGeom>
          <a:solidFill>
            <a:schemeClr val="bg2"/>
          </a:solidFill>
          <a:ln/>
        </p:spPr>
      </p:sp>
      <p:sp>
        <p:nvSpPr>
          <p:cNvPr id="20" name="icon-bg"/>
          <p:cNvSpPr/>
          <p:nvPr/>
        </p:nvSpPr>
        <p:spPr>
          <a:xfrm>
            <a:off x="777240" y="4389120"/>
            <a:ext cx="502920" cy="502920"/>
          </a:xfrm>
          <a:prstGeom prst="ellipse">
            <a:avLst/>
          </a:prstGeom>
          <a:solidFill>
            <a:schemeClr val="accent5"/>
          </a:solidFill>
          <a:ln/>
        </p:spPr>
      </p:sp>
      <p:pic>
        <p:nvPicPr>
          <p:cNvPr id="21" name="icon-FaRotateLeft" descr="preencoded.png">    </p:cNvPr>
          <p:cNvPicPr>
            <a:picLocks noChangeAspect="1"/>
          </p:cNvPicPr>
          <p:nvPr/>
        </p:nvPicPr>
        <p:blipFill>
          <a:blip r:embed="rId1"/>
          <a:stretch>
            <a:fillRect/>
          </a:stretch>
        </p:blipFill>
        <p:spPr>
          <a:xfrm>
            <a:off x="913028" y="4524908"/>
            <a:ext cx="231343" cy="231343"/>
          </a:xfrm>
          <a:prstGeom prst="rect">
            <a:avLst/>
          </a:prstGeom>
        </p:spPr>
      </p:pic>
      <p:sp>
        <p:nvSpPr>
          <p:cNvPr id="22" name="Text 19"/>
          <p:cNvSpPr txBox="1"/>
          <p:nvPr/>
        </p:nvSpPr>
        <p:spPr>
          <a:xfrm>
            <a:off x="1463040" y="4434840"/>
            <a:ext cx="4206240" cy="365760"/>
          </a:xfrm>
          <a:prstGeom prst="rect">
            <a:avLst/>
          </a:prstGeom>
          <a:noFill/>
          <a:ln/>
        </p:spPr>
        <p:txBody>
          <a:bodyPr wrap="square" lIns="0" tIns="0" rIns="0" bIns="0" rtlCol="0" anchor="t"/>
          <a:lstStyle/>
          <a:p>
            <a:pPr indent="0" marL="0">
              <a:buNone/>
            </a:pPr>
            <a:r>
              <a:rPr lang="en-US" sz="1800" b="1" dirty="0">
                <a:solidFill>
                  <a:schemeClr val="tx2"/>
                </a:solidFill>
              </a:rPr>
              <a:t>All or nothing</a:t>
            </a:r>
            <a:endParaRPr lang="en-US" sz="1800" dirty="0"/>
          </a:p>
        </p:txBody>
      </p:sp>
      <p:sp>
        <p:nvSpPr>
          <p:cNvPr id="23" name="Text 20"/>
          <p:cNvSpPr txBox="1"/>
          <p:nvPr/>
        </p:nvSpPr>
        <p:spPr>
          <a:xfrm>
            <a:off x="1463040" y="4846320"/>
            <a:ext cx="4206240" cy="1280160"/>
          </a:xfrm>
          <a:prstGeom prst="rect">
            <a:avLst/>
          </a:prstGeom>
          <a:noFill/>
          <a:ln/>
        </p:spPr>
        <p:txBody>
          <a:bodyPr wrap="square" lIns="0" tIns="0" rIns="0" bIns="0" rtlCol="0" anchor="t"/>
          <a:lstStyle/>
          <a:p>
            <a:pPr indent="0" marL="0">
              <a:buNone/>
            </a:pPr>
            <a:r>
              <a:rPr lang="en-US" sz="1400" dirty="0">
                <a:solidFill>
                  <a:schemeClr val="tx1"/>
                </a:solidFill>
              </a:rPr>
              <a:t>If any step throws, the transaction rolls back: no partial debit, no orphan ledger row. The customer sees a clear JSON error, for example "This exceeds your daily transfer limit."</a:t>
            </a:r>
            <a:endParaRPr lang="en-US" sz="1400" dirty="0"/>
          </a:p>
        </p:txBody>
      </p:sp>
      <p:sp>
        <p:nvSpPr>
          <p:cNvPr id="24" name="transfer-screen-window"/>
          <p:cNvSpPr/>
          <p:nvPr/>
        </p:nvSpPr>
        <p:spPr>
          <a:xfrm>
            <a:off x="6172200" y="4023360"/>
            <a:ext cx="3749040" cy="232802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25" name="Shape 22"/>
          <p:cNvSpPr/>
          <p:nvPr/>
        </p:nvSpPr>
        <p:spPr>
          <a:xfrm>
            <a:off x="6172200" y="4023360"/>
            <a:ext cx="3749040" cy="219456"/>
          </a:xfrm>
          <a:prstGeom prst="rect">
            <a:avLst/>
          </a:prstGeom>
          <a:solidFill>
            <a:srgbClr val="E2E8F0"/>
          </a:solidFill>
          <a:ln/>
        </p:spPr>
      </p:sp>
      <p:sp>
        <p:nvSpPr>
          <p:cNvPr id="26" name="Shape 23"/>
          <p:cNvSpPr/>
          <p:nvPr/>
        </p:nvSpPr>
        <p:spPr>
          <a:xfrm>
            <a:off x="6263640" y="4091940"/>
            <a:ext cx="82296" cy="82296"/>
          </a:xfrm>
          <a:prstGeom prst="ellipse">
            <a:avLst/>
          </a:prstGeom>
          <a:solidFill>
            <a:srgbClr val="F87171"/>
          </a:solidFill>
          <a:ln/>
        </p:spPr>
      </p:sp>
      <p:sp>
        <p:nvSpPr>
          <p:cNvPr id="27" name="Shape 24"/>
          <p:cNvSpPr/>
          <p:nvPr/>
        </p:nvSpPr>
        <p:spPr>
          <a:xfrm>
            <a:off x="6400800" y="4091940"/>
            <a:ext cx="82296" cy="82296"/>
          </a:xfrm>
          <a:prstGeom prst="ellipse">
            <a:avLst/>
          </a:prstGeom>
          <a:solidFill>
            <a:srgbClr val="FBBF24"/>
          </a:solidFill>
          <a:ln/>
        </p:spPr>
      </p:sp>
      <p:sp>
        <p:nvSpPr>
          <p:cNvPr id="28" name="Shape 25"/>
          <p:cNvSpPr/>
          <p:nvPr/>
        </p:nvSpPr>
        <p:spPr>
          <a:xfrm>
            <a:off x="6537960" y="4091940"/>
            <a:ext cx="82296" cy="82296"/>
          </a:xfrm>
          <a:prstGeom prst="ellipse">
            <a:avLst/>
          </a:prstGeom>
          <a:solidFill>
            <a:srgbClr val="34D399"/>
          </a:solidFill>
          <a:ln/>
        </p:spPr>
      </p:sp>
      <p:pic>
        <p:nvPicPr>
          <p:cNvPr id="29" name="transfer-screen" descr="transfer-screen">    </p:cNvPr>
          <p:cNvPicPr>
            <a:picLocks noChangeAspect="1"/>
          </p:cNvPicPr>
          <p:nvPr/>
        </p:nvPicPr>
        <p:blipFill>
          <a:blip r:embed="rId2"/>
          <a:stretch>
            <a:fillRect/>
          </a:stretch>
        </p:blipFill>
        <p:spPr>
          <a:xfrm>
            <a:off x="6172200" y="4242816"/>
            <a:ext cx="3749040" cy="2108564"/>
          </a:xfrm>
          <a:prstGeom prst="rect">
            <a:avLst/>
          </a:prstGeom>
        </p:spPr>
      </p:pic>
      <p:sp>
        <p:nvSpPr>
          <p:cNvPr id="30" name="Text 26"/>
          <p:cNvSpPr txBox="1"/>
          <p:nvPr/>
        </p:nvSpPr>
        <p:spPr>
          <a:xfrm>
            <a:off x="10058400" y="4069080"/>
            <a:ext cx="1554480" cy="274320"/>
          </a:xfrm>
          <a:prstGeom prst="rect">
            <a:avLst/>
          </a:prstGeom>
          <a:noFill/>
          <a:ln/>
        </p:spPr>
        <p:txBody>
          <a:bodyPr wrap="square" lIns="0" tIns="0" rIns="0" bIns="0" rtlCol="0" anchor="t"/>
          <a:lstStyle/>
          <a:p>
            <a:pPr algn="l" indent="0" marL="0">
              <a:buNone/>
            </a:pPr>
            <a:r>
              <a:rPr lang="en-US" sz="1200" dirty="0">
                <a:solidFill>
                  <a:schemeClr val="accent6"/>
                </a:solidFill>
              </a:rPr>
              <a:t>Transfer screen</a:t>
            </a:r>
            <a:endParaRPr lang="en-US" sz="1200" dirty="0"/>
          </a:p>
          <a:p>
            <a:pPr algn="l" indent="0" marL="0">
              <a:buNone/>
            </a:pPr>
            <a:r>
              <a:rPr lang="en-US" sz="1200" dirty="0">
                <a:solidFill>
                  <a:schemeClr val="accent6"/>
                </a:solidFill>
              </a:rPr>
              <a:t>(React)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PIPELINE 2</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Servlet request pipeline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What happens between a click in the portal and the HTML page that comes back.</a:t>
            </a:r>
            <a:endParaRPr lang="en-US" sz="1600" dirty="0"/>
          </a:p>
        </p:txBody>
      </p:sp>
      <p:sp>
        <p:nvSpPr>
          <p:cNvPr id="5" name="Text 3"/>
          <p:cNvSpPr txBox="1"/>
          <p:nvPr/>
        </p:nvSpPr>
        <p:spPr>
          <a:xfrm>
            <a:off x="548640" y="1783080"/>
            <a:ext cx="1935480" cy="822960"/>
          </a:xfrm>
          <a:prstGeom prst="homePlate">
            <a:avLst/>
          </a:prstGeom>
          <a:solidFill>
            <a:schemeClr val="accent1"/>
          </a:solidFill>
          <a:ln/>
        </p:spPr>
        <p:txBody>
          <a:bodyPr wrap="square" lIns="25400" tIns="50800" rIns="177800" bIns="25400" rtlCol="0" anchor="ctr"/>
          <a:lstStyle/>
          <a:p>
            <a:pPr algn="ctr" indent="0" marL="0">
              <a:buNone/>
            </a:pPr>
            <a:r>
              <a:rPr lang="en-US" sz="1400" b="1" dirty="0">
                <a:solidFill>
                  <a:schemeClr val="bg1"/>
                </a:solidFill>
              </a:rPr>
              <a:t>Tomcat</a:t>
            </a:r>
            <a:endParaRPr lang="en-US" sz="1400" dirty="0"/>
          </a:p>
        </p:txBody>
      </p:sp>
      <p:sp>
        <p:nvSpPr>
          <p:cNvPr id="6" name="Text 4"/>
          <p:cNvSpPr txBox="1"/>
          <p:nvPr/>
        </p:nvSpPr>
        <p:spPr>
          <a:xfrm>
            <a:off x="621792" y="2770632"/>
            <a:ext cx="1661160" cy="914400"/>
          </a:xfrm>
          <a:prstGeom prst="rect">
            <a:avLst/>
          </a:prstGeom>
          <a:noFill/>
          <a:ln/>
        </p:spPr>
        <p:txBody>
          <a:bodyPr wrap="square" lIns="0" tIns="0" rIns="0" bIns="0" rtlCol="0" anchor="t"/>
          <a:lstStyle/>
          <a:p>
            <a:pPr indent="0" marL="0">
              <a:buNone/>
            </a:pPr>
            <a:r>
              <a:rPr lang="en-US" sz="1300" dirty="0">
                <a:solidFill>
                  <a:schemeClr val="tx1"/>
                </a:solidFill>
              </a:rPr>
              <a:t>Embedded container receives GET /portal/report</a:t>
            </a:r>
            <a:endParaRPr lang="en-US" sz="1300" dirty="0"/>
          </a:p>
        </p:txBody>
      </p:sp>
      <p:sp>
        <p:nvSpPr>
          <p:cNvPr id="7" name="Text 5"/>
          <p:cNvSpPr txBox="1"/>
          <p:nvPr/>
        </p:nvSpPr>
        <p:spPr>
          <a:xfrm>
            <a:off x="2374392" y="1783080"/>
            <a:ext cx="1935480"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Security chain</a:t>
            </a:r>
            <a:endParaRPr lang="en-US" sz="1400" dirty="0"/>
          </a:p>
        </p:txBody>
      </p:sp>
      <p:sp>
        <p:nvSpPr>
          <p:cNvPr id="8" name="Text 6"/>
          <p:cNvSpPr txBox="1"/>
          <p:nvPr/>
        </p:nvSpPr>
        <p:spPr>
          <a:xfrm>
            <a:off x="2447544" y="2770632"/>
            <a:ext cx="1661160" cy="914400"/>
          </a:xfrm>
          <a:prstGeom prst="rect">
            <a:avLst/>
          </a:prstGeom>
          <a:noFill/>
          <a:ln/>
        </p:spPr>
        <p:txBody>
          <a:bodyPr wrap="square" lIns="0" tIns="0" rIns="0" bIns="0" rtlCol="0" anchor="t"/>
          <a:lstStyle/>
          <a:p>
            <a:pPr indent="0" marL="0">
              <a:buNone/>
            </a:pPr>
            <a:r>
              <a:rPr lang="en-US" sz="1300" dirty="0">
                <a:solidFill>
                  <a:schemeClr val="tx1"/>
                </a:solidFill>
              </a:rPr>
              <a:t>Spring Security lets /portal/* through to the app</a:t>
            </a:r>
            <a:endParaRPr lang="en-US" sz="1300" dirty="0"/>
          </a:p>
        </p:txBody>
      </p:sp>
      <p:sp>
        <p:nvSpPr>
          <p:cNvPr id="9" name="Text 7"/>
          <p:cNvSpPr txBox="1"/>
          <p:nvPr/>
        </p:nvSpPr>
        <p:spPr>
          <a:xfrm>
            <a:off x="4200144" y="1783080"/>
            <a:ext cx="1935480"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Auth filter</a:t>
            </a:r>
            <a:endParaRPr lang="en-US" sz="1400" dirty="0"/>
          </a:p>
        </p:txBody>
      </p:sp>
      <p:sp>
        <p:nvSpPr>
          <p:cNvPr id="10" name="Text 8"/>
          <p:cNvSpPr txBox="1"/>
          <p:nvPr/>
        </p:nvSpPr>
        <p:spPr>
          <a:xfrm>
            <a:off x="4273296" y="2770632"/>
            <a:ext cx="1661160" cy="914400"/>
          </a:xfrm>
          <a:prstGeom prst="rect">
            <a:avLst/>
          </a:prstGeom>
          <a:noFill/>
          <a:ln/>
        </p:spPr>
        <p:txBody>
          <a:bodyPr wrap="square" lIns="0" tIns="0" rIns="0" bIns="0" rtlCol="0" anchor="t"/>
          <a:lstStyle/>
          <a:p>
            <a:pPr indent="0" marL="0">
              <a:buNone/>
            </a:pPr>
            <a:r>
              <a:rPr lang="en-US" sz="1300" dirty="0">
                <a:solidFill>
                  <a:schemeClr val="tx1"/>
                </a:solidFill>
              </a:rPr>
              <a:t>PortalAuthFilter: no session means redirect to login</a:t>
            </a:r>
            <a:endParaRPr lang="en-US" sz="1300" dirty="0"/>
          </a:p>
        </p:txBody>
      </p:sp>
      <p:sp>
        <p:nvSpPr>
          <p:cNvPr id="11" name="Text 9"/>
          <p:cNvSpPr txBox="1"/>
          <p:nvPr/>
        </p:nvSpPr>
        <p:spPr>
          <a:xfrm>
            <a:off x="6025896" y="1783080"/>
            <a:ext cx="1935480"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doGet()</a:t>
            </a:r>
            <a:endParaRPr lang="en-US" sz="1400" dirty="0"/>
          </a:p>
        </p:txBody>
      </p:sp>
      <p:sp>
        <p:nvSpPr>
          <p:cNvPr id="12" name="Text 10"/>
          <p:cNvSpPr txBox="1"/>
          <p:nvPr/>
        </p:nvSpPr>
        <p:spPr>
          <a:xfrm>
            <a:off x="6099048" y="2770632"/>
            <a:ext cx="1661160" cy="914400"/>
          </a:xfrm>
          <a:prstGeom prst="rect">
            <a:avLst/>
          </a:prstGeom>
          <a:noFill/>
          <a:ln/>
        </p:spPr>
        <p:txBody>
          <a:bodyPr wrap="square" lIns="0" tIns="0" rIns="0" bIns="0" rtlCol="0" anchor="t"/>
          <a:lstStyle/>
          <a:p>
            <a:pPr indent="0" marL="0">
              <a:buNone/>
            </a:pPr>
            <a:r>
              <a:rPr lang="en-US" sz="1300" dirty="0">
                <a:solidFill>
                  <a:schemeClr val="tx1"/>
                </a:solidFill>
              </a:rPr>
              <a:t>PortalServlet template: session, errors, audit</a:t>
            </a:r>
            <a:endParaRPr lang="en-US" sz="1300" dirty="0"/>
          </a:p>
        </p:txBody>
      </p:sp>
      <p:sp>
        <p:nvSpPr>
          <p:cNvPr id="13" name="Text 11"/>
          <p:cNvSpPr txBox="1"/>
          <p:nvPr/>
        </p:nvSpPr>
        <p:spPr>
          <a:xfrm>
            <a:off x="7851648" y="1783080"/>
            <a:ext cx="1935480"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DAO + JDBC</a:t>
            </a:r>
            <a:endParaRPr lang="en-US" sz="1400" dirty="0"/>
          </a:p>
        </p:txBody>
      </p:sp>
      <p:sp>
        <p:nvSpPr>
          <p:cNvPr id="14" name="Text 12"/>
          <p:cNvSpPr txBox="1"/>
          <p:nvPr/>
        </p:nvSpPr>
        <p:spPr>
          <a:xfrm>
            <a:off x="7924800" y="2770632"/>
            <a:ext cx="1661160" cy="914400"/>
          </a:xfrm>
          <a:prstGeom prst="rect">
            <a:avLst/>
          </a:prstGeom>
          <a:noFill/>
          <a:ln/>
        </p:spPr>
        <p:txBody>
          <a:bodyPr wrap="square" lIns="0" tIns="0" rIns="0" bIns="0" rtlCol="0" anchor="t"/>
          <a:lstStyle/>
          <a:p>
            <a:pPr indent="0" marL="0">
              <a:buNone/>
            </a:pPr>
            <a:r>
              <a:rPr lang="en-US" sz="1300" dirty="0">
                <a:solidFill>
                  <a:schemeClr val="tx1"/>
                </a:solidFill>
              </a:rPr>
              <a:t>PreparedStatement queries scoped to the user</a:t>
            </a:r>
            <a:endParaRPr lang="en-US" sz="1300" dirty="0"/>
          </a:p>
        </p:txBody>
      </p:sp>
      <p:sp>
        <p:nvSpPr>
          <p:cNvPr id="15" name="Text 13"/>
          <p:cNvSpPr txBox="1"/>
          <p:nvPr/>
        </p:nvSpPr>
        <p:spPr>
          <a:xfrm>
            <a:off x="9677400" y="1783080"/>
            <a:ext cx="1935480"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Html.send()</a:t>
            </a:r>
            <a:endParaRPr lang="en-US" sz="1400" dirty="0"/>
          </a:p>
        </p:txBody>
      </p:sp>
      <p:sp>
        <p:nvSpPr>
          <p:cNvPr id="16" name="Text 14"/>
          <p:cNvSpPr txBox="1"/>
          <p:nvPr/>
        </p:nvSpPr>
        <p:spPr>
          <a:xfrm>
            <a:off x="9750552" y="2770632"/>
            <a:ext cx="1661160" cy="914400"/>
          </a:xfrm>
          <a:prstGeom prst="rect">
            <a:avLst/>
          </a:prstGeom>
          <a:noFill/>
          <a:ln/>
        </p:spPr>
        <p:txBody>
          <a:bodyPr wrap="square" lIns="0" tIns="0" rIns="0" bIns="0" rtlCol="0" anchor="t"/>
          <a:lstStyle/>
          <a:p>
            <a:pPr indent="0" marL="0">
              <a:buNone/>
            </a:pPr>
            <a:r>
              <a:rPr lang="en-US" sz="1300" dirty="0">
                <a:solidFill>
                  <a:schemeClr val="tx1"/>
                </a:solidFill>
              </a:rPr>
              <a:t>Escaped HTML, no-store cache header</a:t>
            </a:r>
            <a:endParaRPr lang="en-US" sz="1300" dirty="0"/>
          </a:p>
        </p:txBody>
      </p:sp>
      <p:sp>
        <p:nvSpPr>
          <p:cNvPr id="17" name="Text 15"/>
          <p:cNvSpPr txBox="1"/>
          <p:nvPr/>
        </p:nvSpPr>
        <p:spPr>
          <a:xfrm>
            <a:off x="548640" y="3840480"/>
            <a:ext cx="7315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ASYNC LANE  (started by doGet() in step 4)</a:t>
            </a:r>
            <a:endParaRPr lang="en-US" sz="1200" dirty="0"/>
          </a:p>
        </p:txBody>
      </p:sp>
      <p:sp>
        <p:nvSpPr>
          <p:cNvPr id="18" name="Text 16"/>
          <p:cNvSpPr txBox="1"/>
          <p:nvPr/>
        </p:nvSpPr>
        <p:spPr>
          <a:xfrm>
            <a:off x="548640" y="4206240"/>
            <a:ext cx="23774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record(event)</a:t>
            </a:r>
            <a:endParaRPr lang="en-US" sz="1400" dirty="0"/>
          </a:p>
          <a:p>
            <a:pPr algn="ctr" indent="0" marL="0">
              <a:buNone/>
            </a:pPr>
            <a:r>
              <a:rPr lang="en-US" sz="1200" dirty="0">
                <a:solidFill>
                  <a:schemeClr val="accent6"/>
                </a:solidFill>
              </a:rPr>
              <a:t>request thread returns at once</a:t>
            </a:r>
            <a:endParaRPr lang="en-US" sz="1400" dirty="0"/>
          </a:p>
        </p:txBody>
      </p:sp>
      <p:sp>
        <p:nvSpPr>
          <p:cNvPr id="19" name="Shape 17"/>
          <p:cNvSpPr/>
          <p:nvPr/>
        </p:nvSpPr>
        <p:spPr>
          <a:xfrm>
            <a:off x="2926080" y="4636008"/>
            <a:ext cx="457200" cy="0"/>
          </a:xfrm>
          <a:prstGeom prst="line">
            <a:avLst/>
          </a:prstGeom>
          <a:noFill/>
          <a:ln w="22225">
            <a:solidFill>
              <a:srgbClr val="94A3B8"/>
            </a:solidFill>
            <a:prstDash val="solid"/>
            <a:tailEnd type="triangle"/>
          </a:ln>
        </p:spPr>
      </p:sp>
      <p:sp>
        <p:nvSpPr>
          <p:cNvPr id="20" name="Text 18"/>
          <p:cNvSpPr txBox="1"/>
          <p:nvPr/>
        </p:nvSpPr>
        <p:spPr>
          <a:xfrm>
            <a:off x="3383280" y="4206240"/>
            <a:ext cx="2377440" cy="868680"/>
          </a:xfrm>
          <a:prstGeom prst="roundRect">
            <a:avLst>
              <a:gd name="adj" fmla="val 8421"/>
            </a:avLst>
          </a:prstGeom>
          <a:solidFill>
            <a:srgbClr val="FEF3C7"/>
          </a:solidFill>
          <a:ln/>
        </p:spPr>
        <p:txBody>
          <a:bodyPr wrap="square" lIns="76200" tIns="76200" rIns="76200" bIns="76200" rtlCol="0" anchor="ctr"/>
          <a:lstStyle/>
          <a:p>
            <a:pPr algn="ctr" indent="0" marL="0">
              <a:buNone/>
            </a:pPr>
            <a:r>
              <a:rPr lang="en-US" sz="1400" b="1" dirty="0">
                <a:solidFill>
                  <a:schemeClr val="tx1"/>
                </a:solidFill>
              </a:rPr>
              <a:t>BlockingQueue</a:t>
            </a:r>
            <a:endParaRPr lang="en-US" sz="1400" dirty="0"/>
          </a:p>
          <a:p>
            <a:pPr algn="ctr" indent="0" marL="0">
              <a:buNone/>
            </a:pPr>
            <a:r>
              <a:rPr lang="en-US" sz="1200" dirty="0">
                <a:solidFill>
                  <a:schemeClr val="accent6"/>
                </a:solidFill>
              </a:rPr>
              <a:t>up to 10,000 events</a:t>
            </a:r>
            <a:endParaRPr lang="en-US" sz="1400" dirty="0"/>
          </a:p>
        </p:txBody>
      </p:sp>
      <p:sp>
        <p:nvSpPr>
          <p:cNvPr id="21" name="Shape 19"/>
          <p:cNvSpPr/>
          <p:nvPr/>
        </p:nvSpPr>
        <p:spPr>
          <a:xfrm>
            <a:off x="5760720" y="4636008"/>
            <a:ext cx="457200" cy="0"/>
          </a:xfrm>
          <a:prstGeom prst="line">
            <a:avLst/>
          </a:prstGeom>
          <a:noFill/>
          <a:ln w="22225">
            <a:solidFill>
              <a:srgbClr val="94A3B8"/>
            </a:solidFill>
            <a:prstDash val="solid"/>
            <a:tailEnd type="triangle"/>
          </a:ln>
        </p:spPr>
      </p:sp>
      <p:sp>
        <p:nvSpPr>
          <p:cNvPr id="22" name="Text 20"/>
          <p:cNvSpPr txBox="1"/>
          <p:nvPr/>
        </p:nvSpPr>
        <p:spPr>
          <a:xfrm>
            <a:off x="6217920" y="4206240"/>
            <a:ext cx="23774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audit-log-writer</a:t>
            </a:r>
            <a:endParaRPr lang="en-US" sz="1400" dirty="0"/>
          </a:p>
          <a:p>
            <a:pPr algn="ctr" indent="0" marL="0">
              <a:buNone/>
            </a:pPr>
            <a:r>
              <a:rPr lang="en-US" sz="1200" dirty="0">
                <a:solidFill>
                  <a:schemeClr val="accent6"/>
                </a:solidFill>
              </a:rPr>
              <a:t>background daemon thread</a:t>
            </a:r>
            <a:endParaRPr lang="en-US" sz="1400" dirty="0"/>
          </a:p>
        </p:txBody>
      </p:sp>
      <p:sp>
        <p:nvSpPr>
          <p:cNvPr id="23" name="Shape 21"/>
          <p:cNvSpPr/>
          <p:nvPr/>
        </p:nvSpPr>
        <p:spPr>
          <a:xfrm>
            <a:off x="8595360" y="4636008"/>
            <a:ext cx="457200" cy="0"/>
          </a:xfrm>
          <a:prstGeom prst="line">
            <a:avLst/>
          </a:prstGeom>
          <a:noFill/>
          <a:ln w="22225">
            <a:solidFill>
              <a:srgbClr val="94A3B8"/>
            </a:solidFill>
            <a:prstDash val="solid"/>
            <a:tailEnd type="triangle"/>
          </a:ln>
        </p:spPr>
      </p:sp>
      <p:sp>
        <p:nvSpPr>
          <p:cNvPr id="24" name="Text 22"/>
          <p:cNvSpPr txBox="1"/>
          <p:nvPr/>
        </p:nvSpPr>
        <p:spPr>
          <a:xfrm>
            <a:off x="9052560" y="4206240"/>
            <a:ext cx="23774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JDBC batch</a:t>
            </a:r>
            <a:endParaRPr lang="en-US" sz="1400" dirty="0"/>
          </a:p>
          <a:p>
            <a:pPr algn="ctr" indent="0" marL="0">
              <a:buNone/>
            </a:pPr>
            <a:r>
              <a:rPr lang="en-US" sz="1200" dirty="0">
                <a:solidFill>
                  <a:schemeClr val="accent6"/>
                </a:solidFill>
              </a:rPr>
              <a:t>100 rows, commit / rollback</a:t>
            </a:r>
            <a:endParaRPr lang="en-US" sz="1400" dirty="0"/>
          </a:p>
        </p:txBody>
      </p:sp>
      <p:sp>
        <p:nvSpPr>
          <p:cNvPr id="25" name="card"/>
          <p:cNvSpPr/>
          <p:nvPr/>
        </p:nvSpPr>
        <p:spPr>
          <a:xfrm>
            <a:off x="548640" y="5394960"/>
            <a:ext cx="11064240" cy="777240"/>
          </a:xfrm>
          <a:prstGeom prst="roundRect">
            <a:avLst>
              <a:gd name="adj" fmla="val 9412"/>
            </a:avLst>
          </a:prstGeom>
          <a:solidFill>
            <a:srgbClr val="EFF6FF"/>
          </a:solidFill>
          <a:ln/>
        </p:spPr>
      </p:sp>
      <p:sp>
        <p:nvSpPr>
          <p:cNvPr id="26" name="Text 24"/>
          <p:cNvSpPr txBox="1"/>
          <p:nvPr/>
        </p:nvSpPr>
        <p:spPr>
          <a:xfrm>
            <a:off x="777240" y="5596128"/>
            <a:ext cx="10607040" cy="411480"/>
          </a:xfrm>
          <a:prstGeom prst="rect">
            <a:avLst/>
          </a:prstGeom>
          <a:noFill/>
          <a:ln/>
        </p:spPr>
        <p:txBody>
          <a:bodyPr wrap="square" lIns="0" tIns="0" rIns="0" bIns="0" rtlCol="0" anchor="t"/>
          <a:lstStyle/>
          <a:p>
            <a:pPr indent="0" marL="0">
              <a:buNone/>
            </a:pPr>
            <a:r>
              <a:rPr lang="en-US" sz="1500" b="1" dirty="0">
                <a:solidFill>
                  <a:schemeClr val="accent1"/>
                </a:solidFill>
              </a:rPr>
              <a:t>Result:  </a:t>
            </a:r>
            <a:pPr indent="0" marL="0">
              <a:buNone/>
            </a:pPr>
            <a:r>
              <a:rPr lang="en-US" sz="1500" dirty="0">
                <a:solidFill>
                  <a:schemeClr val="tx1"/>
                </a:solidFill>
              </a:rPr>
              <a:t>pages render in milliseconds because the request thread never waits for the audit write, yet every view is still recorded.</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PIPELINE 3</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Build, test &amp; run pipeline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Every build compiles the code, tests it against a real embedded server, and packages the app.</a:t>
            </a:r>
            <a:endParaRPr lang="en-US" sz="1600" dirty="0"/>
          </a:p>
        </p:txBody>
      </p:sp>
      <p:sp>
        <p:nvSpPr>
          <p:cNvPr id="5" name="Text 3"/>
          <p:cNvSpPr txBox="1"/>
          <p:nvPr/>
        </p:nvSpPr>
        <p:spPr>
          <a:xfrm>
            <a:off x="548640" y="1783080"/>
            <a:ext cx="1935480" cy="822960"/>
          </a:xfrm>
          <a:prstGeom prst="homePlate">
            <a:avLst/>
          </a:prstGeom>
          <a:solidFill>
            <a:srgbClr val="1E3A8A"/>
          </a:solidFill>
          <a:ln/>
        </p:spPr>
        <p:txBody>
          <a:bodyPr wrap="square" lIns="25400" tIns="50800" rIns="177800" bIns="25400" rtlCol="0" anchor="ctr"/>
          <a:lstStyle/>
          <a:p>
            <a:pPr algn="ctr" indent="0" marL="0">
              <a:buNone/>
            </a:pPr>
            <a:r>
              <a:rPr lang="en-US" sz="1400" b="1" dirty="0">
                <a:solidFill>
                  <a:schemeClr val="bg1"/>
                </a:solidFill>
              </a:rPr>
              <a:t>Source</a:t>
            </a:r>
            <a:endParaRPr lang="en-US" sz="1400" dirty="0"/>
          </a:p>
        </p:txBody>
      </p:sp>
      <p:sp>
        <p:nvSpPr>
          <p:cNvPr id="6" name="Text 4"/>
          <p:cNvSpPr txBox="1"/>
          <p:nvPr/>
        </p:nvSpPr>
        <p:spPr>
          <a:xfrm>
            <a:off x="621792" y="2770632"/>
            <a:ext cx="1661160" cy="1005840"/>
          </a:xfrm>
          <a:prstGeom prst="rect">
            <a:avLst/>
          </a:prstGeom>
          <a:noFill/>
          <a:ln/>
        </p:spPr>
        <p:txBody>
          <a:bodyPr wrap="square" lIns="0" tIns="0" rIns="0" bIns="0" rtlCol="0" anchor="t"/>
          <a:lstStyle/>
          <a:p>
            <a:pPr indent="0" marL="0">
              <a:buNone/>
            </a:pPr>
            <a:r>
              <a:rPr lang="en-US" sz="1300" dirty="0">
                <a:solidFill>
                  <a:schemeClr val="tx1"/>
                </a:solidFill>
              </a:rPr>
              <a:t>Java 17, Maven project, Lombok</a:t>
            </a:r>
            <a:endParaRPr lang="en-US" sz="1300" dirty="0"/>
          </a:p>
        </p:txBody>
      </p:sp>
      <p:sp>
        <p:nvSpPr>
          <p:cNvPr id="7" name="Text 5"/>
          <p:cNvSpPr txBox="1"/>
          <p:nvPr/>
        </p:nvSpPr>
        <p:spPr>
          <a:xfrm>
            <a:off x="2374392" y="1783080"/>
            <a:ext cx="1935480"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Compile</a:t>
            </a:r>
            <a:endParaRPr lang="en-US" sz="1400" dirty="0"/>
          </a:p>
        </p:txBody>
      </p:sp>
      <p:sp>
        <p:nvSpPr>
          <p:cNvPr id="8" name="Text 6"/>
          <p:cNvSpPr txBox="1"/>
          <p:nvPr/>
        </p:nvSpPr>
        <p:spPr>
          <a:xfrm>
            <a:off x="2447544" y="2770632"/>
            <a:ext cx="1661160" cy="1005840"/>
          </a:xfrm>
          <a:prstGeom prst="rect">
            <a:avLst/>
          </a:prstGeom>
          <a:noFill/>
          <a:ln/>
        </p:spPr>
        <p:txBody>
          <a:bodyPr wrap="square" lIns="0" tIns="0" rIns="0" bIns="0" rtlCol="0" anchor="t"/>
          <a:lstStyle/>
          <a:p>
            <a:pPr indent="0" marL="0">
              <a:buNone/>
            </a:pPr>
            <a:r>
              <a:rPr lang="en-US" sz="1300" dirty="0">
                <a:solidFill>
                  <a:schemeClr val="tx1"/>
                </a:solidFill>
              </a:rPr>
              <a:t>javac with annotation processing</a:t>
            </a:r>
            <a:endParaRPr lang="en-US" sz="1300" dirty="0"/>
          </a:p>
        </p:txBody>
      </p:sp>
      <p:sp>
        <p:nvSpPr>
          <p:cNvPr id="9" name="Text 7"/>
          <p:cNvSpPr txBox="1"/>
          <p:nvPr/>
        </p:nvSpPr>
        <p:spPr>
          <a:xfrm>
            <a:off x="4200144" y="1783080"/>
            <a:ext cx="1935480"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Unit tests</a:t>
            </a:r>
            <a:endParaRPr lang="en-US" sz="1400" dirty="0"/>
          </a:p>
        </p:txBody>
      </p:sp>
      <p:sp>
        <p:nvSpPr>
          <p:cNvPr id="10" name="Text 8"/>
          <p:cNvSpPr txBox="1"/>
          <p:nvPr/>
        </p:nvSpPr>
        <p:spPr>
          <a:xfrm>
            <a:off x="4273296" y="2770632"/>
            <a:ext cx="1661160" cy="1005840"/>
          </a:xfrm>
          <a:prstGeom prst="rect">
            <a:avLst/>
          </a:prstGeom>
          <a:noFill/>
          <a:ln/>
        </p:spPr>
        <p:txBody>
          <a:bodyPr wrap="square" lIns="0" tIns="0" rIns="0" bIns="0" rtlCol="0" anchor="t"/>
          <a:lstStyle/>
          <a:p>
            <a:pPr indent="0" marL="0">
              <a:buNone/>
            </a:pPr>
            <a:r>
              <a:rPr lang="en-US" sz="1300" dirty="0">
                <a:solidFill>
                  <a:schemeClr val="tx1"/>
                </a:solidFill>
              </a:rPr>
              <a:t>BankAccountTest: OOP, exceptions, 8-thread stress test</a:t>
            </a:r>
            <a:endParaRPr lang="en-US" sz="1300" dirty="0"/>
          </a:p>
        </p:txBody>
      </p:sp>
      <p:sp>
        <p:nvSpPr>
          <p:cNvPr id="11" name="Text 9"/>
          <p:cNvSpPr txBox="1"/>
          <p:nvPr/>
        </p:nvSpPr>
        <p:spPr>
          <a:xfrm>
            <a:off x="6025896" y="1783080"/>
            <a:ext cx="1935480" cy="822960"/>
          </a:xfrm>
          <a:prstGeom prst="chevron">
            <a:avLst/>
          </a:prstGeom>
          <a:solidFill>
            <a:schemeClr val="accent1"/>
          </a:solidFill>
          <a:ln/>
        </p:spPr>
        <p:txBody>
          <a:bodyPr wrap="square" lIns="25400" tIns="228600" rIns="177800" bIns="25400" rtlCol="0" anchor="ctr"/>
          <a:lstStyle/>
          <a:p>
            <a:pPr algn="ctr" indent="0" marL="0">
              <a:buNone/>
            </a:pPr>
            <a:r>
              <a:rPr lang="en-US" sz="1400" b="1" dirty="0">
                <a:solidFill>
                  <a:schemeClr val="bg1"/>
                </a:solidFill>
              </a:rPr>
              <a:t>Integration</a:t>
            </a:r>
            <a:endParaRPr lang="en-US" sz="1400" dirty="0"/>
          </a:p>
        </p:txBody>
      </p:sp>
      <p:sp>
        <p:nvSpPr>
          <p:cNvPr id="12" name="Text 10"/>
          <p:cNvSpPr txBox="1"/>
          <p:nvPr/>
        </p:nvSpPr>
        <p:spPr>
          <a:xfrm>
            <a:off x="6099048" y="2770632"/>
            <a:ext cx="1661160" cy="1005840"/>
          </a:xfrm>
          <a:prstGeom prst="rect">
            <a:avLst/>
          </a:prstGeom>
          <a:noFill/>
          <a:ln/>
        </p:spPr>
        <p:txBody>
          <a:bodyPr wrap="square" lIns="0" tIns="0" rIns="0" bIns="0" rtlCol="0" anchor="t"/>
          <a:lstStyle/>
          <a:p>
            <a:pPr indent="0" marL="0">
              <a:buNone/>
            </a:pPr>
            <a:r>
              <a:rPr lang="en-US" sz="1300" dirty="0">
                <a:solidFill>
                  <a:schemeClr val="tx1"/>
                </a:solidFill>
              </a:rPr>
              <a:t>Real Tomcat on a random port + H2 database</a:t>
            </a:r>
            <a:endParaRPr lang="en-US" sz="1300" dirty="0"/>
          </a:p>
        </p:txBody>
      </p:sp>
      <p:sp>
        <p:nvSpPr>
          <p:cNvPr id="13" name="Text 11"/>
          <p:cNvSpPr txBox="1"/>
          <p:nvPr/>
        </p:nvSpPr>
        <p:spPr>
          <a:xfrm>
            <a:off x="7851648" y="1783080"/>
            <a:ext cx="1935480" cy="822960"/>
          </a:xfrm>
          <a:prstGeom prst="chevron">
            <a:avLst/>
          </a:prstGeom>
          <a:solidFill>
            <a:srgbClr val="1E3A8A"/>
          </a:solidFill>
          <a:ln/>
        </p:spPr>
        <p:txBody>
          <a:bodyPr wrap="square" lIns="25400" tIns="228600" rIns="177800" bIns="25400" rtlCol="0" anchor="ctr"/>
          <a:lstStyle/>
          <a:p>
            <a:pPr algn="ctr" indent="0" marL="0">
              <a:buNone/>
            </a:pPr>
            <a:r>
              <a:rPr lang="en-US" sz="1400" b="1" dirty="0">
                <a:solidFill>
                  <a:schemeClr val="bg1"/>
                </a:solidFill>
              </a:rPr>
              <a:t>Package</a:t>
            </a:r>
            <a:endParaRPr lang="en-US" sz="1400" dirty="0"/>
          </a:p>
        </p:txBody>
      </p:sp>
      <p:sp>
        <p:nvSpPr>
          <p:cNvPr id="14" name="Text 12"/>
          <p:cNvSpPr txBox="1"/>
          <p:nvPr/>
        </p:nvSpPr>
        <p:spPr>
          <a:xfrm>
            <a:off x="7924800" y="2770632"/>
            <a:ext cx="1661160" cy="1005840"/>
          </a:xfrm>
          <a:prstGeom prst="rect">
            <a:avLst/>
          </a:prstGeom>
          <a:noFill/>
          <a:ln/>
        </p:spPr>
        <p:txBody>
          <a:bodyPr wrap="square" lIns="0" tIns="0" rIns="0" bIns="0" rtlCol="0" anchor="t"/>
          <a:lstStyle/>
          <a:p>
            <a:pPr indent="0" marL="0">
              <a:buNone/>
            </a:pPr>
            <a:r>
              <a:rPr lang="en-US" sz="1300" dirty="0">
                <a:solidFill>
                  <a:schemeClr val="tx1"/>
                </a:solidFill>
              </a:rPr>
              <a:t>Executable Spring Boot jar</a:t>
            </a:r>
            <a:endParaRPr lang="en-US" sz="1300" dirty="0"/>
          </a:p>
        </p:txBody>
      </p:sp>
      <p:sp>
        <p:nvSpPr>
          <p:cNvPr id="15" name="Text 13"/>
          <p:cNvSpPr txBox="1"/>
          <p:nvPr/>
        </p:nvSpPr>
        <p:spPr>
          <a:xfrm>
            <a:off x="9677400" y="1783080"/>
            <a:ext cx="1935480" cy="822960"/>
          </a:xfrm>
          <a:prstGeom prst="chevron">
            <a:avLst/>
          </a:prstGeom>
          <a:solidFill>
            <a:srgbClr val="15803D"/>
          </a:solidFill>
          <a:ln/>
        </p:spPr>
        <p:txBody>
          <a:bodyPr wrap="square" lIns="25400" tIns="228600" rIns="177800" bIns="25400" rtlCol="0" anchor="ctr"/>
          <a:lstStyle/>
          <a:p>
            <a:pPr algn="ctr" indent="0" marL="0">
              <a:buNone/>
            </a:pPr>
            <a:r>
              <a:rPr lang="en-US" sz="1400" b="1" dirty="0">
                <a:solidFill>
                  <a:schemeClr val="bg1"/>
                </a:solidFill>
              </a:rPr>
              <a:t>Run</a:t>
            </a:r>
            <a:endParaRPr lang="en-US" sz="1400" dirty="0"/>
          </a:p>
        </p:txBody>
      </p:sp>
      <p:sp>
        <p:nvSpPr>
          <p:cNvPr id="16" name="Text 14"/>
          <p:cNvSpPr txBox="1"/>
          <p:nvPr/>
        </p:nvSpPr>
        <p:spPr>
          <a:xfrm>
            <a:off x="9750552" y="2770632"/>
            <a:ext cx="1661160" cy="1005840"/>
          </a:xfrm>
          <a:prstGeom prst="rect">
            <a:avLst/>
          </a:prstGeom>
          <a:noFill/>
          <a:ln/>
        </p:spPr>
        <p:txBody>
          <a:bodyPr wrap="square" lIns="0" tIns="0" rIns="0" bIns="0" rtlCol="0" anchor="t"/>
          <a:lstStyle/>
          <a:p>
            <a:pPr indent="0" marL="0">
              <a:buNone/>
            </a:pPr>
            <a:r>
              <a:rPr lang="en-US" sz="1300" dirty="0">
                <a:solidFill>
                  <a:schemeClr val="tx1"/>
                </a:solidFill>
              </a:rPr>
              <a:t>Demo on H2 with sample data; production on MySQL</a:t>
            </a:r>
            <a:endParaRPr lang="en-US" sz="1300" dirty="0"/>
          </a:p>
        </p:txBody>
      </p:sp>
      <p:sp>
        <p:nvSpPr>
          <p:cNvPr id="17" name="card"/>
          <p:cNvSpPr/>
          <p:nvPr/>
        </p:nvSpPr>
        <p:spPr>
          <a:xfrm>
            <a:off x="548640" y="3886200"/>
            <a:ext cx="6400800" cy="2286000"/>
          </a:xfrm>
          <a:prstGeom prst="roundRect">
            <a:avLst>
              <a:gd name="adj" fmla="val 3200"/>
            </a:avLst>
          </a:prstGeom>
          <a:solidFill>
            <a:schemeClr val="bg2"/>
          </a:solidFill>
          <a:ln/>
        </p:spPr>
      </p:sp>
      <p:sp>
        <p:nvSpPr>
          <p:cNvPr id="18" name="Text 16"/>
          <p:cNvSpPr txBox="1"/>
          <p:nvPr/>
        </p:nvSpPr>
        <p:spPr>
          <a:xfrm>
            <a:off x="822960" y="4069080"/>
            <a:ext cx="5852160" cy="365760"/>
          </a:xfrm>
          <a:prstGeom prst="rect">
            <a:avLst/>
          </a:prstGeom>
          <a:noFill/>
          <a:ln/>
        </p:spPr>
        <p:txBody>
          <a:bodyPr wrap="square" lIns="0" tIns="0" rIns="0" bIns="0" rtlCol="0" anchor="t"/>
          <a:lstStyle/>
          <a:p>
            <a:pPr indent="0" marL="0">
              <a:buNone/>
            </a:pPr>
            <a:r>
              <a:rPr lang="en-US" sz="1800" b="1" dirty="0">
                <a:solidFill>
                  <a:schemeClr val="tx2"/>
                </a:solidFill>
              </a:rPr>
              <a:t>What every build guarantees</a:t>
            </a:r>
            <a:endParaRPr lang="en-US" sz="1800" dirty="0"/>
          </a:p>
        </p:txBody>
      </p:sp>
      <p:sp>
        <p:nvSpPr>
          <p:cNvPr id="19" name="icon-bg"/>
          <p:cNvSpPr/>
          <p:nvPr/>
        </p:nvSpPr>
        <p:spPr>
          <a:xfrm>
            <a:off x="822960" y="4572000"/>
            <a:ext cx="347472" cy="347472"/>
          </a:xfrm>
          <a:prstGeom prst="ellipse">
            <a:avLst/>
          </a:prstGeom>
          <a:solidFill>
            <a:schemeClr val="accent4"/>
          </a:solidFill>
          <a:ln/>
        </p:spPr>
      </p:sp>
      <p:pic>
        <p:nvPicPr>
          <p:cNvPr id="20" name="icon-FaCheck" descr="preencoded.png">    </p:cNvPr>
          <p:cNvPicPr>
            <a:picLocks noChangeAspect="1"/>
          </p:cNvPicPr>
          <p:nvPr/>
        </p:nvPicPr>
        <p:blipFill>
          <a:blip r:embed="rId1"/>
          <a:stretch>
            <a:fillRect/>
          </a:stretch>
        </p:blipFill>
        <p:spPr>
          <a:xfrm>
            <a:off x="916777" y="4665817"/>
            <a:ext cx="159837" cy="159837"/>
          </a:xfrm>
          <a:prstGeom prst="rect">
            <a:avLst/>
          </a:prstGeom>
        </p:spPr>
      </p:pic>
      <p:sp>
        <p:nvSpPr>
          <p:cNvPr id="21" name="Text 18"/>
          <p:cNvSpPr txBox="1"/>
          <p:nvPr/>
        </p:nvSpPr>
        <p:spPr>
          <a:xfrm>
            <a:off x="1325880" y="4599432"/>
            <a:ext cx="5394960" cy="320040"/>
          </a:xfrm>
          <a:prstGeom prst="rect">
            <a:avLst/>
          </a:prstGeom>
          <a:noFill/>
          <a:ln/>
        </p:spPr>
        <p:txBody>
          <a:bodyPr wrap="square" lIns="0" tIns="0" rIns="0" bIns="0" rtlCol="0" anchor="t"/>
          <a:lstStyle/>
          <a:p>
            <a:pPr indent="0" marL="0">
              <a:buNone/>
            </a:pPr>
            <a:r>
              <a:rPr lang="en-US" sz="1500" dirty="0">
                <a:solidFill>
                  <a:schemeClr val="tx1"/>
                </a:solidFill>
              </a:rPr>
              <a:t>The code compiles cleanly on Java 17</a:t>
            </a:r>
            <a:endParaRPr lang="en-US" sz="1500" dirty="0"/>
          </a:p>
        </p:txBody>
      </p:sp>
      <p:sp>
        <p:nvSpPr>
          <p:cNvPr id="22" name="icon-bg"/>
          <p:cNvSpPr/>
          <p:nvPr/>
        </p:nvSpPr>
        <p:spPr>
          <a:xfrm>
            <a:off x="822960" y="5074920"/>
            <a:ext cx="347472" cy="347472"/>
          </a:xfrm>
          <a:prstGeom prst="ellipse">
            <a:avLst/>
          </a:prstGeom>
          <a:solidFill>
            <a:schemeClr val="accent4"/>
          </a:solidFill>
          <a:ln/>
        </p:spPr>
      </p:sp>
      <p:pic>
        <p:nvPicPr>
          <p:cNvPr id="23" name="icon-FaCheck" descr="preencoded.png">    </p:cNvPr>
          <p:cNvPicPr>
            <a:picLocks noChangeAspect="1"/>
          </p:cNvPicPr>
          <p:nvPr/>
        </p:nvPicPr>
        <p:blipFill>
          <a:blip r:embed="rId2"/>
          <a:stretch>
            <a:fillRect/>
          </a:stretch>
        </p:blipFill>
        <p:spPr>
          <a:xfrm>
            <a:off x="916777" y="5168737"/>
            <a:ext cx="159837" cy="159837"/>
          </a:xfrm>
          <a:prstGeom prst="rect">
            <a:avLst/>
          </a:prstGeom>
        </p:spPr>
      </p:pic>
      <p:sp>
        <p:nvSpPr>
          <p:cNvPr id="24" name="Text 20"/>
          <p:cNvSpPr txBox="1"/>
          <p:nvPr/>
        </p:nvSpPr>
        <p:spPr>
          <a:xfrm>
            <a:off x="1325880" y="5102352"/>
            <a:ext cx="5394960" cy="320040"/>
          </a:xfrm>
          <a:prstGeom prst="rect">
            <a:avLst/>
          </a:prstGeom>
          <a:noFill/>
          <a:ln/>
        </p:spPr>
        <p:txBody>
          <a:bodyPr wrap="square" lIns="0" tIns="0" rIns="0" bIns="0" rtlCol="0" anchor="t"/>
          <a:lstStyle/>
          <a:p>
            <a:pPr indent="0" marL="0">
              <a:buNone/>
            </a:pPr>
            <a:r>
              <a:rPr lang="en-US" sz="1500" dirty="0">
                <a:solidFill>
                  <a:schemeClr val="tx1"/>
                </a:solidFill>
              </a:rPr>
              <a:t>Business rules and thread safety pass the unit tests</a:t>
            </a:r>
            <a:endParaRPr lang="en-US" sz="1500" dirty="0"/>
          </a:p>
        </p:txBody>
      </p:sp>
      <p:sp>
        <p:nvSpPr>
          <p:cNvPr id="25" name="icon-bg"/>
          <p:cNvSpPr/>
          <p:nvPr/>
        </p:nvSpPr>
        <p:spPr>
          <a:xfrm>
            <a:off x="822960" y="5577840"/>
            <a:ext cx="347472" cy="347472"/>
          </a:xfrm>
          <a:prstGeom prst="ellipse">
            <a:avLst/>
          </a:prstGeom>
          <a:solidFill>
            <a:schemeClr val="accent4"/>
          </a:solidFill>
          <a:ln/>
        </p:spPr>
      </p:sp>
      <p:pic>
        <p:nvPicPr>
          <p:cNvPr id="26" name="icon-FaCheck" descr="preencoded.png">    </p:cNvPr>
          <p:cNvPicPr>
            <a:picLocks noChangeAspect="1"/>
          </p:cNvPicPr>
          <p:nvPr/>
        </p:nvPicPr>
        <p:blipFill>
          <a:blip r:embed="rId3"/>
          <a:stretch>
            <a:fillRect/>
          </a:stretch>
        </p:blipFill>
        <p:spPr>
          <a:xfrm>
            <a:off x="916777" y="5671657"/>
            <a:ext cx="159837" cy="159837"/>
          </a:xfrm>
          <a:prstGeom prst="rect">
            <a:avLst/>
          </a:prstGeom>
        </p:spPr>
      </p:pic>
      <p:sp>
        <p:nvSpPr>
          <p:cNvPr id="27" name="Text 22"/>
          <p:cNvSpPr txBox="1"/>
          <p:nvPr/>
        </p:nvSpPr>
        <p:spPr>
          <a:xfrm>
            <a:off x="1325880" y="5605272"/>
            <a:ext cx="5394960" cy="320040"/>
          </a:xfrm>
          <a:prstGeom prst="rect">
            <a:avLst/>
          </a:prstGeom>
          <a:noFill/>
          <a:ln/>
        </p:spPr>
        <p:txBody>
          <a:bodyPr wrap="square" lIns="0" tIns="0" rIns="0" bIns="0" rtlCol="0" anchor="t"/>
          <a:lstStyle/>
          <a:p>
            <a:pPr indent="0" marL="0">
              <a:buNone/>
            </a:pPr>
            <a:r>
              <a:rPr lang="en-US" sz="1500" dirty="0">
                <a:solidFill>
                  <a:schemeClr val="tx1"/>
                </a:solidFill>
              </a:rPr>
              <a:t>Servlets, sessions and JDBC work end to end on a real server</a:t>
            </a:r>
            <a:endParaRPr lang="en-US" sz="1500" dirty="0"/>
          </a:p>
        </p:txBody>
      </p:sp>
      <p:sp>
        <p:nvSpPr>
          <p:cNvPr id="28" name="card"/>
          <p:cNvSpPr/>
          <p:nvPr/>
        </p:nvSpPr>
        <p:spPr>
          <a:xfrm>
            <a:off x="7223760" y="3886200"/>
            <a:ext cx="4389120" cy="2286000"/>
          </a:xfrm>
          <a:prstGeom prst="roundRect">
            <a:avLst>
              <a:gd name="adj" fmla="val 3200"/>
            </a:avLst>
          </a:prstGeom>
          <a:solidFill>
            <a:schemeClr val="bg2"/>
          </a:solidFill>
          <a:ln/>
        </p:spPr>
      </p:sp>
      <p:sp>
        <p:nvSpPr>
          <p:cNvPr id="29" name="Text 24"/>
          <p:cNvSpPr txBox="1"/>
          <p:nvPr/>
        </p:nvSpPr>
        <p:spPr>
          <a:xfrm>
            <a:off x="7498080" y="4069080"/>
            <a:ext cx="3840480" cy="365760"/>
          </a:xfrm>
          <a:prstGeom prst="rect">
            <a:avLst/>
          </a:prstGeom>
          <a:noFill/>
          <a:ln/>
        </p:spPr>
        <p:txBody>
          <a:bodyPr wrap="square" lIns="0" tIns="0" rIns="0" bIns="0" rtlCol="0" anchor="t"/>
          <a:lstStyle/>
          <a:p>
            <a:pPr indent="0" marL="0">
              <a:buNone/>
            </a:pPr>
            <a:r>
              <a:rPr lang="en-US" sz="1800" b="1" dirty="0">
                <a:solidFill>
                  <a:schemeClr val="tx2"/>
                </a:solidFill>
              </a:rPr>
              <a:t>Test results</a:t>
            </a:r>
            <a:endParaRPr lang="en-US" sz="1800" dirty="0"/>
          </a:p>
        </p:txBody>
      </p:sp>
      <p:sp>
        <p:nvSpPr>
          <p:cNvPr id="30" name="Text 25"/>
          <p:cNvSpPr txBox="1"/>
          <p:nvPr/>
        </p:nvSpPr>
        <p:spPr>
          <a:xfrm>
            <a:off x="7498080" y="4480560"/>
            <a:ext cx="2194560" cy="822960"/>
          </a:xfrm>
          <a:prstGeom prst="rect">
            <a:avLst/>
          </a:prstGeom>
          <a:noFill/>
          <a:ln/>
        </p:spPr>
        <p:txBody>
          <a:bodyPr wrap="square" lIns="0" tIns="0" rIns="0" bIns="0" rtlCol="0" anchor="t"/>
          <a:lstStyle/>
          <a:p>
            <a:pPr indent="0" marL="0">
              <a:buNone/>
            </a:pPr>
            <a:r>
              <a:rPr lang="en-US" sz="4400" b="1" dirty="0">
                <a:solidFill>
                  <a:schemeClr val="accent4"/>
                </a:solidFill>
              </a:rPr>
              <a:t>12 / 12</a:t>
            </a:r>
            <a:endParaRPr lang="en-US" sz="4400" dirty="0"/>
          </a:p>
        </p:txBody>
      </p:sp>
      <p:sp>
        <p:nvSpPr>
          <p:cNvPr id="31" name="Text 26"/>
          <p:cNvSpPr txBox="1"/>
          <p:nvPr/>
        </p:nvSpPr>
        <p:spPr>
          <a:xfrm>
            <a:off x="9601200" y="4754880"/>
            <a:ext cx="1828800" cy="365760"/>
          </a:xfrm>
          <a:prstGeom prst="rect">
            <a:avLst/>
          </a:prstGeom>
          <a:noFill/>
          <a:ln/>
        </p:spPr>
        <p:txBody>
          <a:bodyPr wrap="square" lIns="0" tIns="0" rIns="0" bIns="0" rtlCol="0" anchor="t"/>
          <a:lstStyle/>
          <a:p>
            <a:pPr indent="0" marL="0">
              <a:buNone/>
            </a:pPr>
            <a:r>
              <a:rPr lang="en-US" sz="1400" dirty="0">
                <a:solidFill>
                  <a:schemeClr val="accent6"/>
                </a:solidFill>
              </a:rPr>
              <a:t>tests passing</a:t>
            </a:r>
            <a:endParaRPr lang="en-US" sz="1400" dirty="0"/>
          </a:p>
        </p:txBody>
      </p:sp>
      <p:sp>
        <p:nvSpPr>
          <p:cNvPr id="32" name="Text 27"/>
          <p:cNvSpPr txBox="1"/>
          <p:nvPr/>
        </p:nvSpPr>
        <p:spPr>
          <a:xfrm>
            <a:off x="7498080" y="5349240"/>
            <a:ext cx="3840480" cy="731520"/>
          </a:xfrm>
          <a:prstGeom prst="rect">
            <a:avLst/>
          </a:prstGeom>
          <a:noFill/>
          <a:ln/>
        </p:spPr>
        <p:txBody>
          <a:bodyPr wrap="square" lIns="0" tIns="0" rIns="0" bIns="0" rtlCol="0" anchor="t"/>
          <a:lstStyle/>
          <a:p>
            <a:pPr indent="0" marL="0">
              <a:buNone/>
            </a:pPr>
            <a:r>
              <a:rPr lang="en-US" sz="1300" dirty="0">
                <a:solidFill>
                  <a:schemeClr val="accent6"/>
                </a:solidFill>
              </a:rPr>
              <a:t>6 unit tests and 6 end-to-end tests, run automatically on every build.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algn="l" indent="0" marL="0">
              <a:buNone/>
            </a:pPr>
            <a:r>
              <a:rPr lang="en-US" sz="7200" b="1" dirty="0">
                <a:solidFill>
                  <a:schemeClr val="accent2"/>
                </a:solidFill>
              </a:rPr>
              <a:t>03</a:t>
            </a:r>
            <a:endParaRPr lang="en-US" sz="7200" dirty="0"/>
          </a:p>
        </p:txBody>
      </p:sp>
      <p:sp>
        <p:nvSpPr>
          <p:cNvPr id="3" name="Text 0"/>
          <p:cNvSpPr/>
          <p:nvPr>
            <p:ph idx="101" type="title" hasCustomPrompt="1"/>
          </p:nvPr>
        </p:nvSpPr>
        <p:spPr>
          <a:xfrm>
            <a:off x="731520" y="2834640"/>
            <a:ext cx="5669280" cy="822960"/>
          </a:xfrm>
          <a:prstGeom prst="rect">
            <a:avLst/>
          </a:prstGeom>
          <a:noFill/>
          <a:ln/>
        </p:spPr>
        <p:txBody>
          <a:bodyPr wrap="square" lIns="0" tIns="0" rIns="0" bIns="0" rtlCol="0" anchor="t"/>
          <a:lstStyle/>
          <a:p>
            <a:pPr algn="l" indent="0" marL="0">
              <a:buNone/>
            </a:pPr>
            <a:r>
              <a:rPr lang="en-US" sz="4000" b="1" dirty="0">
                <a:solidFill>
                  <a:schemeClr val="bg1"/>
                </a:solidFill>
              </a:rPr>
              <a:t>Core Java concepts</a:t>
            </a:r>
            <a:endParaRPr lang="en-US" sz="4000" dirty="0"/>
          </a:p>
        </p:txBody>
      </p:sp>
      <p:sp>
        <p:nvSpPr>
          <p:cNvPr id="4" name="Text 0"/>
          <p:cNvSpPr/>
          <p:nvPr>
            <p:ph idx="102" type="body" hasCustomPrompt="1"/>
          </p:nvPr>
        </p:nvSpPr>
        <p:spPr>
          <a:xfrm>
            <a:off x="731520" y="3703320"/>
            <a:ext cx="5486400" cy="914400"/>
          </a:xfrm>
          <a:prstGeom prst="rect">
            <a:avLst/>
          </a:prstGeom>
          <a:noFill/>
          <a:ln/>
        </p:spPr>
        <p:txBody>
          <a:bodyPr wrap="square" lIns="0" tIns="0" rIns="0" bIns="0" rtlCol="0" anchor="t"/>
          <a:lstStyle/>
          <a:p>
            <a:pPr algn="l" indent="0" marL="0">
              <a:buNone/>
            </a:pPr>
            <a:r>
              <a:rPr lang="en-US" sz="1800" dirty="0">
                <a:solidFill>
                  <a:srgbClr val="CBD5E1"/>
                </a:solidFill>
              </a:rPr>
              <a:t>The object model and concurrency at the heart of the system.</a:t>
            </a:r>
            <a:endParaRPr lang="en-US" sz="1800" dirty="0"/>
          </a:p>
        </p:txBody>
      </p:sp>
      <p:sp>
        <p:nvSpPr>
          <p:cNvPr id="5" name="card"/>
          <p:cNvSpPr/>
          <p:nvPr/>
        </p:nvSpPr>
        <p:spPr>
          <a:xfrm>
            <a:off x="7315200" y="1463040"/>
            <a:ext cx="4297680" cy="3383280"/>
          </a:xfrm>
          <a:prstGeom prst="roundRect">
            <a:avLst>
              <a:gd name="adj" fmla="val 2162"/>
            </a:avLst>
          </a:prstGeom>
          <a:solidFill>
            <a:srgbClr val="16304F"/>
          </a:solidFill>
          <a:ln/>
        </p:spPr>
      </p:sp>
      <p:sp>
        <p:nvSpPr>
          <p:cNvPr id="6" name="Text 4"/>
          <p:cNvSpPr txBox="1"/>
          <p:nvPr/>
        </p:nvSpPr>
        <p:spPr>
          <a:xfrm>
            <a:off x="7635240" y="169164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 THIS SECTION</a:t>
            </a:r>
            <a:endParaRPr lang="en-US" sz="1200" dirty="0"/>
          </a:p>
        </p:txBody>
      </p:sp>
      <p:sp>
        <p:nvSpPr>
          <p:cNvPr id="7" name="Text 5"/>
          <p:cNvSpPr txBox="1"/>
          <p:nvPr/>
        </p:nvSpPr>
        <p:spPr>
          <a:xfrm>
            <a:off x="7635240" y="2103120"/>
            <a:ext cx="3749040" cy="365760"/>
          </a:xfrm>
          <a:prstGeom prst="rect">
            <a:avLst/>
          </a:prstGeom>
          <a:noFill/>
          <a:ln/>
        </p:spPr>
        <p:txBody>
          <a:bodyPr wrap="square" lIns="0" tIns="0" rIns="0" bIns="0" rtlCol="0" anchor="t"/>
          <a:lstStyle/>
          <a:p>
            <a:pPr indent="0" marL="0">
              <a:buNone/>
            </a:pPr>
            <a:r>
              <a:rPr lang="en-US" sz="1700" dirty="0">
                <a:solidFill>
                  <a:schemeClr val="bg1"/>
                </a:solidFill>
              </a:rPr>
              <a:t>Inheritance &amp; polymorphism</a:t>
            </a:r>
            <a:endParaRPr lang="en-US" sz="1700" dirty="0"/>
          </a:p>
        </p:txBody>
      </p:sp>
      <p:sp>
        <p:nvSpPr>
          <p:cNvPr id="8" name="Text 6"/>
          <p:cNvSpPr txBox="1"/>
          <p:nvPr/>
        </p:nvSpPr>
        <p:spPr>
          <a:xfrm>
            <a:off x="7635240" y="2670048"/>
            <a:ext cx="3749040" cy="365760"/>
          </a:xfrm>
          <a:prstGeom prst="rect">
            <a:avLst/>
          </a:prstGeom>
          <a:noFill/>
          <a:ln/>
        </p:spPr>
        <p:txBody>
          <a:bodyPr wrap="square" lIns="0" tIns="0" rIns="0" bIns="0" rtlCol="0" anchor="t"/>
          <a:lstStyle/>
          <a:p>
            <a:pPr indent="0" marL="0">
              <a:buNone/>
            </a:pPr>
            <a:r>
              <a:rPr lang="en-US" sz="1700" dirty="0">
                <a:solidFill>
                  <a:schemeClr val="bg1"/>
                </a:solidFill>
              </a:rPr>
              <a:t>Exception handling</a:t>
            </a:r>
            <a:endParaRPr lang="en-US" sz="1700" dirty="0"/>
          </a:p>
        </p:txBody>
      </p:sp>
      <p:sp>
        <p:nvSpPr>
          <p:cNvPr id="9" name="Text 7"/>
          <p:cNvSpPr txBox="1"/>
          <p:nvPr/>
        </p:nvSpPr>
        <p:spPr>
          <a:xfrm>
            <a:off x="7635240" y="3236976"/>
            <a:ext cx="3749040" cy="365760"/>
          </a:xfrm>
          <a:prstGeom prst="rect">
            <a:avLst/>
          </a:prstGeom>
          <a:noFill/>
          <a:ln/>
        </p:spPr>
        <p:txBody>
          <a:bodyPr wrap="square" lIns="0" tIns="0" rIns="0" bIns="0" rtlCol="0" anchor="t"/>
          <a:lstStyle/>
          <a:p>
            <a:pPr indent="0" marL="0">
              <a:buNone/>
            </a:pPr>
            <a:r>
              <a:rPr lang="en-US" sz="1700" dirty="0">
                <a:solidFill>
                  <a:schemeClr val="bg1"/>
                </a:solidFill>
              </a:rPr>
              <a:t>Collections &amp; generics</a:t>
            </a:r>
            <a:endParaRPr lang="en-US" sz="1700" dirty="0"/>
          </a:p>
        </p:txBody>
      </p:sp>
      <p:sp>
        <p:nvSpPr>
          <p:cNvPr id="10" name="Text 8"/>
          <p:cNvSpPr txBox="1"/>
          <p:nvPr/>
        </p:nvSpPr>
        <p:spPr>
          <a:xfrm>
            <a:off x="7635240" y="3803904"/>
            <a:ext cx="3749040" cy="365760"/>
          </a:xfrm>
          <a:prstGeom prst="rect">
            <a:avLst/>
          </a:prstGeom>
          <a:noFill/>
          <a:ln/>
        </p:spPr>
        <p:txBody>
          <a:bodyPr wrap="square" lIns="0" tIns="0" rIns="0" bIns="0" rtlCol="0" anchor="t"/>
          <a:lstStyle/>
          <a:p>
            <a:pPr indent="0" marL="0">
              <a:buNone/>
            </a:pPr>
            <a:r>
              <a:rPr lang="en-US" sz="1700" dirty="0">
                <a:solidFill>
                  <a:schemeClr val="bg1"/>
                </a:solidFill>
              </a:rPr>
              <a:t>Synchronization</a:t>
            </a:r>
            <a:endParaRPr lang="en-US" sz="1700" dirty="0"/>
          </a:p>
        </p:txBody>
      </p:sp>
      <p:sp>
        <p:nvSpPr>
          <p:cNvPr id="11" name="Text 9"/>
          <p:cNvSpPr txBox="1"/>
          <p:nvPr/>
        </p:nvSpPr>
        <p:spPr>
          <a:xfrm>
            <a:off x="7635240" y="4370832"/>
            <a:ext cx="3749040" cy="365760"/>
          </a:xfrm>
          <a:prstGeom prst="rect">
            <a:avLst/>
          </a:prstGeom>
          <a:noFill/>
          <a:ln/>
        </p:spPr>
        <p:txBody>
          <a:bodyPr wrap="square" lIns="0" tIns="0" rIns="0" bIns="0" rtlCol="0" anchor="t"/>
          <a:lstStyle/>
          <a:p>
            <a:pPr indent="0" marL="0">
              <a:buNone/>
            </a:pPr>
            <a:r>
              <a:rPr lang="en-US" sz="1700" dirty="0">
                <a:solidFill>
                  <a:schemeClr val="bg1"/>
                </a:solidFill>
              </a:rPr>
              <a:t>Thread pool &amp; producer-consumer</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CORE JAVA  |  OOP</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Inheritance and polymorphism</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One abstract account type, three behaviours chosen at runtime.</a:t>
            </a:r>
            <a:endParaRPr lang="en-US" sz="1600" dirty="0"/>
          </a:p>
        </p:txBody>
      </p:sp>
      <p:sp>
        <p:nvSpPr>
          <p:cNvPr id="5" name="Text 3"/>
          <p:cNvSpPr txBox="1"/>
          <p:nvPr/>
        </p:nvSpPr>
        <p:spPr>
          <a:xfrm>
            <a:off x="1005840" y="1783080"/>
            <a:ext cx="4754880" cy="777240"/>
          </a:xfrm>
          <a:prstGeom prst="roundRect">
            <a:avLst>
              <a:gd name="adj" fmla="val 9412"/>
            </a:avLst>
          </a:prstGeom>
          <a:solidFill>
            <a:srgbClr val="FEF3C7"/>
          </a:solidFill>
          <a:ln w="15875">
            <a:solidFill>
              <a:schemeClr val="accent2"/>
            </a:solidFill>
          </a:ln>
        </p:spPr>
        <p:txBody>
          <a:bodyPr wrap="square" lIns="76200" tIns="76200" rIns="76200" bIns="76200" rtlCol="0" anchor="ctr"/>
          <a:lstStyle/>
          <a:p>
            <a:pPr algn="ctr" indent="0" marL="0">
              <a:buNone/>
            </a:pPr>
            <a:r>
              <a:rPr lang="en-US" sz="1400" b="1" dirty="0">
                <a:solidFill>
                  <a:schemeClr val="tx1"/>
                </a:solidFill>
              </a:rPr>
              <a:t>«interface»  InterestBearing</a:t>
            </a:r>
            <a:endParaRPr lang="en-US" sz="1400" dirty="0"/>
          </a:p>
          <a:p>
            <a:pPr algn="ctr" indent="0" marL="0">
              <a:buNone/>
            </a:pPr>
            <a:r>
              <a:rPr lang="en-US" sz="1200" dirty="0">
                <a:solidFill>
                  <a:schemeClr val="tx1"/>
                </a:solidFill>
                <a:latin typeface="Courier New" pitchFamily="34" charset="0"/>
                <a:ea typeface="Courier New" pitchFamily="34" charset="-122"/>
                <a:cs typeface="Courier New" pitchFamily="34" charset="-120"/>
              </a:rPr>
              <a:t>monthlyInterest(), yearlyInterestEstimate()</a:t>
            </a:r>
            <a:endParaRPr lang="en-US" sz="1400" dirty="0"/>
          </a:p>
        </p:txBody>
      </p:sp>
      <p:sp>
        <p:nvSpPr>
          <p:cNvPr id="6" name="Text 4"/>
          <p:cNvSpPr txBox="1"/>
          <p:nvPr/>
        </p:nvSpPr>
        <p:spPr>
          <a:xfrm>
            <a:off x="1005840" y="2971800"/>
            <a:ext cx="4754880" cy="777240"/>
          </a:xfrm>
          <a:prstGeom prst="roundRect">
            <a:avLst>
              <a:gd name="adj" fmla="val 9412"/>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«abstract»  BankAccount</a:t>
            </a:r>
            <a:endParaRPr lang="en-US" sz="1400" dirty="0"/>
          </a:p>
          <a:p>
            <a:pPr algn="ctr" indent="0" marL="0">
              <a:buNone/>
            </a:pPr>
            <a:r>
              <a:rPr lang="en-US" sz="1200" dirty="0">
                <a:solidFill>
                  <a:schemeClr val="bg1"/>
                </a:solidFill>
                <a:latin typeface="Courier New" pitchFamily="34" charset="0"/>
                <a:ea typeface="Courier New" pitchFamily="34" charset="-122"/>
                <a:cs typeface="Courier New" pitchFamily="34" charset="-120"/>
              </a:rPr>
              <a:t>synchronized deposit(), withdraw(), transferTo()</a:t>
            </a:r>
            <a:endParaRPr lang="en-US" sz="1400" dirty="0"/>
          </a:p>
        </p:txBody>
      </p:sp>
      <p:sp>
        <p:nvSpPr>
          <p:cNvPr id="7" name="Text 5"/>
          <p:cNvSpPr txBox="1"/>
          <p:nvPr/>
        </p:nvSpPr>
        <p:spPr>
          <a:xfrm>
            <a:off x="548640" y="4206240"/>
            <a:ext cx="2651760" cy="566928"/>
          </a:xfrm>
          <a:prstGeom prst="roundRect">
            <a:avLst>
              <a:gd name="adj" fmla="val 12903"/>
            </a:avLst>
          </a:prstGeom>
          <a:solidFill>
            <a:schemeClr val="bg1"/>
          </a:solidFill>
          <a:ln w="15875">
            <a:solidFill>
              <a:srgbClr val="CBD5E1"/>
            </a:solidFill>
          </a:ln>
        </p:spPr>
        <p:txBody>
          <a:bodyPr wrap="square" lIns="76200" tIns="76200" rIns="76200" bIns="76200" rtlCol="0" anchor="ctr"/>
          <a:lstStyle/>
          <a:p>
            <a:pPr algn="ctr" indent="0" marL="0">
              <a:buNone/>
            </a:pPr>
            <a:r>
              <a:rPr lang="en-US" sz="1400" b="1" dirty="0">
                <a:solidFill>
                  <a:schemeClr val="tx1"/>
                </a:solidFill>
              </a:rPr>
              <a:t>SavingsAccount</a:t>
            </a:r>
            <a:endParaRPr lang="en-US" sz="1400" dirty="0"/>
          </a:p>
        </p:txBody>
      </p:sp>
      <p:sp>
        <p:nvSpPr>
          <p:cNvPr id="8" name="Text 6"/>
          <p:cNvSpPr txBox="1"/>
          <p:nvPr/>
        </p:nvSpPr>
        <p:spPr>
          <a:xfrm>
            <a:off x="3566160" y="4206240"/>
            <a:ext cx="2651760" cy="566928"/>
          </a:xfrm>
          <a:prstGeom prst="roundRect">
            <a:avLst>
              <a:gd name="adj" fmla="val 12903"/>
            </a:avLst>
          </a:prstGeom>
          <a:solidFill>
            <a:schemeClr val="bg1"/>
          </a:solidFill>
          <a:ln w="15875">
            <a:solidFill>
              <a:srgbClr val="CBD5E1"/>
            </a:solidFill>
          </a:ln>
        </p:spPr>
        <p:txBody>
          <a:bodyPr wrap="square" lIns="76200" tIns="76200" rIns="76200" bIns="76200" rtlCol="0" anchor="ctr"/>
          <a:lstStyle/>
          <a:p>
            <a:pPr algn="ctr" indent="0" marL="0">
              <a:buNone/>
            </a:pPr>
            <a:r>
              <a:rPr lang="en-US" sz="1400" b="1" dirty="0">
                <a:solidFill>
                  <a:schemeClr val="tx1"/>
                </a:solidFill>
              </a:rPr>
              <a:t>CurrentAccount</a:t>
            </a:r>
            <a:endParaRPr lang="en-US" sz="1400" dirty="0"/>
          </a:p>
        </p:txBody>
      </p:sp>
      <p:sp>
        <p:nvSpPr>
          <p:cNvPr id="9" name="Text 7"/>
          <p:cNvSpPr txBox="1"/>
          <p:nvPr/>
        </p:nvSpPr>
        <p:spPr>
          <a:xfrm>
            <a:off x="548640" y="5349240"/>
            <a:ext cx="2651760" cy="566928"/>
          </a:xfrm>
          <a:prstGeom prst="roundRect">
            <a:avLst>
              <a:gd name="adj" fmla="val 12903"/>
            </a:avLst>
          </a:prstGeom>
          <a:solidFill>
            <a:schemeClr val="bg1"/>
          </a:solidFill>
          <a:ln w="15875">
            <a:solidFill>
              <a:srgbClr val="CBD5E1"/>
            </a:solidFill>
          </a:ln>
        </p:spPr>
        <p:txBody>
          <a:bodyPr wrap="square" lIns="76200" tIns="76200" rIns="76200" bIns="76200" rtlCol="0" anchor="ctr"/>
          <a:lstStyle/>
          <a:p>
            <a:pPr algn="ctr" indent="0" marL="0">
              <a:buNone/>
            </a:pPr>
            <a:r>
              <a:rPr lang="en-US" sz="1400" b="1" dirty="0">
                <a:solidFill>
                  <a:schemeClr val="tx1"/>
                </a:solidFill>
              </a:rPr>
              <a:t>SalaryAccount</a:t>
            </a:r>
            <a:endParaRPr lang="en-US" sz="1400" dirty="0"/>
          </a:p>
        </p:txBody>
      </p:sp>
      <p:sp>
        <p:nvSpPr>
          <p:cNvPr id="10" name="Shape 8"/>
          <p:cNvSpPr/>
          <p:nvPr/>
        </p:nvSpPr>
        <p:spPr>
          <a:xfrm flipV="1">
            <a:off x="3383280" y="2560320"/>
            <a:ext cx="0" cy="411480"/>
          </a:xfrm>
          <a:prstGeom prst="line">
            <a:avLst/>
          </a:prstGeom>
          <a:noFill/>
          <a:ln w="22225">
            <a:solidFill>
              <a:srgbClr val="94A3B8"/>
            </a:solidFill>
            <a:prstDash val="solid"/>
            <a:tailEnd type="triangle"/>
          </a:ln>
        </p:spPr>
      </p:sp>
      <p:sp>
        <p:nvSpPr>
          <p:cNvPr id="11" name="Shape 9"/>
          <p:cNvSpPr/>
          <p:nvPr/>
        </p:nvSpPr>
        <p:spPr>
          <a:xfrm flipV="1">
            <a:off x="1874520" y="3749040"/>
            <a:ext cx="777240" cy="457200"/>
          </a:xfrm>
          <a:prstGeom prst="line">
            <a:avLst/>
          </a:prstGeom>
          <a:noFill/>
          <a:ln w="22225">
            <a:solidFill>
              <a:srgbClr val="94A3B8"/>
            </a:solidFill>
            <a:prstDash val="solid"/>
            <a:tailEnd type="triangle"/>
          </a:ln>
        </p:spPr>
      </p:sp>
      <p:sp>
        <p:nvSpPr>
          <p:cNvPr id="12" name="Shape 10"/>
          <p:cNvSpPr/>
          <p:nvPr/>
        </p:nvSpPr>
        <p:spPr>
          <a:xfrm flipH="1" flipV="1">
            <a:off x="4114800" y="3749040"/>
            <a:ext cx="777240" cy="457200"/>
          </a:xfrm>
          <a:prstGeom prst="line">
            <a:avLst/>
          </a:prstGeom>
          <a:noFill/>
          <a:ln w="22225">
            <a:solidFill>
              <a:srgbClr val="94A3B8"/>
            </a:solidFill>
            <a:prstDash val="solid"/>
            <a:tailEnd type="triangle"/>
          </a:ln>
        </p:spPr>
      </p:sp>
      <p:sp>
        <p:nvSpPr>
          <p:cNvPr id="13" name="Shape 11"/>
          <p:cNvSpPr/>
          <p:nvPr/>
        </p:nvSpPr>
        <p:spPr>
          <a:xfrm flipV="1">
            <a:off x="1874520" y="4773168"/>
            <a:ext cx="0" cy="576072"/>
          </a:xfrm>
          <a:prstGeom prst="line">
            <a:avLst/>
          </a:prstGeom>
          <a:noFill/>
          <a:ln w="22225">
            <a:solidFill>
              <a:srgbClr val="94A3B8"/>
            </a:solidFill>
            <a:prstDash val="solid"/>
            <a:tailEnd type="triangle"/>
          </a:ln>
        </p:spPr>
      </p:sp>
      <p:sp>
        <p:nvSpPr>
          <p:cNvPr id="14" name="Text 12"/>
          <p:cNvSpPr txBox="1"/>
          <p:nvPr/>
        </p:nvSpPr>
        <p:spPr>
          <a:xfrm>
            <a:off x="3520440" y="2651760"/>
            <a:ext cx="1371600" cy="274320"/>
          </a:xfrm>
          <a:prstGeom prst="rect">
            <a:avLst/>
          </a:prstGeom>
          <a:noFill/>
          <a:ln/>
        </p:spPr>
        <p:txBody>
          <a:bodyPr wrap="square" lIns="0" tIns="0" rIns="0" bIns="0" rtlCol="0" anchor="t"/>
          <a:lstStyle/>
          <a:p>
            <a:pPr indent="0" marL="0">
              <a:buNone/>
            </a:pPr>
            <a:r>
              <a:rPr lang="en-US" sz="1200" i="1" dirty="0">
                <a:solidFill>
                  <a:schemeClr val="accent6"/>
                </a:solidFill>
              </a:rPr>
              <a:t>implements</a:t>
            </a:r>
            <a:endParaRPr lang="en-US" sz="1200" dirty="0"/>
          </a:p>
        </p:txBody>
      </p:sp>
      <p:sp>
        <p:nvSpPr>
          <p:cNvPr id="15" name="Text 13"/>
          <p:cNvSpPr txBox="1"/>
          <p:nvPr/>
        </p:nvSpPr>
        <p:spPr>
          <a:xfrm>
            <a:off x="2011680" y="4937760"/>
            <a:ext cx="2194560" cy="274320"/>
          </a:xfrm>
          <a:prstGeom prst="rect">
            <a:avLst/>
          </a:prstGeom>
          <a:noFill/>
          <a:ln/>
        </p:spPr>
        <p:txBody>
          <a:bodyPr wrap="square" lIns="0" tIns="0" rIns="0" bIns="0" rtlCol="0" anchor="t"/>
          <a:lstStyle/>
          <a:p>
            <a:pPr indent="0" marL="0">
              <a:buNone/>
            </a:pPr>
            <a:r>
              <a:rPr lang="en-US" sz="1200" i="1" dirty="0">
                <a:solidFill>
                  <a:schemeClr val="accent6"/>
                </a:solidFill>
              </a:rPr>
              <a:t>extends (multi-level)</a:t>
            </a:r>
            <a:endParaRPr lang="en-US" sz="1200" dirty="0"/>
          </a:p>
        </p:txBody>
      </p:sp>
      <p:sp>
        <p:nvSpPr>
          <p:cNvPr id="16" name="Text 14"/>
          <p:cNvSpPr txBox="1"/>
          <p:nvPr/>
        </p:nvSpPr>
        <p:spPr>
          <a:xfrm>
            <a:off x="6675120" y="1783080"/>
            <a:ext cx="4937760" cy="365760"/>
          </a:xfrm>
          <a:prstGeom prst="rect">
            <a:avLst/>
          </a:prstGeom>
          <a:noFill/>
          <a:ln/>
        </p:spPr>
        <p:txBody>
          <a:bodyPr wrap="square" lIns="0" tIns="0" rIns="0" bIns="0" rtlCol="0" anchor="t"/>
          <a:lstStyle/>
          <a:p>
            <a:pPr indent="0" marL="0">
              <a:buNone/>
            </a:pPr>
            <a:r>
              <a:rPr lang="en-US" sz="1800" b="1" dirty="0">
                <a:solidFill>
                  <a:schemeClr val="tx2"/>
                </a:solidFill>
              </a:rPr>
              <a:t>Same call, different result</a:t>
            </a:r>
            <a:endParaRPr lang="en-US" sz="1800" dirty="0"/>
          </a:p>
        </p:txBody>
      </p:sp>
      <p:sp>
        <p:nvSpPr>
          <p:cNvPr id="17" name="code"/>
          <p:cNvSpPr txBox="1"/>
          <p:nvPr/>
        </p:nvSpPr>
        <p:spPr>
          <a:xfrm>
            <a:off x="6675120" y="2240280"/>
            <a:ext cx="4937760" cy="777240"/>
          </a:xfrm>
          <a:prstGeom prst="roundRect">
            <a:avLst>
              <a:gd name="adj" fmla="val 9412"/>
            </a:avLst>
          </a:prstGeom>
          <a:solidFill>
            <a:srgbClr val="0F172A"/>
          </a:solidFill>
          <a:ln/>
        </p:spPr>
        <p:txBody>
          <a:bodyPr wrap="square" lIns="177800" tIns="177800" rIns="177800" bIns="177800" rtlCol="0" anchor="t"/>
          <a:lstStyle/>
          <a:p>
            <a:pPr indent="0" marL="0">
              <a:buNone/>
            </a:pPr>
            <a:r>
              <a:rPr lang="en-US" sz="1300" dirty="0">
                <a:solidFill>
                  <a:srgbClr val="E2E8F0"/>
                </a:solidFill>
                <a:latin typeface="Courier New" pitchFamily="34" charset="0"/>
                <a:ea typeface="Courier New" pitchFamily="34" charset="-122"/>
                <a:cs typeface="Courier New" pitchFamily="34" charset="-120"/>
              </a:rPr>
              <a:t>BankAccount a = BankAccount.of(type,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a.monthlyInterest(); // ₹1,20,000 at 3%</a:t>
            </a:r>
            <a:endParaRPr lang="en-US" sz="1300" dirty="0"/>
          </a:p>
        </p:txBody>
      </p:sp>
      <p:sp>
        <p:nvSpPr>
          <p:cNvPr id="18" name="card"/>
          <p:cNvSpPr/>
          <p:nvPr/>
        </p:nvSpPr>
        <p:spPr>
          <a:xfrm>
            <a:off x="6675120" y="3200400"/>
            <a:ext cx="4937760" cy="512064"/>
          </a:xfrm>
          <a:prstGeom prst="roundRect">
            <a:avLst>
              <a:gd name="adj" fmla="val 14286"/>
            </a:avLst>
          </a:prstGeom>
          <a:solidFill>
            <a:schemeClr val="bg2"/>
          </a:solidFill>
          <a:ln/>
        </p:spPr>
      </p:sp>
      <p:sp>
        <p:nvSpPr>
          <p:cNvPr id="19" name="Text 17"/>
          <p:cNvSpPr txBox="1"/>
          <p:nvPr/>
        </p:nvSpPr>
        <p:spPr>
          <a:xfrm>
            <a:off x="6903720" y="3310128"/>
            <a:ext cx="1463040" cy="320040"/>
          </a:xfrm>
          <a:prstGeom prst="rect">
            <a:avLst/>
          </a:prstGeom>
          <a:noFill/>
          <a:ln/>
        </p:spPr>
        <p:txBody>
          <a:bodyPr wrap="square" lIns="0" tIns="0" rIns="0" bIns="0" rtlCol="0" anchor="t"/>
          <a:lstStyle/>
          <a:p>
            <a:pPr indent="0" marL="0">
              <a:buNone/>
            </a:pPr>
            <a:r>
              <a:rPr lang="en-US" sz="1500" b="1" dirty="0">
                <a:solidFill>
                  <a:schemeClr val="tx1"/>
                </a:solidFill>
              </a:rPr>
              <a:t>Savings</a:t>
            </a:r>
            <a:endParaRPr lang="en-US" sz="1500" dirty="0"/>
          </a:p>
        </p:txBody>
      </p:sp>
      <p:sp>
        <p:nvSpPr>
          <p:cNvPr id="20" name="Text 18"/>
          <p:cNvSpPr txBox="1"/>
          <p:nvPr/>
        </p:nvSpPr>
        <p:spPr>
          <a:xfrm>
            <a:off x="8321040" y="3310128"/>
            <a:ext cx="1280160" cy="320040"/>
          </a:xfrm>
          <a:prstGeom prst="rect">
            <a:avLst/>
          </a:prstGeom>
          <a:noFill/>
          <a:ln/>
        </p:spPr>
        <p:txBody>
          <a:bodyPr wrap="square" lIns="0" tIns="0" rIns="0" bIns="0" rtlCol="0" anchor="t"/>
          <a:lstStyle/>
          <a:p>
            <a:pPr indent="0" marL="0">
              <a:buNone/>
            </a:pPr>
            <a:r>
              <a:rPr lang="en-US" sz="1500" b="1" dirty="0">
                <a:solidFill>
                  <a:schemeClr val="accent4"/>
                </a:solidFill>
              </a:rPr>
              <a:t>₹300.00</a:t>
            </a:r>
            <a:endParaRPr lang="en-US" sz="1500" dirty="0"/>
          </a:p>
        </p:txBody>
      </p:sp>
      <p:sp>
        <p:nvSpPr>
          <p:cNvPr id="21" name="Text 19"/>
          <p:cNvSpPr txBox="1"/>
          <p:nvPr/>
        </p:nvSpPr>
        <p:spPr>
          <a:xfrm>
            <a:off x="9692640" y="3319272"/>
            <a:ext cx="1828800" cy="320040"/>
          </a:xfrm>
          <a:prstGeom prst="rect">
            <a:avLst/>
          </a:prstGeom>
          <a:noFill/>
          <a:ln/>
        </p:spPr>
        <p:txBody>
          <a:bodyPr wrap="square" lIns="0" tIns="0" rIns="0" bIns="0" rtlCol="0" anchor="t"/>
          <a:lstStyle/>
          <a:p>
            <a:pPr indent="0" marL="0">
              <a:buNone/>
            </a:pPr>
            <a:r>
              <a:rPr lang="en-US" sz="1300" dirty="0">
                <a:solidFill>
                  <a:schemeClr val="accent6"/>
                </a:solidFill>
              </a:rPr>
              <a:t>earns interest</a:t>
            </a:r>
            <a:endParaRPr lang="en-US" sz="1300" dirty="0"/>
          </a:p>
        </p:txBody>
      </p:sp>
      <p:sp>
        <p:nvSpPr>
          <p:cNvPr id="22" name="card"/>
          <p:cNvSpPr/>
          <p:nvPr/>
        </p:nvSpPr>
        <p:spPr>
          <a:xfrm>
            <a:off x="6675120" y="3840480"/>
            <a:ext cx="4937760" cy="512064"/>
          </a:xfrm>
          <a:prstGeom prst="roundRect">
            <a:avLst>
              <a:gd name="adj" fmla="val 14286"/>
            </a:avLst>
          </a:prstGeom>
          <a:solidFill>
            <a:schemeClr val="bg2"/>
          </a:solidFill>
          <a:ln/>
        </p:spPr>
      </p:sp>
      <p:sp>
        <p:nvSpPr>
          <p:cNvPr id="23" name="Text 21"/>
          <p:cNvSpPr txBox="1"/>
          <p:nvPr/>
        </p:nvSpPr>
        <p:spPr>
          <a:xfrm>
            <a:off x="6903720" y="3950208"/>
            <a:ext cx="1463040" cy="320040"/>
          </a:xfrm>
          <a:prstGeom prst="rect">
            <a:avLst/>
          </a:prstGeom>
          <a:noFill/>
          <a:ln/>
        </p:spPr>
        <p:txBody>
          <a:bodyPr wrap="square" lIns="0" tIns="0" rIns="0" bIns="0" rtlCol="0" anchor="t"/>
          <a:lstStyle/>
          <a:p>
            <a:pPr indent="0" marL="0">
              <a:buNone/>
            </a:pPr>
            <a:r>
              <a:rPr lang="en-US" sz="1500" b="1" dirty="0">
                <a:solidFill>
                  <a:schemeClr val="tx1"/>
                </a:solidFill>
              </a:rPr>
              <a:t>Salary</a:t>
            </a:r>
            <a:endParaRPr lang="en-US" sz="1500" dirty="0"/>
          </a:p>
        </p:txBody>
      </p:sp>
      <p:sp>
        <p:nvSpPr>
          <p:cNvPr id="24" name="Text 22"/>
          <p:cNvSpPr txBox="1"/>
          <p:nvPr/>
        </p:nvSpPr>
        <p:spPr>
          <a:xfrm>
            <a:off x="8321040" y="3950208"/>
            <a:ext cx="1280160" cy="320040"/>
          </a:xfrm>
          <a:prstGeom prst="rect">
            <a:avLst/>
          </a:prstGeom>
          <a:noFill/>
          <a:ln/>
        </p:spPr>
        <p:txBody>
          <a:bodyPr wrap="square" lIns="0" tIns="0" rIns="0" bIns="0" rtlCol="0" anchor="t"/>
          <a:lstStyle/>
          <a:p>
            <a:pPr indent="0" marL="0">
              <a:buNone/>
            </a:pPr>
            <a:r>
              <a:rPr lang="en-US" sz="1500" b="1" dirty="0">
                <a:solidFill>
                  <a:schemeClr val="accent4"/>
                </a:solidFill>
              </a:rPr>
              <a:t>₹300.00</a:t>
            </a:r>
            <a:endParaRPr lang="en-US" sz="1500" dirty="0"/>
          </a:p>
        </p:txBody>
      </p:sp>
      <p:sp>
        <p:nvSpPr>
          <p:cNvPr id="25" name="Text 23"/>
          <p:cNvSpPr txBox="1"/>
          <p:nvPr/>
        </p:nvSpPr>
        <p:spPr>
          <a:xfrm>
            <a:off x="9692640" y="3959352"/>
            <a:ext cx="1828800" cy="320040"/>
          </a:xfrm>
          <a:prstGeom prst="rect">
            <a:avLst/>
          </a:prstGeom>
          <a:noFill/>
          <a:ln/>
        </p:spPr>
        <p:txBody>
          <a:bodyPr wrap="square" lIns="0" tIns="0" rIns="0" bIns="0" rtlCol="0" anchor="t"/>
          <a:lstStyle/>
          <a:p>
            <a:pPr indent="0" marL="0">
              <a:buNone/>
            </a:pPr>
            <a:r>
              <a:rPr lang="en-US" sz="1300" dirty="0">
                <a:solidFill>
                  <a:schemeClr val="accent6"/>
                </a:solidFill>
              </a:rPr>
              <a:t>inherits Savings</a:t>
            </a:r>
            <a:endParaRPr lang="en-US" sz="1300" dirty="0"/>
          </a:p>
        </p:txBody>
      </p:sp>
      <p:sp>
        <p:nvSpPr>
          <p:cNvPr id="26" name="card"/>
          <p:cNvSpPr/>
          <p:nvPr/>
        </p:nvSpPr>
        <p:spPr>
          <a:xfrm>
            <a:off x="6675120" y="4480560"/>
            <a:ext cx="4937760" cy="512064"/>
          </a:xfrm>
          <a:prstGeom prst="roundRect">
            <a:avLst>
              <a:gd name="adj" fmla="val 14286"/>
            </a:avLst>
          </a:prstGeom>
          <a:solidFill>
            <a:schemeClr val="bg2"/>
          </a:solidFill>
          <a:ln/>
        </p:spPr>
      </p:sp>
      <p:sp>
        <p:nvSpPr>
          <p:cNvPr id="27" name="Text 25"/>
          <p:cNvSpPr txBox="1"/>
          <p:nvPr/>
        </p:nvSpPr>
        <p:spPr>
          <a:xfrm>
            <a:off x="6903720" y="4590288"/>
            <a:ext cx="1463040" cy="320040"/>
          </a:xfrm>
          <a:prstGeom prst="rect">
            <a:avLst/>
          </a:prstGeom>
          <a:noFill/>
          <a:ln/>
        </p:spPr>
        <p:txBody>
          <a:bodyPr wrap="square" lIns="0" tIns="0" rIns="0" bIns="0" rtlCol="0" anchor="t"/>
          <a:lstStyle/>
          <a:p>
            <a:pPr indent="0" marL="0">
              <a:buNone/>
            </a:pPr>
            <a:r>
              <a:rPr lang="en-US" sz="1500" b="1" dirty="0">
                <a:solidFill>
                  <a:schemeClr val="tx1"/>
                </a:solidFill>
              </a:rPr>
              <a:t>Current</a:t>
            </a:r>
            <a:endParaRPr lang="en-US" sz="1500" dirty="0"/>
          </a:p>
        </p:txBody>
      </p:sp>
      <p:sp>
        <p:nvSpPr>
          <p:cNvPr id="28" name="Text 26"/>
          <p:cNvSpPr txBox="1"/>
          <p:nvPr/>
        </p:nvSpPr>
        <p:spPr>
          <a:xfrm>
            <a:off x="8321040" y="4590288"/>
            <a:ext cx="1280160" cy="320040"/>
          </a:xfrm>
          <a:prstGeom prst="rect">
            <a:avLst/>
          </a:prstGeom>
          <a:noFill/>
          <a:ln/>
        </p:spPr>
        <p:txBody>
          <a:bodyPr wrap="square" lIns="0" tIns="0" rIns="0" bIns="0" rtlCol="0" anchor="t"/>
          <a:lstStyle/>
          <a:p>
            <a:pPr indent="0" marL="0">
              <a:buNone/>
            </a:pPr>
            <a:r>
              <a:rPr lang="en-US" sz="1500" b="1" dirty="0">
                <a:solidFill>
                  <a:schemeClr val="accent4"/>
                </a:solidFill>
              </a:rPr>
              <a:t>₹0.00</a:t>
            </a:r>
            <a:endParaRPr lang="en-US" sz="1500" dirty="0"/>
          </a:p>
        </p:txBody>
      </p:sp>
      <p:sp>
        <p:nvSpPr>
          <p:cNvPr id="29" name="Text 27"/>
          <p:cNvSpPr txBox="1"/>
          <p:nvPr/>
        </p:nvSpPr>
        <p:spPr>
          <a:xfrm>
            <a:off x="9692640" y="4599432"/>
            <a:ext cx="1828800" cy="320040"/>
          </a:xfrm>
          <a:prstGeom prst="rect">
            <a:avLst/>
          </a:prstGeom>
          <a:noFill/>
          <a:ln/>
        </p:spPr>
        <p:txBody>
          <a:bodyPr wrap="square" lIns="0" tIns="0" rIns="0" bIns="0" rtlCol="0" anchor="t"/>
          <a:lstStyle/>
          <a:p>
            <a:pPr indent="0" marL="0">
              <a:buNone/>
            </a:pPr>
            <a:r>
              <a:rPr lang="en-US" sz="1300" dirty="0">
                <a:solidFill>
                  <a:schemeClr val="accent6"/>
                </a:solidFill>
              </a:rPr>
              <a:t>overrides to zero</a:t>
            </a:r>
            <a:endParaRPr lang="en-US" sz="1300" dirty="0"/>
          </a:p>
        </p:txBody>
      </p:sp>
      <p:sp>
        <p:nvSpPr>
          <p:cNvPr id="30" name="Text 28"/>
          <p:cNvSpPr txBox="1"/>
          <p:nvPr/>
        </p:nvSpPr>
        <p:spPr>
          <a:xfrm>
            <a:off x="6675120" y="5257800"/>
            <a:ext cx="4937760" cy="914400"/>
          </a:xfrm>
          <a:prstGeom prst="rect">
            <a:avLst/>
          </a:prstGeom>
          <a:noFill/>
          <a:ln/>
        </p:spPr>
        <p:txBody>
          <a:bodyPr wrap="square" lIns="0" tIns="0" rIns="0" bIns="0" rtlCol="0" anchor="t"/>
          <a:lstStyle/>
          <a:p>
            <a:pPr indent="0" marL="0">
              <a:spcAft>
                <a:spcPts val="400"/>
              </a:spcAft>
              <a:buNone/>
            </a:pPr>
            <a:r>
              <a:rPr lang="en-US" sz="1400" b="1" dirty="0">
                <a:solidFill>
                  <a:schemeClr val="tx1"/>
                </a:solidFill>
              </a:rPr>
              <a:t>Factory  </a:t>
            </a:r>
            <a:pPr indent="0" marL="0">
              <a:spcAft>
                <a:spcPts val="400"/>
              </a:spcAft>
              <a:buNone/>
            </a:pPr>
            <a:r>
              <a:rPr lang="en-US" sz="1400" dirty="0">
                <a:solidFill>
                  <a:schemeClr val="tx1"/>
                </a:solidFill>
              </a:rPr>
              <a:t>BankAccount.of() picks the subclass</a:t>
            </a:r>
            <a:endParaRPr lang="en-US" sz="1400" dirty="0"/>
          </a:p>
          <a:p>
            <a:pPr indent="0" marL="0">
              <a:spcAft>
                <a:spcPts val="400"/>
              </a:spcAft>
              <a:buNone/>
            </a:pPr>
            <a:r>
              <a:rPr lang="en-US" sz="1400" b="1" dirty="0">
                <a:solidFill>
                  <a:schemeClr val="tx1"/>
                </a:solidFill>
              </a:rPr>
              <a:t>Template method  </a:t>
            </a:r>
            <a:pPr indent="0" marL="0">
              <a:spcAft>
                <a:spcPts val="400"/>
              </a:spcAft>
              <a:buNone/>
            </a:pPr>
            <a:r>
              <a:rPr lang="en-US" sz="1400" dirty="0">
                <a:solidFill>
                  <a:schemeClr val="tx1"/>
                </a:solidFill>
              </a:rPr>
              <a:t>final doGet(), pages override render()</a:t>
            </a:r>
            <a:endParaRPr lang="en-US" sz="1400" dirty="0"/>
          </a:p>
          <a:p>
            <a:pPr indent="0" marL="0">
              <a:spcAft>
                <a:spcPts val="400"/>
              </a:spcAft>
              <a:buNone/>
            </a:pPr>
            <a:r>
              <a:rPr lang="en-US" sz="1400" b="1" dirty="0">
                <a:solidFill>
                  <a:schemeClr val="tx1"/>
                </a:solidFill>
              </a:rPr>
              <a:t>Encapsulation  </a:t>
            </a:r>
            <a:pPr indent="0" marL="0">
              <a:spcAft>
                <a:spcPts val="400"/>
              </a:spcAft>
              <a:buNone/>
            </a:pPr>
            <a:r>
              <a:rPr lang="en-US" sz="1400" dirty="0">
                <a:solidFill>
                  <a:schemeClr val="tx1"/>
                </a:solidFill>
              </a:rPr>
              <a:t>private balance, synchronized access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CORE JAVA  |  EXCEPTION HANDLING</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Custom checked exceptions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The compiler forces callers to handle every banking failure.</a:t>
            </a:r>
            <a:endParaRPr lang="en-US" sz="1600" dirty="0"/>
          </a:p>
        </p:txBody>
      </p:sp>
      <p:sp>
        <p:nvSpPr>
          <p:cNvPr id="5" name="Text 3"/>
          <p:cNvSpPr txBox="1"/>
          <p:nvPr/>
        </p:nvSpPr>
        <p:spPr>
          <a:xfrm>
            <a:off x="1828800" y="1783080"/>
            <a:ext cx="2743200" cy="502920"/>
          </a:xfrm>
          <a:prstGeom prst="roundRect">
            <a:avLst>
              <a:gd name="adj" fmla="val 14545"/>
            </a:avLst>
          </a:prstGeom>
          <a:solidFill>
            <a:schemeClr val="bg2"/>
          </a:solidFill>
          <a:ln/>
        </p:spPr>
        <p:txBody>
          <a:bodyPr wrap="square" lIns="76200" tIns="76200" rIns="76200" bIns="76200" rtlCol="0" anchor="ctr"/>
          <a:lstStyle/>
          <a:p>
            <a:pPr algn="ctr" indent="0" marL="0">
              <a:buNone/>
            </a:pPr>
            <a:r>
              <a:rPr lang="en-US" sz="1400" dirty="0">
                <a:solidFill>
                  <a:schemeClr val="tx1"/>
                </a:solidFill>
                <a:latin typeface="Courier New" pitchFamily="34" charset="0"/>
                <a:ea typeface="Courier New" pitchFamily="34" charset="-122"/>
                <a:cs typeface="Courier New" pitchFamily="34" charset="-120"/>
              </a:rPr>
              <a:t>java.lang.Exception</a:t>
            </a:r>
            <a:endParaRPr lang="en-US" sz="1400" dirty="0"/>
          </a:p>
        </p:txBody>
      </p:sp>
      <p:sp>
        <p:nvSpPr>
          <p:cNvPr id="6" name="Text 4"/>
          <p:cNvSpPr txBox="1"/>
          <p:nvPr/>
        </p:nvSpPr>
        <p:spPr>
          <a:xfrm>
            <a:off x="1600200" y="2697480"/>
            <a:ext cx="3200400" cy="731520"/>
          </a:xfrm>
          <a:prstGeom prst="roundRect">
            <a:avLst>
              <a:gd name="adj" fmla="val 10000"/>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BankingException</a:t>
            </a:r>
            <a:endParaRPr lang="en-US" sz="1400" dirty="0"/>
          </a:p>
          <a:p>
            <a:pPr algn="ctr" indent="0" marL="0">
              <a:buNone/>
            </a:pPr>
            <a:r>
              <a:rPr lang="en-US" sz="1200" dirty="0">
                <a:solidFill>
                  <a:schemeClr val="bg1"/>
                </a:solidFill>
              </a:rPr>
              <a:t>checked: callers must handle it</a:t>
            </a:r>
            <a:endParaRPr lang="en-US" sz="1400" dirty="0"/>
          </a:p>
        </p:txBody>
      </p:sp>
      <p:sp>
        <p:nvSpPr>
          <p:cNvPr id="7" name="Text 5"/>
          <p:cNvSpPr txBox="1"/>
          <p:nvPr/>
        </p:nvSpPr>
        <p:spPr>
          <a:xfrm>
            <a:off x="548640" y="3931920"/>
            <a:ext cx="1645920" cy="731520"/>
          </a:xfrm>
          <a:prstGeom prst="roundRect">
            <a:avLst>
              <a:gd name="adj" fmla="val 10000"/>
            </a:avLst>
          </a:prstGeom>
          <a:solidFill>
            <a:srgbClr val="FEF2F2"/>
          </a:solidFill>
          <a:ln w="15875">
            <a:solidFill>
              <a:schemeClr val="accent5"/>
            </a:solidFill>
          </a:ln>
        </p:spPr>
        <p:txBody>
          <a:bodyPr wrap="square" lIns="76200" tIns="76200" rIns="76200" bIns="76200" rtlCol="0" anchor="ctr"/>
          <a:lstStyle/>
          <a:p>
            <a:pPr algn="ctr" indent="0" marL="0">
              <a:buNone/>
            </a:pPr>
            <a:r>
              <a:rPr lang="en-US" sz="1300" b="1" dirty="0">
                <a:solidFill>
                  <a:schemeClr val="tx1"/>
                </a:solidFill>
              </a:rPr>
              <a:t>InsufficientFunds</a:t>
            </a:r>
            <a:endParaRPr lang="en-US" sz="1300" dirty="0"/>
          </a:p>
          <a:p>
            <a:pPr algn="ctr" indent="0" marL="0">
              <a:buNone/>
            </a:pPr>
            <a:r>
              <a:rPr lang="en-US" sz="1300" b="1" dirty="0">
                <a:solidFill>
                  <a:schemeClr val="tx1"/>
                </a:solidFill>
              </a:rPr>
              <a:t>Exception</a:t>
            </a:r>
            <a:endParaRPr lang="en-US" sz="1300" dirty="0"/>
          </a:p>
        </p:txBody>
      </p:sp>
      <p:sp>
        <p:nvSpPr>
          <p:cNvPr id="8" name="Shape 6"/>
          <p:cNvSpPr/>
          <p:nvPr/>
        </p:nvSpPr>
        <p:spPr>
          <a:xfrm flipV="1">
            <a:off x="1371600" y="3429000"/>
            <a:ext cx="1828800" cy="502920"/>
          </a:xfrm>
          <a:prstGeom prst="line">
            <a:avLst/>
          </a:prstGeom>
          <a:noFill/>
          <a:ln w="22225">
            <a:solidFill>
              <a:srgbClr val="94A3B8"/>
            </a:solidFill>
            <a:prstDash val="solid"/>
            <a:tailEnd type="triangle"/>
          </a:ln>
        </p:spPr>
      </p:sp>
      <p:sp>
        <p:nvSpPr>
          <p:cNvPr id="9" name="Text 7"/>
          <p:cNvSpPr txBox="1"/>
          <p:nvPr/>
        </p:nvSpPr>
        <p:spPr>
          <a:xfrm>
            <a:off x="2331720" y="3931920"/>
            <a:ext cx="1645920" cy="731520"/>
          </a:xfrm>
          <a:prstGeom prst="roundRect">
            <a:avLst>
              <a:gd name="adj" fmla="val 10000"/>
            </a:avLst>
          </a:prstGeom>
          <a:solidFill>
            <a:srgbClr val="FEF2F2"/>
          </a:solidFill>
          <a:ln w="15875">
            <a:solidFill>
              <a:schemeClr val="accent5"/>
            </a:solidFill>
          </a:ln>
        </p:spPr>
        <p:txBody>
          <a:bodyPr wrap="square" lIns="76200" tIns="76200" rIns="76200" bIns="76200" rtlCol="0" anchor="ctr"/>
          <a:lstStyle/>
          <a:p>
            <a:pPr algn="ctr" indent="0" marL="0">
              <a:buNone/>
            </a:pPr>
            <a:r>
              <a:rPr lang="en-US" sz="1300" b="1" dirty="0">
                <a:solidFill>
                  <a:schemeClr val="tx1"/>
                </a:solidFill>
              </a:rPr>
              <a:t>AccountNotFound</a:t>
            </a:r>
            <a:endParaRPr lang="en-US" sz="1300" dirty="0"/>
          </a:p>
          <a:p>
            <a:pPr algn="ctr" indent="0" marL="0">
              <a:buNone/>
            </a:pPr>
            <a:r>
              <a:rPr lang="en-US" sz="1300" b="1" dirty="0">
                <a:solidFill>
                  <a:schemeClr val="tx1"/>
                </a:solidFill>
              </a:rPr>
              <a:t>Exception</a:t>
            </a:r>
            <a:endParaRPr lang="en-US" sz="1300" dirty="0"/>
          </a:p>
        </p:txBody>
      </p:sp>
      <p:sp>
        <p:nvSpPr>
          <p:cNvPr id="10" name="Shape 8"/>
          <p:cNvSpPr/>
          <p:nvPr/>
        </p:nvSpPr>
        <p:spPr>
          <a:xfrm flipV="1">
            <a:off x="3154680" y="3429000"/>
            <a:ext cx="45720" cy="502920"/>
          </a:xfrm>
          <a:prstGeom prst="line">
            <a:avLst/>
          </a:prstGeom>
          <a:noFill/>
          <a:ln w="22225">
            <a:solidFill>
              <a:srgbClr val="94A3B8"/>
            </a:solidFill>
            <a:prstDash val="solid"/>
            <a:tailEnd type="triangle"/>
          </a:ln>
        </p:spPr>
      </p:sp>
      <p:sp>
        <p:nvSpPr>
          <p:cNvPr id="11" name="Text 9"/>
          <p:cNvSpPr txBox="1"/>
          <p:nvPr/>
        </p:nvSpPr>
        <p:spPr>
          <a:xfrm>
            <a:off x="4114800" y="3931920"/>
            <a:ext cx="1645920" cy="731520"/>
          </a:xfrm>
          <a:prstGeom prst="roundRect">
            <a:avLst>
              <a:gd name="adj" fmla="val 10000"/>
            </a:avLst>
          </a:prstGeom>
          <a:solidFill>
            <a:srgbClr val="FEF2F2"/>
          </a:solidFill>
          <a:ln w="15875">
            <a:solidFill>
              <a:schemeClr val="accent5"/>
            </a:solidFill>
          </a:ln>
        </p:spPr>
        <p:txBody>
          <a:bodyPr wrap="square" lIns="76200" tIns="76200" rIns="76200" bIns="76200" rtlCol="0" anchor="ctr"/>
          <a:lstStyle/>
          <a:p>
            <a:pPr algn="ctr" indent="0" marL="0">
              <a:buNone/>
            </a:pPr>
            <a:r>
              <a:rPr lang="en-US" sz="1300" b="1" dirty="0">
                <a:solidFill>
                  <a:schemeClr val="tx1"/>
                </a:solidFill>
              </a:rPr>
              <a:t>Database</a:t>
            </a:r>
            <a:endParaRPr lang="en-US" sz="1300" dirty="0"/>
          </a:p>
          <a:p>
            <a:pPr algn="ctr" indent="0" marL="0">
              <a:buNone/>
            </a:pPr>
            <a:r>
              <a:rPr lang="en-US" sz="1300" b="1" dirty="0">
                <a:solidFill>
                  <a:schemeClr val="tx1"/>
                </a:solidFill>
              </a:rPr>
              <a:t>Exception</a:t>
            </a:r>
            <a:endParaRPr lang="en-US" sz="1300" dirty="0"/>
          </a:p>
        </p:txBody>
      </p:sp>
      <p:sp>
        <p:nvSpPr>
          <p:cNvPr id="12" name="Shape 10"/>
          <p:cNvSpPr/>
          <p:nvPr/>
        </p:nvSpPr>
        <p:spPr>
          <a:xfrm flipH="1" flipV="1">
            <a:off x="3200400" y="3429000"/>
            <a:ext cx="1737360" cy="502920"/>
          </a:xfrm>
          <a:prstGeom prst="line">
            <a:avLst/>
          </a:prstGeom>
          <a:noFill/>
          <a:ln w="22225">
            <a:solidFill>
              <a:srgbClr val="94A3B8"/>
            </a:solidFill>
            <a:prstDash val="solid"/>
            <a:tailEnd type="triangle"/>
          </a:ln>
        </p:spPr>
      </p:sp>
      <p:sp>
        <p:nvSpPr>
          <p:cNvPr id="13" name="Shape 11"/>
          <p:cNvSpPr/>
          <p:nvPr/>
        </p:nvSpPr>
        <p:spPr>
          <a:xfrm flipV="1">
            <a:off x="3200400" y="2286000"/>
            <a:ext cx="0" cy="411480"/>
          </a:xfrm>
          <a:prstGeom prst="line">
            <a:avLst/>
          </a:prstGeom>
          <a:noFill/>
          <a:ln w="22225">
            <a:solidFill>
              <a:srgbClr val="94A3B8"/>
            </a:solidFill>
            <a:prstDash val="solid"/>
            <a:tailEnd type="triangle"/>
          </a:ln>
        </p:spPr>
      </p:sp>
      <p:sp>
        <p:nvSpPr>
          <p:cNvPr id="14" name="Text 12"/>
          <p:cNvSpPr txBox="1"/>
          <p:nvPr/>
        </p:nvSpPr>
        <p:spPr>
          <a:xfrm>
            <a:off x="4114800" y="5120640"/>
            <a:ext cx="1691640" cy="548640"/>
          </a:xfrm>
          <a:prstGeom prst="roundRect">
            <a:avLst>
              <a:gd name="adj" fmla="val 13333"/>
            </a:avLst>
          </a:prstGeom>
          <a:solidFill>
            <a:schemeClr val="bg1"/>
          </a:solidFill>
          <a:ln w="15875">
            <a:solidFill>
              <a:srgbClr val="CBD5E1"/>
            </a:solidFill>
          </a:ln>
        </p:spPr>
        <p:txBody>
          <a:bodyPr wrap="square" lIns="76200" tIns="76200" rIns="76200" bIns="76200" rtlCol="0" anchor="ctr"/>
          <a:lstStyle/>
          <a:p>
            <a:pPr algn="ctr" indent="0" marL="0">
              <a:buNone/>
            </a:pPr>
            <a:r>
              <a:rPr lang="en-US" sz="1200" dirty="0">
                <a:solidFill>
                  <a:schemeClr val="tx1"/>
                </a:solidFill>
              </a:rPr>
              <a:t>wraps java.sql.SQLException</a:t>
            </a:r>
            <a:endParaRPr lang="en-US" sz="1200" dirty="0"/>
          </a:p>
        </p:txBody>
      </p:sp>
      <p:sp>
        <p:nvSpPr>
          <p:cNvPr id="15" name="Shape 13"/>
          <p:cNvSpPr/>
          <p:nvPr/>
        </p:nvSpPr>
        <p:spPr>
          <a:xfrm flipV="1">
            <a:off x="4937760" y="4663440"/>
            <a:ext cx="0" cy="457200"/>
          </a:xfrm>
          <a:prstGeom prst="line">
            <a:avLst/>
          </a:prstGeom>
          <a:noFill/>
          <a:ln w="22225">
            <a:solidFill>
              <a:srgbClr val="94A3B8"/>
            </a:solidFill>
            <a:prstDash val="solid"/>
            <a:tailEnd type="triangle"/>
          </a:ln>
        </p:spPr>
      </p:sp>
      <p:sp>
        <p:nvSpPr>
          <p:cNvPr id="16" name="Text 14"/>
          <p:cNvSpPr txBox="1"/>
          <p:nvPr/>
        </p:nvSpPr>
        <p:spPr>
          <a:xfrm>
            <a:off x="6492240" y="1783080"/>
            <a:ext cx="5120640" cy="365760"/>
          </a:xfrm>
          <a:prstGeom prst="rect">
            <a:avLst/>
          </a:prstGeom>
          <a:noFill/>
          <a:ln/>
        </p:spPr>
        <p:txBody>
          <a:bodyPr wrap="square" lIns="0" tIns="0" rIns="0" bIns="0" rtlCol="0" anchor="t"/>
          <a:lstStyle/>
          <a:p>
            <a:pPr indent="0" marL="0">
              <a:buNone/>
            </a:pPr>
            <a:r>
              <a:rPr lang="en-US" sz="1800" b="1" dirty="0">
                <a:solidFill>
                  <a:schemeClr val="tx2"/>
                </a:solidFill>
              </a:rPr>
              <a:t>How each failure reaches the user</a:t>
            </a:r>
            <a:endParaRPr lang="en-US" sz="1800" dirty="0"/>
          </a:p>
        </p:txBody>
      </p:sp>
      <p:sp>
        <p:nvSpPr>
          <p:cNvPr id="17" name="Text 15"/>
          <p:cNvSpPr txBox="1"/>
          <p:nvPr/>
        </p:nvSpPr>
        <p:spPr>
          <a:xfrm>
            <a:off x="6492240" y="2240280"/>
            <a:ext cx="777240" cy="493776"/>
          </a:xfrm>
          <a:prstGeom prst="roundRect">
            <a:avLst>
              <a:gd name="adj" fmla="val 14815"/>
            </a:avLst>
          </a:prstGeom>
          <a:solidFill>
            <a:schemeClr val="accent5"/>
          </a:solidFill>
          <a:ln/>
        </p:spPr>
        <p:txBody>
          <a:bodyPr wrap="square" lIns="76200" tIns="76200" rIns="76200" bIns="76200" rtlCol="0" anchor="ctr"/>
          <a:lstStyle/>
          <a:p>
            <a:pPr algn="ctr" indent="0" marL="0">
              <a:buNone/>
            </a:pPr>
            <a:r>
              <a:rPr lang="en-US" sz="1600" b="1" dirty="0">
                <a:solidFill>
                  <a:schemeClr val="bg1"/>
                </a:solidFill>
              </a:rPr>
              <a:t>400</a:t>
            </a:r>
            <a:endParaRPr lang="en-US" sz="1600" dirty="0"/>
          </a:p>
        </p:txBody>
      </p:sp>
      <p:sp>
        <p:nvSpPr>
          <p:cNvPr id="18" name="Text 16"/>
          <p:cNvSpPr txBox="1"/>
          <p:nvPr/>
        </p:nvSpPr>
        <p:spPr>
          <a:xfrm>
            <a:off x="7452360" y="2249424"/>
            <a:ext cx="4114800" cy="274320"/>
          </a:xfrm>
          <a:prstGeom prst="rect">
            <a:avLst/>
          </a:prstGeom>
          <a:noFill/>
          <a:ln/>
        </p:spPr>
        <p:txBody>
          <a:bodyPr wrap="square" lIns="0" tIns="0" rIns="0" bIns="0" rtlCol="0" anchor="t"/>
          <a:lstStyle/>
          <a:p>
            <a:pPr indent="0" marL="0">
              <a:buNone/>
            </a:pPr>
            <a:r>
              <a:rPr lang="en-US" sz="1400" b="1" dirty="0">
                <a:solidFill>
                  <a:schemeClr val="tx1"/>
                </a:solidFill>
              </a:rPr>
              <a:t>Bad input, e.g. accountId=abc</a:t>
            </a:r>
            <a:endParaRPr lang="en-US" sz="1400" dirty="0"/>
          </a:p>
        </p:txBody>
      </p:sp>
      <p:sp>
        <p:nvSpPr>
          <p:cNvPr id="19" name="Text 17"/>
          <p:cNvSpPr txBox="1"/>
          <p:nvPr/>
        </p:nvSpPr>
        <p:spPr>
          <a:xfrm>
            <a:off x="7452360" y="2496312"/>
            <a:ext cx="411480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IllegalArgumentException</a:t>
            </a:r>
            <a:endParaRPr lang="en-US" sz="1200" dirty="0"/>
          </a:p>
        </p:txBody>
      </p:sp>
      <p:sp>
        <p:nvSpPr>
          <p:cNvPr id="20" name="Text 18"/>
          <p:cNvSpPr txBox="1"/>
          <p:nvPr/>
        </p:nvSpPr>
        <p:spPr>
          <a:xfrm>
            <a:off x="6492240" y="2862072"/>
            <a:ext cx="777240" cy="493776"/>
          </a:xfrm>
          <a:prstGeom prst="roundRect">
            <a:avLst>
              <a:gd name="adj" fmla="val 14815"/>
            </a:avLst>
          </a:prstGeom>
          <a:solidFill>
            <a:schemeClr val="accent5"/>
          </a:solidFill>
          <a:ln/>
        </p:spPr>
        <p:txBody>
          <a:bodyPr wrap="square" lIns="76200" tIns="76200" rIns="76200" bIns="76200" rtlCol="0" anchor="ctr"/>
          <a:lstStyle/>
          <a:p>
            <a:pPr algn="ctr" indent="0" marL="0">
              <a:buNone/>
            </a:pPr>
            <a:r>
              <a:rPr lang="en-US" sz="1600" b="1" dirty="0">
                <a:solidFill>
                  <a:schemeClr val="bg1"/>
                </a:solidFill>
              </a:rPr>
              <a:t>404</a:t>
            </a:r>
            <a:endParaRPr lang="en-US" sz="1600" dirty="0"/>
          </a:p>
        </p:txBody>
      </p:sp>
      <p:sp>
        <p:nvSpPr>
          <p:cNvPr id="21" name="Text 19"/>
          <p:cNvSpPr txBox="1"/>
          <p:nvPr/>
        </p:nvSpPr>
        <p:spPr>
          <a:xfrm>
            <a:off x="7452360" y="2871216"/>
            <a:ext cx="4114800" cy="274320"/>
          </a:xfrm>
          <a:prstGeom prst="rect">
            <a:avLst/>
          </a:prstGeom>
          <a:noFill/>
          <a:ln/>
        </p:spPr>
        <p:txBody>
          <a:bodyPr wrap="square" lIns="0" tIns="0" rIns="0" bIns="0" rtlCol="0" anchor="t"/>
          <a:lstStyle/>
          <a:p>
            <a:pPr indent="0" marL="0">
              <a:buNone/>
            </a:pPr>
            <a:r>
              <a:rPr lang="en-US" sz="1400" b="1" dirty="0">
                <a:solidFill>
                  <a:schemeClr val="tx1"/>
                </a:solidFill>
              </a:rPr>
              <a:t>Someone else's account</a:t>
            </a:r>
            <a:endParaRPr lang="en-US" sz="1400" dirty="0"/>
          </a:p>
        </p:txBody>
      </p:sp>
      <p:sp>
        <p:nvSpPr>
          <p:cNvPr id="22" name="Text 20"/>
          <p:cNvSpPr txBox="1"/>
          <p:nvPr/>
        </p:nvSpPr>
        <p:spPr>
          <a:xfrm>
            <a:off x="7452360" y="3118104"/>
            <a:ext cx="411480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AccountNotFoundException</a:t>
            </a:r>
            <a:endParaRPr lang="en-US" sz="1200" dirty="0"/>
          </a:p>
        </p:txBody>
      </p:sp>
      <p:sp>
        <p:nvSpPr>
          <p:cNvPr id="23" name="Text 21"/>
          <p:cNvSpPr txBox="1"/>
          <p:nvPr/>
        </p:nvSpPr>
        <p:spPr>
          <a:xfrm>
            <a:off x="6492240" y="3483864"/>
            <a:ext cx="777240" cy="493776"/>
          </a:xfrm>
          <a:prstGeom prst="roundRect">
            <a:avLst>
              <a:gd name="adj" fmla="val 14815"/>
            </a:avLst>
          </a:prstGeom>
          <a:solidFill>
            <a:schemeClr val="accent5"/>
          </a:solidFill>
          <a:ln/>
        </p:spPr>
        <p:txBody>
          <a:bodyPr wrap="square" lIns="76200" tIns="76200" rIns="76200" bIns="76200" rtlCol="0" anchor="ctr"/>
          <a:lstStyle/>
          <a:p>
            <a:pPr algn="ctr" indent="0" marL="0">
              <a:buNone/>
            </a:pPr>
            <a:r>
              <a:rPr lang="en-US" sz="1600" b="1" dirty="0">
                <a:solidFill>
                  <a:schemeClr val="bg1"/>
                </a:solidFill>
              </a:rPr>
              <a:t>500</a:t>
            </a:r>
            <a:endParaRPr lang="en-US" sz="1600" dirty="0"/>
          </a:p>
        </p:txBody>
      </p:sp>
      <p:sp>
        <p:nvSpPr>
          <p:cNvPr id="24" name="Text 22"/>
          <p:cNvSpPr txBox="1"/>
          <p:nvPr/>
        </p:nvSpPr>
        <p:spPr>
          <a:xfrm>
            <a:off x="7452360" y="3493008"/>
            <a:ext cx="4114800" cy="274320"/>
          </a:xfrm>
          <a:prstGeom prst="rect">
            <a:avLst/>
          </a:prstGeom>
          <a:noFill/>
          <a:ln/>
        </p:spPr>
        <p:txBody>
          <a:bodyPr wrap="square" lIns="0" tIns="0" rIns="0" bIns="0" rtlCol="0" anchor="t"/>
          <a:lstStyle/>
          <a:p>
            <a:pPr indent="0" marL="0">
              <a:buNone/>
            </a:pPr>
            <a:r>
              <a:rPr lang="en-US" sz="1400" b="1" dirty="0">
                <a:solidFill>
                  <a:schemeClr val="tx1"/>
                </a:solidFill>
              </a:rPr>
              <a:t>Database error, friendly page</a:t>
            </a:r>
            <a:endParaRPr lang="en-US" sz="1400" dirty="0"/>
          </a:p>
        </p:txBody>
      </p:sp>
      <p:sp>
        <p:nvSpPr>
          <p:cNvPr id="25" name="Text 23"/>
          <p:cNvSpPr txBox="1"/>
          <p:nvPr/>
        </p:nvSpPr>
        <p:spPr>
          <a:xfrm>
            <a:off x="7452360" y="3739896"/>
            <a:ext cx="411480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BankingException</a:t>
            </a:r>
            <a:endParaRPr lang="en-US" sz="1200" dirty="0"/>
          </a:p>
        </p:txBody>
      </p:sp>
      <p:sp>
        <p:nvSpPr>
          <p:cNvPr id="26" name="Text 24"/>
          <p:cNvSpPr txBox="1"/>
          <p:nvPr/>
        </p:nvSpPr>
        <p:spPr>
          <a:xfrm>
            <a:off x="6492240" y="4105656"/>
            <a:ext cx="777240" cy="493776"/>
          </a:xfrm>
          <a:prstGeom prst="roundRect">
            <a:avLst>
              <a:gd name="adj" fmla="val 14815"/>
            </a:avLst>
          </a:prstGeom>
          <a:solidFill>
            <a:schemeClr val="accent2"/>
          </a:solidFill>
          <a:ln/>
        </p:spPr>
        <p:txBody>
          <a:bodyPr wrap="square" lIns="76200" tIns="76200" rIns="76200" bIns="76200" rtlCol="0" anchor="ctr"/>
          <a:lstStyle/>
          <a:p>
            <a:pPr algn="ctr" indent="0" marL="0">
              <a:buNone/>
            </a:pPr>
            <a:r>
              <a:rPr lang="en-US" sz="1600" b="1" dirty="0">
                <a:solidFill>
                  <a:schemeClr val="bg1"/>
                </a:solidFill>
              </a:rPr>
              <a:t>↺</a:t>
            </a:r>
            <a:endParaRPr lang="en-US" sz="1600" dirty="0"/>
          </a:p>
        </p:txBody>
      </p:sp>
      <p:sp>
        <p:nvSpPr>
          <p:cNvPr id="27" name="Text 25"/>
          <p:cNvSpPr txBox="1"/>
          <p:nvPr/>
        </p:nvSpPr>
        <p:spPr>
          <a:xfrm>
            <a:off x="7452360" y="4114800"/>
            <a:ext cx="4114800" cy="274320"/>
          </a:xfrm>
          <a:prstGeom prst="rect">
            <a:avLst/>
          </a:prstGeom>
          <a:noFill/>
          <a:ln/>
        </p:spPr>
        <p:txBody>
          <a:bodyPr wrap="square" lIns="0" tIns="0" rIns="0" bIns="0" rtlCol="0" anchor="t"/>
          <a:lstStyle/>
          <a:p>
            <a:pPr indent="0" marL="0">
              <a:buNone/>
            </a:pPr>
            <a:r>
              <a:rPr lang="en-US" sz="1400" b="1" dirty="0">
                <a:solidFill>
                  <a:schemeClr val="tx1"/>
                </a:solidFill>
              </a:rPr>
              <a:t>Failed batch insert</a:t>
            </a:r>
            <a:endParaRPr lang="en-US" sz="1400" dirty="0"/>
          </a:p>
        </p:txBody>
      </p:sp>
      <p:sp>
        <p:nvSpPr>
          <p:cNvPr id="28" name="Text 26"/>
          <p:cNvSpPr txBox="1"/>
          <p:nvPr/>
        </p:nvSpPr>
        <p:spPr>
          <a:xfrm>
            <a:off x="7452360" y="4361688"/>
            <a:ext cx="4114800" cy="274320"/>
          </a:xfrm>
          <a:prstGeom prst="rect">
            <a:avLst/>
          </a:prstGeom>
          <a:noFill/>
          <a:ln/>
        </p:spPr>
        <p:txBody>
          <a:bodyPr wrap="square" lIns="0" tIns="0" rIns="0" bIns="0" rtlCol="0" anchor="t"/>
          <a:lstStyle/>
          <a:p>
            <a:pPr indent="0" marL="0">
              <a:buNone/>
            </a:pPr>
            <a:r>
              <a:rPr lang="en-US" sz="1200" dirty="0">
                <a:solidFill>
                  <a:schemeClr val="accent6"/>
                </a:solidFill>
                <a:latin typeface="Courier New" pitchFamily="34" charset="0"/>
                <a:ea typeface="Courier New" pitchFamily="34" charset="-122"/>
                <a:cs typeface="Courier New" pitchFamily="34" charset="-120"/>
              </a:rPr>
              <a:t>rollback() in the catch block</a:t>
            </a:r>
            <a:endParaRPr lang="en-US" sz="1200" dirty="0"/>
          </a:p>
        </p:txBody>
      </p:sp>
      <p:sp>
        <p:nvSpPr>
          <p:cNvPr id="29" name="error-page-window"/>
          <p:cNvSpPr/>
          <p:nvPr/>
        </p:nvSpPr>
        <p:spPr>
          <a:xfrm>
            <a:off x="6492240" y="4846320"/>
            <a:ext cx="5120640" cy="1019556"/>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30" name="Shape 28"/>
          <p:cNvSpPr/>
          <p:nvPr/>
        </p:nvSpPr>
        <p:spPr>
          <a:xfrm>
            <a:off x="6492240" y="4846320"/>
            <a:ext cx="5120640" cy="219456"/>
          </a:xfrm>
          <a:prstGeom prst="rect">
            <a:avLst/>
          </a:prstGeom>
          <a:solidFill>
            <a:srgbClr val="E2E8F0"/>
          </a:solidFill>
          <a:ln/>
        </p:spPr>
      </p:sp>
      <p:sp>
        <p:nvSpPr>
          <p:cNvPr id="31" name="Shape 29"/>
          <p:cNvSpPr/>
          <p:nvPr/>
        </p:nvSpPr>
        <p:spPr>
          <a:xfrm>
            <a:off x="6583680" y="4914900"/>
            <a:ext cx="82296" cy="82296"/>
          </a:xfrm>
          <a:prstGeom prst="ellipse">
            <a:avLst/>
          </a:prstGeom>
          <a:solidFill>
            <a:srgbClr val="F87171"/>
          </a:solidFill>
          <a:ln/>
        </p:spPr>
      </p:sp>
      <p:sp>
        <p:nvSpPr>
          <p:cNvPr id="32" name="Shape 30"/>
          <p:cNvSpPr/>
          <p:nvPr/>
        </p:nvSpPr>
        <p:spPr>
          <a:xfrm>
            <a:off x="6720840" y="4914900"/>
            <a:ext cx="82296" cy="82296"/>
          </a:xfrm>
          <a:prstGeom prst="ellipse">
            <a:avLst/>
          </a:prstGeom>
          <a:solidFill>
            <a:srgbClr val="FBBF24"/>
          </a:solidFill>
          <a:ln/>
        </p:spPr>
      </p:sp>
      <p:sp>
        <p:nvSpPr>
          <p:cNvPr id="33" name="Shape 31"/>
          <p:cNvSpPr/>
          <p:nvPr/>
        </p:nvSpPr>
        <p:spPr>
          <a:xfrm>
            <a:off x="6858000" y="4914900"/>
            <a:ext cx="82296" cy="82296"/>
          </a:xfrm>
          <a:prstGeom prst="ellipse">
            <a:avLst/>
          </a:prstGeom>
          <a:solidFill>
            <a:srgbClr val="34D399"/>
          </a:solidFill>
          <a:ln/>
        </p:spPr>
      </p:sp>
      <p:pic>
        <p:nvPicPr>
          <p:cNvPr id="34" name="error-page" descr="error-page">    </p:cNvPr>
          <p:cNvPicPr>
            <a:picLocks noChangeAspect="1"/>
          </p:cNvPicPr>
          <p:nvPr/>
        </p:nvPicPr>
        <p:blipFill>
          <a:blip r:embed="rId1"/>
          <a:stretch>
            <a:fillRect/>
          </a:stretch>
        </p:blipFill>
        <p:spPr>
          <a:xfrm>
            <a:off x="6492240" y="5065776"/>
            <a:ext cx="5120640" cy="80010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CORE JAVA  |  COLLECTIONS &amp; GENERICS</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The right collection for each job</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Type-safe generics and purpose-built collections, including concurrent ones.</a:t>
            </a:r>
            <a:endParaRPr lang="en-US" sz="1600" dirty="0"/>
          </a:p>
        </p:txBody>
      </p:sp>
      <p:sp>
        <p:nvSpPr>
          <p:cNvPr id="5" name="card"/>
          <p:cNvSpPr/>
          <p:nvPr/>
        </p:nvSpPr>
        <p:spPr>
          <a:xfrm>
            <a:off x="548640" y="1783080"/>
            <a:ext cx="5440680" cy="1325880"/>
          </a:xfrm>
          <a:prstGeom prst="roundRect">
            <a:avLst>
              <a:gd name="adj" fmla="val 5517"/>
            </a:avLst>
          </a:prstGeom>
          <a:solidFill>
            <a:schemeClr val="bg2"/>
          </a:solidFill>
          <a:ln/>
        </p:spPr>
      </p:sp>
      <p:sp>
        <p:nvSpPr>
          <p:cNvPr id="6" name="icon-bg"/>
          <p:cNvSpPr/>
          <p:nvPr/>
        </p:nvSpPr>
        <p:spPr>
          <a:xfrm>
            <a:off x="777240" y="2057400"/>
            <a:ext cx="502920" cy="502920"/>
          </a:xfrm>
          <a:prstGeom prst="ellipse">
            <a:avLst/>
          </a:prstGeom>
          <a:solidFill>
            <a:schemeClr val="accent1"/>
          </a:solidFill>
          <a:ln/>
        </p:spPr>
      </p:sp>
      <p:pic>
        <p:nvPicPr>
          <p:cNvPr id="7" name="icon-FaCubes" descr="preencoded.png">    </p:cNvPr>
          <p:cNvPicPr>
            <a:picLocks noChangeAspect="1"/>
          </p:cNvPicPr>
          <p:nvPr/>
        </p:nvPicPr>
        <p:blipFill>
          <a:blip r:embed="rId1"/>
          <a:stretch>
            <a:fillRect/>
          </a:stretch>
        </p:blipFill>
        <p:spPr>
          <a:xfrm>
            <a:off x="913028" y="2193188"/>
            <a:ext cx="231343" cy="231343"/>
          </a:xfrm>
          <a:prstGeom prst="rect">
            <a:avLst/>
          </a:prstGeom>
        </p:spPr>
      </p:pic>
      <p:sp>
        <p:nvSpPr>
          <p:cNvPr id="8" name="Text 5"/>
          <p:cNvSpPr txBox="1"/>
          <p:nvPr/>
        </p:nvSpPr>
        <p:spPr>
          <a:xfrm>
            <a:off x="1463040" y="1984248"/>
            <a:ext cx="43891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GenericDao&lt;T, ID&gt;</a:t>
            </a:r>
            <a:endParaRPr lang="en-US" sz="1400" dirty="0"/>
          </a:p>
        </p:txBody>
      </p:sp>
      <p:sp>
        <p:nvSpPr>
          <p:cNvPr id="9" name="Text 6"/>
          <p:cNvSpPr txBox="1"/>
          <p:nvPr/>
        </p:nvSpPr>
        <p:spPr>
          <a:xfrm>
            <a:off x="1463040" y="2350008"/>
            <a:ext cx="4343400" cy="685800"/>
          </a:xfrm>
          <a:prstGeom prst="rect">
            <a:avLst/>
          </a:prstGeom>
          <a:noFill/>
          <a:ln/>
        </p:spPr>
        <p:txBody>
          <a:bodyPr wrap="square" lIns="0" tIns="0" rIns="0" bIns="0" rtlCol="0" anchor="t"/>
          <a:lstStyle/>
          <a:p>
            <a:pPr indent="0" marL="0">
              <a:buNone/>
            </a:pPr>
            <a:r>
              <a:rPr lang="en-US" sz="1400" dirty="0">
                <a:solidFill>
                  <a:schemeClr val="tx1"/>
                </a:solidFill>
              </a:rPr>
              <a:t>One generic interface, extended by typed DAOs for accounts and transactions</a:t>
            </a:r>
            <a:endParaRPr lang="en-US" sz="1400" dirty="0"/>
          </a:p>
        </p:txBody>
      </p:sp>
      <p:sp>
        <p:nvSpPr>
          <p:cNvPr id="10" name="card"/>
          <p:cNvSpPr/>
          <p:nvPr/>
        </p:nvSpPr>
        <p:spPr>
          <a:xfrm>
            <a:off x="6172200" y="1783080"/>
            <a:ext cx="5440680" cy="1325880"/>
          </a:xfrm>
          <a:prstGeom prst="roundRect">
            <a:avLst>
              <a:gd name="adj" fmla="val 5517"/>
            </a:avLst>
          </a:prstGeom>
          <a:solidFill>
            <a:schemeClr val="bg2"/>
          </a:solidFill>
          <a:ln/>
        </p:spPr>
      </p:sp>
      <p:sp>
        <p:nvSpPr>
          <p:cNvPr id="11" name="icon-bg"/>
          <p:cNvSpPr/>
          <p:nvPr/>
        </p:nvSpPr>
        <p:spPr>
          <a:xfrm>
            <a:off x="6400800" y="2057400"/>
            <a:ext cx="502920" cy="502920"/>
          </a:xfrm>
          <a:prstGeom prst="ellipse">
            <a:avLst/>
          </a:prstGeom>
          <a:solidFill>
            <a:schemeClr val="accent1"/>
          </a:solidFill>
          <a:ln/>
        </p:spPr>
      </p:sp>
      <p:pic>
        <p:nvPicPr>
          <p:cNvPr id="12" name="icon-FaRankingStar" descr="preencoded.png">    </p:cNvPr>
          <p:cNvPicPr>
            <a:picLocks noChangeAspect="1"/>
          </p:cNvPicPr>
          <p:nvPr/>
        </p:nvPicPr>
        <p:blipFill>
          <a:blip r:embed="rId2"/>
          <a:stretch>
            <a:fillRect/>
          </a:stretch>
        </p:blipFill>
        <p:spPr>
          <a:xfrm>
            <a:off x="6536588" y="2193188"/>
            <a:ext cx="231343" cy="231343"/>
          </a:xfrm>
          <a:prstGeom prst="rect">
            <a:avLst/>
          </a:prstGeom>
        </p:spPr>
      </p:pic>
      <p:sp>
        <p:nvSpPr>
          <p:cNvPr id="13" name="Text 9"/>
          <p:cNvSpPr txBox="1"/>
          <p:nvPr/>
        </p:nvSpPr>
        <p:spPr>
          <a:xfrm>
            <a:off x="7086600" y="1984248"/>
            <a:ext cx="43891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topN(Collection&lt;? extends T&gt;, …)</a:t>
            </a:r>
            <a:endParaRPr lang="en-US" sz="1400" dirty="0"/>
          </a:p>
        </p:txBody>
      </p:sp>
      <p:sp>
        <p:nvSpPr>
          <p:cNvPr id="14" name="Text 10"/>
          <p:cNvSpPr txBox="1"/>
          <p:nvPr/>
        </p:nvSpPr>
        <p:spPr>
          <a:xfrm>
            <a:off x="7086600" y="2350008"/>
            <a:ext cx="4343400" cy="685800"/>
          </a:xfrm>
          <a:prstGeom prst="rect">
            <a:avLst/>
          </a:prstGeom>
          <a:noFill/>
          <a:ln/>
        </p:spPr>
        <p:txBody>
          <a:bodyPr wrap="square" lIns="0" tIns="0" rIns="0" bIns="0" rtlCol="0" anchor="t"/>
          <a:lstStyle/>
          <a:p>
            <a:pPr indent="0" marL="0">
              <a:buNone/>
            </a:pPr>
            <a:r>
              <a:rPr lang="en-US" sz="1400" dirty="0">
                <a:solidFill>
                  <a:schemeClr val="tx1"/>
                </a:solidFill>
              </a:rPr>
              <a:t>Generic method with wildcards; a PriorityQueue min-heap keeps the 5 largest transactions</a:t>
            </a:r>
            <a:endParaRPr lang="en-US" sz="1400" dirty="0"/>
          </a:p>
        </p:txBody>
      </p:sp>
      <p:sp>
        <p:nvSpPr>
          <p:cNvPr id="15" name="card"/>
          <p:cNvSpPr/>
          <p:nvPr/>
        </p:nvSpPr>
        <p:spPr>
          <a:xfrm>
            <a:off x="548640" y="3264408"/>
            <a:ext cx="5440680" cy="1325880"/>
          </a:xfrm>
          <a:prstGeom prst="roundRect">
            <a:avLst>
              <a:gd name="adj" fmla="val 5517"/>
            </a:avLst>
          </a:prstGeom>
          <a:solidFill>
            <a:schemeClr val="bg2"/>
          </a:solidFill>
          <a:ln/>
        </p:spPr>
      </p:sp>
      <p:sp>
        <p:nvSpPr>
          <p:cNvPr id="16" name="icon-bg"/>
          <p:cNvSpPr/>
          <p:nvPr/>
        </p:nvSpPr>
        <p:spPr>
          <a:xfrm>
            <a:off x="777240" y="3538728"/>
            <a:ext cx="502920" cy="502920"/>
          </a:xfrm>
          <a:prstGeom prst="ellipse">
            <a:avLst/>
          </a:prstGeom>
          <a:solidFill>
            <a:schemeClr val="accent1"/>
          </a:solidFill>
          <a:ln/>
        </p:spPr>
      </p:sp>
      <p:pic>
        <p:nvPicPr>
          <p:cNvPr id="17" name="icon-FaTableCells" descr="preencoded.png">    </p:cNvPr>
          <p:cNvPicPr>
            <a:picLocks noChangeAspect="1"/>
          </p:cNvPicPr>
          <p:nvPr/>
        </p:nvPicPr>
        <p:blipFill>
          <a:blip r:embed="rId3"/>
          <a:stretch>
            <a:fillRect/>
          </a:stretch>
        </p:blipFill>
        <p:spPr>
          <a:xfrm>
            <a:off x="913028" y="3674516"/>
            <a:ext cx="231343" cy="231343"/>
          </a:xfrm>
          <a:prstGeom prst="rect">
            <a:avLst/>
          </a:prstGeom>
        </p:spPr>
      </p:pic>
      <p:sp>
        <p:nvSpPr>
          <p:cNvPr id="18" name="Text 13"/>
          <p:cNvSpPr txBox="1"/>
          <p:nvPr/>
        </p:nvSpPr>
        <p:spPr>
          <a:xfrm>
            <a:off x="1463040" y="3465576"/>
            <a:ext cx="43891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EnumMap&lt;Direction, EnumMap&lt;…&gt;&gt;</a:t>
            </a:r>
            <a:endParaRPr lang="en-US" sz="1400" dirty="0"/>
          </a:p>
        </p:txBody>
      </p:sp>
      <p:sp>
        <p:nvSpPr>
          <p:cNvPr id="19" name="Text 14"/>
          <p:cNvSpPr txBox="1"/>
          <p:nvPr/>
        </p:nvSpPr>
        <p:spPr>
          <a:xfrm>
            <a:off x="1463040" y="3831336"/>
            <a:ext cx="4343400" cy="685800"/>
          </a:xfrm>
          <a:prstGeom prst="rect">
            <a:avLst/>
          </a:prstGeom>
          <a:noFill/>
          <a:ln/>
        </p:spPr>
        <p:txBody>
          <a:bodyPr wrap="square" lIns="0" tIns="0" rIns="0" bIns="0" rtlCol="0" anchor="t"/>
          <a:lstStyle/>
          <a:p>
            <a:pPr indent="0" marL="0">
              <a:buNone/>
            </a:pPr>
            <a:r>
              <a:rPr lang="en-US" sz="1400" dirty="0">
                <a:solidFill>
                  <a:schemeClr val="tx1"/>
                </a:solidFill>
              </a:rPr>
              <a:t>Fast, ordered totals from the SQL GROUP BY, one slot per enum value</a:t>
            </a:r>
            <a:endParaRPr lang="en-US" sz="1400" dirty="0"/>
          </a:p>
        </p:txBody>
      </p:sp>
      <p:sp>
        <p:nvSpPr>
          <p:cNvPr id="20" name="card"/>
          <p:cNvSpPr/>
          <p:nvPr/>
        </p:nvSpPr>
        <p:spPr>
          <a:xfrm>
            <a:off x="6172200" y="3264408"/>
            <a:ext cx="5440680" cy="1325880"/>
          </a:xfrm>
          <a:prstGeom prst="roundRect">
            <a:avLst>
              <a:gd name="adj" fmla="val 5517"/>
            </a:avLst>
          </a:prstGeom>
          <a:solidFill>
            <a:schemeClr val="bg2"/>
          </a:solidFill>
          <a:ln/>
        </p:spPr>
      </p:sp>
      <p:sp>
        <p:nvSpPr>
          <p:cNvPr id="21" name="icon-bg"/>
          <p:cNvSpPr/>
          <p:nvPr/>
        </p:nvSpPr>
        <p:spPr>
          <a:xfrm>
            <a:off x="6400800" y="3538728"/>
            <a:ext cx="502920" cy="502920"/>
          </a:xfrm>
          <a:prstGeom prst="ellipse">
            <a:avLst/>
          </a:prstGeom>
          <a:solidFill>
            <a:schemeClr val="accent1"/>
          </a:solidFill>
          <a:ln/>
        </p:spPr>
      </p:sp>
      <p:pic>
        <p:nvPicPr>
          <p:cNvPr id="22" name="icon-FaArrowRightArrowLeft" descr="preencoded.png">    </p:cNvPr>
          <p:cNvPicPr>
            <a:picLocks noChangeAspect="1"/>
          </p:cNvPicPr>
          <p:nvPr/>
        </p:nvPicPr>
        <p:blipFill>
          <a:blip r:embed="rId4"/>
          <a:stretch>
            <a:fillRect/>
          </a:stretch>
        </p:blipFill>
        <p:spPr>
          <a:xfrm>
            <a:off x="6536588" y="3674516"/>
            <a:ext cx="231343" cy="231343"/>
          </a:xfrm>
          <a:prstGeom prst="rect">
            <a:avLst/>
          </a:prstGeom>
        </p:spPr>
      </p:pic>
      <p:sp>
        <p:nvSpPr>
          <p:cNvPr id="23" name="Text 17"/>
          <p:cNvSpPr txBox="1"/>
          <p:nvPr/>
        </p:nvSpPr>
        <p:spPr>
          <a:xfrm>
            <a:off x="7086600" y="3465576"/>
            <a:ext cx="43891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BlockingQueue&lt;AuditEvent&gt;</a:t>
            </a:r>
            <a:endParaRPr lang="en-US" sz="1400" dirty="0"/>
          </a:p>
        </p:txBody>
      </p:sp>
      <p:sp>
        <p:nvSpPr>
          <p:cNvPr id="24" name="Text 18"/>
          <p:cNvSpPr txBox="1"/>
          <p:nvPr/>
        </p:nvSpPr>
        <p:spPr>
          <a:xfrm>
            <a:off x="7086600" y="3831336"/>
            <a:ext cx="4343400" cy="685800"/>
          </a:xfrm>
          <a:prstGeom prst="rect">
            <a:avLst/>
          </a:prstGeom>
          <a:noFill/>
          <a:ln/>
        </p:spPr>
        <p:txBody>
          <a:bodyPr wrap="square" lIns="0" tIns="0" rIns="0" bIns="0" rtlCol="0" anchor="t"/>
          <a:lstStyle/>
          <a:p>
            <a:pPr indent="0" marL="0">
              <a:buNone/>
            </a:pPr>
            <a:r>
              <a:rPr lang="en-US" sz="1400" dirty="0">
                <a:solidFill>
                  <a:schemeClr val="tx1"/>
                </a:solidFill>
              </a:rPr>
              <a:t>Thread-safe hand-off from request threads to the audit writer</a:t>
            </a:r>
            <a:endParaRPr lang="en-US" sz="1400" dirty="0"/>
          </a:p>
        </p:txBody>
      </p:sp>
      <p:sp>
        <p:nvSpPr>
          <p:cNvPr id="25" name="card"/>
          <p:cNvSpPr/>
          <p:nvPr/>
        </p:nvSpPr>
        <p:spPr>
          <a:xfrm>
            <a:off x="548640" y="4745736"/>
            <a:ext cx="5440680" cy="1325880"/>
          </a:xfrm>
          <a:prstGeom prst="roundRect">
            <a:avLst>
              <a:gd name="adj" fmla="val 5517"/>
            </a:avLst>
          </a:prstGeom>
          <a:solidFill>
            <a:schemeClr val="bg2"/>
          </a:solidFill>
          <a:ln/>
        </p:spPr>
      </p:sp>
      <p:sp>
        <p:nvSpPr>
          <p:cNvPr id="26" name="icon-bg"/>
          <p:cNvSpPr/>
          <p:nvPr/>
        </p:nvSpPr>
        <p:spPr>
          <a:xfrm>
            <a:off x="777240" y="5020056"/>
            <a:ext cx="502920" cy="502920"/>
          </a:xfrm>
          <a:prstGeom prst="ellipse">
            <a:avLst/>
          </a:prstGeom>
          <a:solidFill>
            <a:schemeClr val="accent1"/>
          </a:solidFill>
          <a:ln/>
        </p:spPr>
      </p:sp>
      <p:pic>
        <p:nvPicPr>
          <p:cNvPr id="27" name="icon-FaShuffle" descr="preencoded.png">    </p:cNvPr>
          <p:cNvPicPr>
            <a:picLocks noChangeAspect="1"/>
          </p:cNvPicPr>
          <p:nvPr/>
        </p:nvPicPr>
        <p:blipFill>
          <a:blip r:embed="rId5"/>
          <a:stretch>
            <a:fillRect/>
          </a:stretch>
        </p:blipFill>
        <p:spPr>
          <a:xfrm>
            <a:off x="913028" y="5155844"/>
            <a:ext cx="231343" cy="231343"/>
          </a:xfrm>
          <a:prstGeom prst="rect">
            <a:avLst/>
          </a:prstGeom>
        </p:spPr>
      </p:pic>
      <p:sp>
        <p:nvSpPr>
          <p:cNvPr id="28" name="Text 21"/>
          <p:cNvSpPr txBox="1"/>
          <p:nvPr/>
        </p:nvSpPr>
        <p:spPr>
          <a:xfrm>
            <a:off x="1463040" y="4946904"/>
            <a:ext cx="43891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ConcurrentHashMap.newKeySet()</a:t>
            </a:r>
            <a:endParaRPr lang="en-US" sz="1400" dirty="0"/>
          </a:p>
        </p:txBody>
      </p:sp>
      <p:sp>
        <p:nvSpPr>
          <p:cNvPr id="29" name="Text 22"/>
          <p:cNvSpPr txBox="1"/>
          <p:nvPr/>
        </p:nvSpPr>
        <p:spPr>
          <a:xfrm>
            <a:off x="1463040" y="5312664"/>
            <a:ext cx="4343400" cy="685800"/>
          </a:xfrm>
          <a:prstGeom prst="rect">
            <a:avLst/>
          </a:prstGeom>
          <a:noFill/>
          <a:ln/>
        </p:spPr>
        <p:txBody>
          <a:bodyPr wrap="square" lIns="0" tIns="0" rIns="0" bIns="0" rtlCol="0" anchor="t"/>
          <a:lstStyle/>
          <a:p>
            <a:pPr indent="0" marL="0">
              <a:buNone/>
            </a:pPr>
            <a:r>
              <a:rPr lang="en-US" sz="1400" dirty="0">
                <a:solidFill>
                  <a:schemeClr val="tx1"/>
                </a:solidFill>
              </a:rPr>
              <a:t>Worker threads record their names without explicit locking</a:t>
            </a:r>
            <a:endParaRPr lang="en-US" sz="1400" dirty="0"/>
          </a:p>
        </p:txBody>
      </p:sp>
      <p:sp>
        <p:nvSpPr>
          <p:cNvPr id="30" name="card"/>
          <p:cNvSpPr/>
          <p:nvPr/>
        </p:nvSpPr>
        <p:spPr>
          <a:xfrm>
            <a:off x="6172200" y="4745736"/>
            <a:ext cx="5440680" cy="1325880"/>
          </a:xfrm>
          <a:prstGeom prst="roundRect">
            <a:avLst>
              <a:gd name="adj" fmla="val 5517"/>
            </a:avLst>
          </a:prstGeom>
          <a:solidFill>
            <a:schemeClr val="bg2"/>
          </a:solidFill>
          <a:ln/>
        </p:spPr>
      </p:sp>
      <p:sp>
        <p:nvSpPr>
          <p:cNvPr id="31" name="icon-bg"/>
          <p:cNvSpPr/>
          <p:nvPr/>
        </p:nvSpPr>
        <p:spPr>
          <a:xfrm>
            <a:off x="6400800" y="5020056"/>
            <a:ext cx="502920" cy="502920"/>
          </a:xfrm>
          <a:prstGeom prst="ellipse">
            <a:avLst/>
          </a:prstGeom>
          <a:solidFill>
            <a:schemeClr val="accent1"/>
          </a:solidFill>
          <a:ln/>
        </p:spPr>
      </p:sp>
      <p:pic>
        <p:nvPicPr>
          <p:cNvPr id="32" name="icon-FaListOl" descr="preencoded.png">    </p:cNvPr>
          <p:cNvPicPr>
            <a:picLocks noChangeAspect="1"/>
          </p:cNvPicPr>
          <p:nvPr/>
        </p:nvPicPr>
        <p:blipFill>
          <a:blip r:embed="rId6"/>
          <a:stretch>
            <a:fillRect/>
          </a:stretch>
        </p:blipFill>
        <p:spPr>
          <a:xfrm>
            <a:off x="6536588" y="5155844"/>
            <a:ext cx="231343" cy="231343"/>
          </a:xfrm>
          <a:prstGeom prst="rect">
            <a:avLst/>
          </a:prstGeom>
        </p:spPr>
      </p:pic>
      <p:sp>
        <p:nvSpPr>
          <p:cNvPr id="33" name="Text 25"/>
          <p:cNvSpPr txBox="1"/>
          <p:nvPr/>
        </p:nvSpPr>
        <p:spPr>
          <a:xfrm>
            <a:off x="7086600" y="4946904"/>
            <a:ext cx="4389120" cy="32004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LinkedHashMap, TreeSet, unmodifiableList</a:t>
            </a:r>
            <a:endParaRPr lang="en-US" sz="1400" dirty="0"/>
          </a:p>
        </p:txBody>
      </p:sp>
      <p:sp>
        <p:nvSpPr>
          <p:cNvPr id="34" name="Text 26"/>
          <p:cNvSpPr txBox="1"/>
          <p:nvPr/>
        </p:nvSpPr>
        <p:spPr>
          <a:xfrm>
            <a:off x="7086600" y="5312664"/>
            <a:ext cx="4343400" cy="685800"/>
          </a:xfrm>
          <a:prstGeom prst="rect">
            <a:avLst/>
          </a:prstGeom>
          <a:noFill/>
          <a:ln/>
        </p:spPr>
        <p:txBody>
          <a:bodyPr wrap="square" lIns="0" tIns="0" rIns="0" bIns="0" rtlCol="0" anchor="t"/>
          <a:lstStyle/>
          <a:p>
            <a:pPr indent="0" marL="0">
              <a:buNone/>
            </a:pPr>
            <a:r>
              <a:rPr lang="en-US" sz="1400" dirty="0">
                <a:solidFill>
                  <a:schemeClr val="tx1"/>
                </a:solidFill>
              </a:rPr>
              <a:t>Spending sorted by amount; read-only results for the servlet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CORE JAVA  |  SYNCHRONIZATION</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Safe transfers between threads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Fixed lock ordering makes concurrent transfers both correct and deadlock-free.</a:t>
            </a:r>
            <a:endParaRPr lang="en-US" sz="1600" dirty="0"/>
          </a:p>
        </p:txBody>
      </p:sp>
      <p:sp>
        <p:nvSpPr>
          <p:cNvPr id="5" name="code"/>
          <p:cNvSpPr txBox="1"/>
          <p:nvPr/>
        </p:nvSpPr>
        <p:spPr>
          <a:xfrm>
            <a:off x="548640" y="1783080"/>
            <a:ext cx="5486400" cy="3794760"/>
          </a:xfrm>
          <a:prstGeom prst="roundRect">
            <a:avLst>
              <a:gd name="adj" fmla="val 1928"/>
            </a:avLst>
          </a:prstGeom>
          <a:solidFill>
            <a:srgbClr val="0F172A"/>
          </a:solidFill>
          <a:ln/>
        </p:spPr>
        <p:txBody>
          <a:bodyPr wrap="square" lIns="177800" tIns="177800" rIns="177800" bIns="177800" rtlCol="0" anchor="t"/>
          <a:lstStyle/>
          <a:p>
            <a:pPr indent="0" marL="0">
              <a:buNone/>
            </a:pPr>
            <a:r>
              <a:rPr lang="en-US" sz="1500" dirty="0">
                <a:solidFill>
                  <a:srgbClr val="E2E8F0"/>
                </a:solidFill>
                <a:latin typeface="Courier New" pitchFamily="34" charset="0"/>
                <a:ea typeface="Courier New" pitchFamily="34" charset="-122"/>
                <a:cs typeface="Courier New" pitchFamily="34" charset="-120"/>
              </a:rPr>
              <a:t>public void transferTo(BankAccount to,</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BigDecimal amount) {</a:t>
            </a:r>
            <a:endParaRPr lang="en-US" sz="1500" dirty="0"/>
          </a:p>
          <a:p>
            <a:pPr indent="0" marL="0">
              <a:buNone/>
            </a:pPr>
            <a:r>
              <a:rPr lang="en-US" sz="1500" dirty="0">
                <a:solidFill>
                  <a:srgbClr val="94A3B8"/>
                </a:solidFill>
                <a:latin typeface="Courier New" pitchFamily="34" charset="0"/>
                <a:ea typeface="Courier New" pitchFamily="34" charset="-122"/>
                <a:cs typeface="Courier New" pitchFamily="34" charset="-120"/>
              </a:rPr>
              <a:t>  // always lock in account-number order</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BankAccount first  = compareTo(to) &lt;= 0</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 this : to;</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BankAccount second = first == this</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 to : this;</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synchronized (first) {</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synchronized (second) {</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withdraw(amount);   // synchronized</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to.deposit(amount); // synchronized</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  }</a:t>
            </a:r>
            <a:endParaRPr lang="en-US" sz="1500" dirty="0"/>
          </a:p>
          <a:p>
            <a:pPr indent="0" marL="0">
              <a:buNone/>
            </a:pPr>
            <a:r>
              <a:rPr lang="en-US" sz="1500" dirty="0">
                <a:solidFill>
                  <a:srgbClr val="E2E8F0"/>
                </a:solidFill>
                <a:latin typeface="Courier New" pitchFamily="34" charset="0"/>
                <a:ea typeface="Courier New" pitchFamily="34" charset="-122"/>
                <a:cs typeface="Courier New" pitchFamily="34" charset="-120"/>
              </a:rPr>
              <a:t>}</a:t>
            </a:r>
            <a:endParaRPr lang="en-US" sz="1500" dirty="0"/>
          </a:p>
        </p:txBody>
      </p:sp>
      <p:sp>
        <p:nvSpPr>
          <p:cNvPr id="6" name="Text 4"/>
          <p:cNvSpPr txBox="1"/>
          <p:nvPr/>
        </p:nvSpPr>
        <p:spPr>
          <a:xfrm>
            <a:off x="6583680" y="1783080"/>
            <a:ext cx="5029200" cy="365760"/>
          </a:xfrm>
          <a:prstGeom prst="rect">
            <a:avLst/>
          </a:prstGeom>
          <a:noFill/>
          <a:ln/>
        </p:spPr>
        <p:txBody>
          <a:bodyPr wrap="square" lIns="0" tIns="0" rIns="0" bIns="0" rtlCol="0" anchor="t"/>
          <a:lstStyle/>
          <a:p>
            <a:pPr indent="0" marL="0">
              <a:buNone/>
            </a:pPr>
            <a:r>
              <a:rPr lang="en-US" sz="1800" b="1" dirty="0">
                <a:solidFill>
                  <a:schemeClr val="tx2"/>
                </a:solidFill>
              </a:rPr>
              <a:t>Proved by a stress test</a:t>
            </a:r>
            <a:endParaRPr lang="en-US" sz="1800" dirty="0"/>
          </a:p>
        </p:txBody>
      </p:sp>
      <p:sp>
        <p:nvSpPr>
          <p:cNvPr id="7" name="card"/>
          <p:cNvSpPr/>
          <p:nvPr/>
        </p:nvSpPr>
        <p:spPr>
          <a:xfrm>
            <a:off x="6583680" y="2286000"/>
            <a:ext cx="5029200" cy="1024128"/>
          </a:xfrm>
          <a:prstGeom prst="roundRect">
            <a:avLst>
              <a:gd name="adj" fmla="val 7143"/>
            </a:avLst>
          </a:prstGeom>
          <a:solidFill>
            <a:schemeClr val="bg2"/>
          </a:solidFill>
          <a:ln/>
        </p:spPr>
      </p:sp>
      <p:sp>
        <p:nvSpPr>
          <p:cNvPr id="8" name="Text 6"/>
          <p:cNvSpPr txBox="1"/>
          <p:nvPr/>
        </p:nvSpPr>
        <p:spPr>
          <a:xfrm>
            <a:off x="6812280" y="2395728"/>
            <a:ext cx="2286000" cy="777240"/>
          </a:xfrm>
          <a:prstGeom prst="rect">
            <a:avLst/>
          </a:prstGeom>
          <a:noFill/>
          <a:ln/>
        </p:spPr>
        <p:txBody>
          <a:bodyPr wrap="square" lIns="0" tIns="0" rIns="0" bIns="0" rtlCol="0" anchor="ctr"/>
          <a:lstStyle/>
          <a:p>
            <a:pPr indent="0" marL="0">
              <a:buNone/>
            </a:pPr>
            <a:r>
              <a:rPr lang="en-US" sz="3600" b="1" dirty="0">
                <a:solidFill>
                  <a:schemeClr val="accent1"/>
                </a:solidFill>
              </a:rPr>
              <a:t>8</a:t>
            </a:r>
            <a:endParaRPr lang="en-US" sz="3600" dirty="0"/>
          </a:p>
        </p:txBody>
      </p:sp>
      <p:sp>
        <p:nvSpPr>
          <p:cNvPr id="9" name="Text 7"/>
          <p:cNvSpPr txBox="1"/>
          <p:nvPr/>
        </p:nvSpPr>
        <p:spPr>
          <a:xfrm>
            <a:off x="9098280" y="2468880"/>
            <a:ext cx="2377440" cy="685800"/>
          </a:xfrm>
          <a:prstGeom prst="rect">
            <a:avLst/>
          </a:prstGeom>
          <a:noFill/>
          <a:ln/>
        </p:spPr>
        <p:txBody>
          <a:bodyPr wrap="square" lIns="0" tIns="0" rIns="0" bIns="0" rtlCol="0" anchor="ctr"/>
          <a:lstStyle/>
          <a:p>
            <a:pPr indent="0" marL="0">
              <a:buNone/>
            </a:pPr>
            <a:r>
              <a:rPr lang="en-US" sz="1400" dirty="0">
                <a:solidFill>
                  <a:schemeClr val="accent6"/>
                </a:solidFill>
              </a:rPr>
              <a:t>threads moving money in both directions at once</a:t>
            </a:r>
            <a:endParaRPr lang="en-US" sz="1400" dirty="0"/>
          </a:p>
        </p:txBody>
      </p:sp>
      <p:sp>
        <p:nvSpPr>
          <p:cNvPr id="10" name="card"/>
          <p:cNvSpPr/>
          <p:nvPr/>
        </p:nvSpPr>
        <p:spPr>
          <a:xfrm>
            <a:off x="6583680" y="3474720"/>
            <a:ext cx="5029200" cy="1024128"/>
          </a:xfrm>
          <a:prstGeom prst="roundRect">
            <a:avLst>
              <a:gd name="adj" fmla="val 7143"/>
            </a:avLst>
          </a:prstGeom>
          <a:solidFill>
            <a:schemeClr val="bg2"/>
          </a:solidFill>
          <a:ln/>
        </p:spPr>
      </p:sp>
      <p:sp>
        <p:nvSpPr>
          <p:cNvPr id="11" name="Text 9"/>
          <p:cNvSpPr txBox="1"/>
          <p:nvPr/>
        </p:nvSpPr>
        <p:spPr>
          <a:xfrm>
            <a:off x="6812280" y="3584448"/>
            <a:ext cx="2286000" cy="777240"/>
          </a:xfrm>
          <a:prstGeom prst="rect">
            <a:avLst/>
          </a:prstGeom>
          <a:noFill/>
          <a:ln/>
        </p:spPr>
        <p:txBody>
          <a:bodyPr wrap="square" lIns="0" tIns="0" rIns="0" bIns="0" rtlCol="0" anchor="ctr"/>
          <a:lstStyle/>
          <a:p>
            <a:pPr indent="0" marL="0">
              <a:buNone/>
            </a:pPr>
            <a:r>
              <a:rPr lang="en-US" sz="3600" b="1" dirty="0">
                <a:solidFill>
                  <a:schemeClr val="accent1"/>
                </a:solidFill>
              </a:rPr>
              <a:t>16,000</a:t>
            </a:r>
            <a:endParaRPr lang="en-US" sz="3600" dirty="0"/>
          </a:p>
        </p:txBody>
      </p:sp>
      <p:sp>
        <p:nvSpPr>
          <p:cNvPr id="12" name="Text 10"/>
          <p:cNvSpPr txBox="1"/>
          <p:nvPr/>
        </p:nvSpPr>
        <p:spPr>
          <a:xfrm>
            <a:off x="9098280" y="3657600"/>
            <a:ext cx="2377440" cy="685800"/>
          </a:xfrm>
          <a:prstGeom prst="rect">
            <a:avLst/>
          </a:prstGeom>
          <a:noFill/>
          <a:ln/>
        </p:spPr>
        <p:txBody>
          <a:bodyPr wrap="square" lIns="0" tIns="0" rIns="0" bIns="0" rtlCol="0" anchor="ctr"/>
          <a:lstStyle/>
          <a:p>
            <a:pPr indent="0" marL="0">
              <a:buNone/>
            </a:pPr>
            <a:r>
              <a:rPr lang="en-US" sz="1400" dirty="0">
                <a:solidFill>
                  <a:schemeClr val="accent6"/>
                </a:solidFill>
              </a:rPr>
              <a:t>concurrent transfers in one test run</a:t>
            </a:r>
            <a:endParaRPr lang="en-US" sz="1400" dirty="0"/>
          </a:p>
        </p:txBody>
      </p:sp>
      <p:sp>
        <p:nvSpPr>
          <p:cNvPr id="13" name="card"/>
          <p:cNvSpPr/>
          <p:nvPr/>
        </p:nvSpPr>
        <p:spPr>
          <a:xfrm>
            <a:off x="6583680" y="4663440"/>
            <a:ext cx="5029200" cy="1024128"/>
          </a:xfrm>
          <a:prstGeom prst="roundRect">
            <a:avLst>
              <a:gd name="adj" fmla="val 7143"/>
            </a:avLst>
          </a:prstGeom>
          <a:solidFill>
            <a:schemeClr val="bg2"/>
          </a:solidFill>
          <a:ln/>
        </p:spPr>
      </p:sp>
      <p:sp>
        <p:nvSpPr>
          <p:cNvPr id="14" name="Text 12"/>
          <p:cNvSpPr txBox="1"/>
          <p:nvPr/>
        </p:nvSpPr>
        <p:spPr>
          <a:xfrm>
            <a:off x="6812280" y="4773168"/>
            <a:ext cx="2286000" cy="777240"/>
          </a:xfrm>
          <a:prstGeom prst="rect">
            <a:avLst/>
          </a:prstGeom>
          <a:noFill/>
          <a:ln/>
        </p:spPr>
        <p:txBody>
          <a:bodyPr wrap="square" lIns="0" tIns="0" rIns="0" bIns="0" rtlCol="0" anchor="ctr"/>
          <a:lstStyle/>
          <a:p>
            <a:pPr indent="0" marL="0">
              <a:buNone/>
            </a:pPr>
            <a:r>
              <a:rPr lang="en-US" sz="3600" b="1" dirty="0">
                <a:solidFill>
                  <a:schemeClr val="accent4"/>
                </a:solidFill>
              </a:rPr>
              <a:t>₹0 lost</a:t>
            </a:r>
            <a:endParaRPr lang="en-US" sz="3600" dirty="0"/>
          </a:p>
        </p:txBody>
      </p:sp>
      <p:sp>
        <p:nvSpPr>
          <p:cNvPr id="15" name="Text 13"/>
          <p:cNvSpPr txBox="1"/>
          <p:nvPr/>
        </p:nvSpPr>
        <p:spPr>
          <a:xfrm>
            <a:off x="9098280" y="4846320"/>
            <a:ext cx="2377440" cy="685800"/>
          </a:xfrm>
          <a:prstGeom prst="rect">
            <a:avLst/>
          </a:prstGeom>
          <a:noFill/>
          <a:ln/>
        </p:spPr>
        <p:txBody>
          <a:bodyPr wrap="square" lIns="0" tIns="0" rIns="0" bIns="0" rtlCol="0" anchor="ctr"/>
          <a:lstStyle/>
          <a:p>
            <a:pPr indent="0" marL="0">
              <a:buNone/>
            </a:pPr>
            <a:r>
              <a:rPr lang="en-US" sz="1400" dirty="0">
                <a:solidFill>
                  <a:schemeClr val="accent6"/>
                </a:solidFill>
              </a:rPr>
              <a:t>total balance identical before and after; no deadlock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CORE JAVA  |  MULTITHREADING</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Thread pool and producer-consumer</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Two real uses of java.util.concurrent in the running system.</a:t>
            </a:r>
            <a:endParaRPr lang="en-US" sz="1600" dirty="0"/>
          </a:p>
        </p:txBody>
      </p:sp>
      <p:sp>
        <p:nvSpPr>
          <p:cNvPr id="5" name="card"/>
          <p:cNvSpPr/>
          <p:nvPr/>
        </p:nvSpPr>
        <p:spPr>
          <a:xfrm>
            <a:off x="548640" y="1783080"/>
            <a:ext cx="11064240" cy="2103120"/>
          </a:xfrm>
          <a:prstGeom prst="roundRect">
            <a:avLst>
              <a:gd name="adj" fmla="val 3478"/>
            </a:avLst>
          </a:prstGeom>
          <a:solidFill>
            <a:schemeClr val="bg2"/>
          </a:solidFill>
          <a:ln/>
        </p:spPr>
      </p:sp>
      <p:sp>
        <p:nvSpPr>
          <p:cNvPr id="6" name="Text 4"/>
          <p:cNvSpPr txBox="1"/>
          <p:nvPr/>
        </p:nvSpPr>
        <p:spPr>
          <a:xfrm>
            <a:off x="822960" y="1920240"/>
            <a:ext cx="5486400" cy="365760"/>
          </a:xfrm>
          <a:prstGeom prst="rect">
            <a:avLst/>
          </a:prstGeom>
          <a:noFill/>
          <a:ln/>
        </p:spPr>
        <p:txBody>
          <a:bodyPr wrap="square" lIns="0" tIns="0" rIns="0" bIns="0" rtlCol="0" anchor="t"/>
          <a:lstStyle/>
          <a:p>
            <a:pPr indent="0" marL="0">
              <a:buNone/>
            </a:pPr>
            <a:r>
              <a:rPr lang="en-US" sz="1700" b="1" dirty="0">
                <a:solidFill>
                  <a:schemeClr val="tx2"/>
                </a:solidFill>
              </a:rPr>
              <a:t>ExecutorService: the 30-day report</a:t>
            </a:r>
            <a:endParaRPr lang="en-US" sz="1700" dirty="0"/>
          </a:p>
        </p:txBody>
      </p:sp>
      <p:sp>
        <p:nvSpPr>
          <p:cNvPr id="7" name="Text 5"/>
          <p:cNvSpPr txBox="1"/>
          <p:nvPr/>
        </p:nvSpPr>
        <p:spPr>
          <a:xfrm>
            <a:off x="822960" y="2423160"/>
            <a:ext cx="2011680" cy="1005840"/>
          </a:xfrm>
          <a:prstGeom prst="roundRect">
            <a:avLst>
              <a:gd name="adj" fmla="val 7273"/>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ReportServlet</a:t>
            </a:r>
            <a:endParaRPr lang="en-US" sz="1400" dirty="0"/>
          </a:p>
          <a:p>
            <a:pPr algn="ctr" indent="0" marL="0">
              <a:buNone/>
            </a:pPr>
            <a:r>
              <a:rPr lang="en-US" sz="1400" b="1" dirty="0">
                <a:solidFill>
                  <a:schemeClr val="bg1"/>
                </a:solidFill>
              </a:rPr>
              <a:t>(request thread)</a:t>
            </a:r>
            <a:endParaRPr lang="en-US" sz="1400" dirty="0"/>
          </a:p>
        </p:txBody>
      </p:sp>
      <p:sp>
        <p:nvSpPr>
          <p:cNvPr id="8" name="Text 6"/>
          <p:cNvSpPr txBox="1"/>
          <p:nvPr/>
        </p:nvSpPr>
        <p:spPr>
          <a:xfrm>
            <a:off x="3383280" y="2331720"/>
            <a:ext cx="2286000" cy="530352"/>
          </a:xfrm>
          <a:prstGeom prst="roundRect">
            <a:avLst>
              <a:gd name="adj" fmla="val 13793"/>
            </a:avLst>
          </a:prstGeom>
          <a:solidFill>
            <a:schemeClr val="bg1"/>
          </a:solidFill>
          <a:ln w="15875">
            <a:solidFill>
              <a:schemeClr val="accent1"/>
            </a:solidFill>
          </a:ln>
        </p:spPr>
        <p:txBody>
          <a:bodyPr wrap="square" lIns="76200" tIns="76200" rIns="76200" bIns="76200" rtlCol="0" anchor="ctr"/>
          <a:lstStyle/>
          <a:p>
            <a:pPr algn="ctr" indent="0" marL="0">
              <a:buNone/>
            </a:pPr>
            <a:r>
              <a:rPr lang="en-US" sz="1300" dirty="0">
                <a:solidFill>
                  <a:schemeClr val="tx1"/>
                </a:solidFill>
              </a:rPr>
              <a:t>report-worker-1</a:t>
            </a:r>
            <a:endParaRPr lang="en-US" sz="1300" dirty="0"/>
          </a:p>
          <a:p>
            <a:pPr algn="ctr" indent="0" marL="0">
              <a:buNone/>
            </a:pPr>
            <a:r>
              <a:rPr lang="en-US" sz="1300" dirty="0">
                <a:solidFill>
                  <a:schemeClr val="tx1"/>
                </a:solidFill>
              </a:rPr>
              <a:t>Savings summary</a:t>
            </a:r>
            <a:endParaRPr lang="en-US" sz="1300" dirty="0"/>
          </a:p>
        </p:txBody>
      </p:sp>
      <p:sp>
        <p:nvSpPr>
          <p:cNvPr id="9" name="Text 7"/>
          <p:cNvSpPr txBox="1"/>
          <p:nvPr/>
        </p:nvSpPr>
        <p:spPr>
          <a:xfrm>
            <a:off x="3383280" y="3017520"/>
            <a:ext cx="2286000" cy="530352"/>
          </a:xfrm>
          <a:prstGeom prst="roundRect">
            <a:avLst>
              <a:gd name="adj" fmla="val 13793"/>
            </a:avLst>
          </a:prstGeom>
          <a:solidFill>
            <a:schemeClr val="bg1"/>
          </a:solidFill>
          <a:ln w="15875">
            <a:solidFill>
              <a:schemeClr val="accent1"/>
            </a:solidFill>
          </a:ln>
        </p:spPr>
        <p:txBody>
          <a:bodyPr wrap="square" lIns="76200" tIns="76200" rIns="76200" bIns="76200" rtlCol="0" anchor="ctr"/>
          <a:lstStyle/>
          <a:p>
            <a:pPr algn="ctr" indent="0" marL="0">
              <a:buNone/>
            </a:pPr>
            <a:r>
              <a:rPr lang="en-US" sz="1300" dirty="0">
                <a:solidFill>
                  <a:schemeClr val="tx1"/>
                </a:solidFill>
              </a:rPr>
              <a:t>report-worker-2</a:t>
            </a:r>
            <a:endParaRPr lang="en-US" sz="1300" dirty="0"/>
          </a:p>
          <a:p>
            <a:pPr algn="ctr" indent="0" marL="0">
              <a:buNone/>
            </a:pPr>
            <a:r>
              <a:rPr lang="en-US" sz="1300" dirty="0">
                <a:solidFill>
                  <a:schemeClr val="tx1"/>
                </a:solidFill>
              </a:rPr>
              <a:t>Current summary</a:t>
            </a:r>
            <a:endParaRPr lang="en-US" sz="1300" dirty="0"/>
          </a:p>
        </p:txBody>
      </p:sp>
      <p:sp>
        <p:nvSpPr>
          <p:cNvPr id="10" name="Text 8"/>
          <p:cNvSpPr txBox="1"/>
          <p:nvPr/>
        </p:nvSpPr>
        <p:spPr>
          <a:xfrm>
            <a:off x="6217920" y="2423160"/>
            <a:ext cx="2194560" cy="1005840"/>
          </a:xfrm>
          <a:prstGeom prst="roundRect">
            <a:avLst>
              <a:gd name="adj" fmla="val 7273"/>
            </a:avLst>
          </a:prstGeom>
          <a:solidFill>
            <a:schemeClr val="bg1"/>
          </a:solidFill>
          <a:ln w="15875">
            <a:solidFill>
              <a:srgbClr val="CBD5E1"/>
            </a:solidFill>
          </a:ln>
        </p:spPr>
        <p:txBody>
          <a:bodyPr wrap="square" lIns="76200" tIns="76200" rIns="76200" bIns="76200" rtlCol="0" anchor="ctr"/>
          <a:lstStyle/>
          <a:p>
            <a:pPr algn="ctr" indent="0" marL="0">
              <a:buNone/>
            </a:pPr>
            <a:r>
              <a:rPr lang="en-US" sz="1400" b="1" dirty="0">
                <a:solidFill>
                  <a:schemeClr val="tx1"/>
                </a:solidFill>
              </a:rPr>
              <a:t>invokeAll(), merge</a:t>
            </a:r>
            <a:endParaRPr lang="en-US" sz="1400" dirty="0"/>
          </a:p>
          <a:p>
            <a:pPr algn="ctr" indent="0" marL="0">
              <a:buNone/>
            </a:pPr>
            <a:r>
              <a:rPr lang="en-US" sz="1400" b="1" dirty="0">
                <a:solidFill>
                  <a:schemeClr val="tx1"/>
                </a:solidFill>
              </a:rPr>
              <a:t>sort, top 5, totals</a:t>
            </a:r>
            <a:endParaRPr lang="en-US" sz="1400" dirty="0"/>
          </a:p>
        </p:txBody>
      </p:sp>
      <p:sp>
        <p:nvSpPr>
          <p:cNvPr id="11" name="Shape 9"/>
          <p:cNvSpPr/>
          <p:nvPr/>
        </p:nvSpPr>
        <p:spPr>
          <a:xfrm flipV="1">
            <a:off x="2834640" y="2596896"/>
            <a:ext cx="548640" cy="192024"/>
          </a:xfrm>
          <a:prstGeom prst="line">
            <a:avLst/>
          </a:prstGeom>
          <a:noFill/>
          <a:ln w="22225">
            <a:solidFill>
              <a:srgbClr val="94A3B8"/>
            </a:solidFill>
            <a:prstDash val="solid"/>
            <a:tailEnd type="triangle"/>
          </a:ln>
        </p:spPr>
      </p:sp>
      <p:sp>
        <p:nvSpPr>
          <p:cNvPr id="12" name="Shape 10"/>
          <p:cNvSpPr/>
          <p:nvPr/>
        </p:nvSpPr>
        <p:spPr>
          <a:xfrm>
            <a:off x="2834640" y="3063240"/>
            <a:ext cx="548640" cy="219456"/>
          </a:xfrm>
          <a:prstGeom prst="line">
            <a:avLst/>
          </a:prstGeom>
          <a:noFill/>
          <a:ln w="22225">
            <a:solidFill>
              <a:srgbClr val="94A3B8"/>
            </a:solidFill>
            <a:prstDash val="solid"/>
            <a:tailEnd type="triangle"/>
          </a:ln>
        </p:spPr>
      </p:sp>
      <p:sp>
        <p:nvSpPr>
          <p:cNvPr id="13" name="Shape 11"/>
          <p:cNvSpPr/>
          <p:nvPr/>
        </p:nvSpPr>
        <p:spPr>
          <a:xfrm>
            <a:off x="5669280" y="2596896"/>
            <a:ext cx="548640" cy="192024"/>
          </a:xfrm>
          <a:prstGeom prst="line">
            <a:avLst/>
          </a:prstGeom>
          <a:noFill/>
          <a:ln w="22225">
            <a:solidFill>
              <a:srgbClr val="94A3B8"/>
            </a:solidFill>
            <a:prstDash val="solid"/>
            <a:tailEnd type="triangle"/>
          </a:ln>
        </p:spPr>
      </p:sp>
      <p:sp>
        <p:nvSpPr>
          <p:cNvPr id="14" name="Shape 12"/>
          <p:cNvSpPr/>
          <p:nvPr/>
        </p:nvSpPr>
        <p:spPr>
          <a:xfrm flipV="1">
            <a:off x="5669280" y="3063240"/>
            <a:ext cx="548640" cy="219456"/>
          </a:xfrm>
          <a:prstGeom prst="line">
            <a:avLst/>
          </a:prstGeom>
          <a:noFill/>
          <a:ln w="22225">
            <a:solidFill>
              <a:srgbClr val="94A3B8"/>
            </a:solidFill>
            <a:prstDash val="solid"/>
            <a:tailEnd type="triangle"/>
          </a:ln>
        </p:spPr>
      </p:sp>
      <p:sp>
        <p:nvSpPr>
          <p:cNvPr id="15" name="Text 13"/>
          <p:cNvSpPr txBox="1"/>
          <p:nvPr/>
        </p:nvSpPr>
        <p:spPr>
          <a:xfrm>
            <a:off x="8778240" y="2423160"/>
            <a:ext cx="2651760" cy="1188720"/>
          </a:xfrm>
          <a:prstGeom prst="rect">
            <a:avLst/>
          </a:prstGeom>
          <a:noFill/>
          <a:ln/>
        </p:spPr>
        <p:txBody>
          <a:bodyPr wrap="square" lIns="0" tIns="0" rIns="0" bIns="0" rtlCol="0" anchor="t"/>
          <a:lstStyle/>
          <a:p>
            <a:pPr indent="0" marL="0">
              <a:buNone/>
            </a:pPr>
            <a:r>
              <a:rPr lang="en-US" sz="1300" dirty="0">
                <a:solidFill>
                  <a:schemeClr val="accent6"/>
                </a:solidFill>
              </a:rPr>
              <a:t>One Callable per account, each with its own JDBC connection; Futures are collected with a 15-second timeout.</a:t>
            </a:r>
            <a:endParaRPr lang="en-US" sz="1300" dirty="0"/>
          </a:p>
        </p:txBody>
      </p:sp>
      <p:sp>
        <p:nvSpPr>
          <p:cNvPr id="16" name="card"/>
          <p:cNvSpPr/>
          <p:nvPr/>
        </p:nvSpPr>
        <p:spPr>
          <a:xfrm>
            <a:off x="548640" y="4069080"/>
            <a:ext cx="11064240" cy="2103120"/>
          </a:xfrm>
          <a:prstGeom prst="roundRect">
            <a:avLst>
              <a:gd name="adj" fmla="val 3478"/>
            </a:avLst>
          </a:prstGeom>
          <a:solidFill>
            <a:schemeClr val="bg2"/>
          </a:solidFill>
          <a:ln/>
        </p:spPr>
      </p:sp>
      <p:sp>
        <p:nvSpPr>
          <p:cNvPr id="17" name="Text 15"/>
          <p:cNvSpPr txBox="1"/>
          <p:nvPr/>
        </p:nvSpPr>
        <p:spPr>
          <a:xfrm>
            <a:off x="822960" y="4206240"/>
            <a:ext cx="5486400" cy="365760"/>
          </a:xfrm>
          <a:prstGeom prst="rect">
            <a:avLst/>
          </a:prstGeom>
          <a:noFill/>
          <a:ln/>
        </p:spPr>
        <p:txBody>
          <a:bodyPr wrap="square" lIns="0" tIns="0" rIns="0" bIns="0" rtlCol="0" anchor="t"/>
          <a:lstStyle/>
          <a:p>
            <a:pPr indent="0" marL="0">
              <a:buNone/>
            </a:pPr>
            <a:r>
              <a:rPr lang="en-US" sz="1700" b="1" dirty="0">
                <a:solidFill>
                  <a:schemeClr val="tx2"/>
                </a:solidFill>
              </a:rPr>
              <a:t>Producer-consumer: the audit log</a:t>
            </a:r>
            <a:endParaRPr lang="en-US" sz="1700" dirty="0"/>
          </a:p>
        </p:txBody>
      </p:sp>
      <p:sp>
        <p:nvSpPr>
          <p:cNvPr id="18" name="Text 16"/>
          <p:cNvSpPr txBox="1"/>
          <p:nvPr/>
        </p:nvSpPr>
        <p:spPr>
          <a:xfrm>
            <a:off x="822960" y="4709160"/>
            <a:ext cx="2011680" cy="1005840"/>
          </a:xfrm>
          <a:prstGeom prst="roundRect">
            <a:avLst>
              <a:gd name="adj" fmla="val 7273"/>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Request threads</a:t>
            </a:r>
            <a:endParaRPr lang="en-US" sz="1400" dirty="0"/>
          </a:p>
          <a:p>
            <a:pPr algn="ctr" indent="0" marL="0">
              <a:buNone/>
            </a:pPr>
            <a:r>
              <a:rPr lang="en-US" sz="1400" b="1" dirty="0">
                <a:solidFill>
                  <a:schemeClr val="bg1"/>
                </a:solidFill>
              </a:rPr>
              <a:t>record(event)</a:t>
            </a:r>
            <a:endParaRPr lang="en-US" sz="1400" dirty="0"/>
          </a:p>
        </p:txBody>
      </p:sp>
      <p:sp>
        <p:nvSpPr>
          <p:cNvPr id="19" name="Text 17"/>
          <p:cNvSpPr txBox="1"/>
          <p:nvPr/>
        </p:nvSpPr>
        <p:spPr>
          <a:xfrm>
            <a:off x="3383280" y="4709160"/>
            <a:ext cx="2286000" cy="1005840"/>
          </a:xfrm>
          <a:prstGeom prst="roundRect">
            <a:avLst>
              <a:gd name="adj" fmla="val 7273"/>
            </a:avLst>
          </a:prstGeom>
          <a:solidFill>
            <a:srgbClr val="FEF3C7"/>
          </a:solidFill>
          <a:ln w="15875">
            <a:solidFill>
              <a:schemeClr val="accent2"/>
            </a:solidFill>
          </a:ln>
        </p:spPr>
        <p:txBody>
          <a:bodyPr wrap="square" lIns="76200" tIns="76200" rIns="76200" bIns="76200" rtlCol="0" anchor="ctr"/>
          <a:lstStyle/>
          <a:p>
            <a:pPr algn="ctr" indent="0" marL="0">
              <a:buNone/>
            </a:pPr>
            <a:r>
              <a:rPr lang="en-US" sz="1400" b="1" dirty="0">
                <a:solidFill>
                  <a:schemeClr val="tx1"/>
                </a:solidFill>
              </a:rPr>
              <a:t>BlockingQueue</a:t>
            </a:r>
            <a:endParaRPr lang="en-US" sz="1400" dirty="0"/>
          </a:p>
          <a:p>
            <a:pPr algn="ctr" indent="0" marL="0">
              <a:buNone/>
            </a:pPr>
            <a:r>
              <a:rPr lang="en-US" sz="1400" b="1" dirty="0">
                <a:solidFill>
                  <a:schemeClr val="tx1"/>
                </a:solidFill>
              </a:rPr>
              <a:t>(10,000 events)</a:t>
            </a:r>
            <a:endParaRPr lang="en-US" sz="1400" dirty="0"/>
          </a:p>
        </p:txBody>
      </p:sp>
      <p:sp>
        <p:nvSpPr>
          <p:cNvPr id="20" name="Text 18"/>
          <p:cNvSpPr txBox="1"/>
          <p:nvPr/>
        </p:nvSpPr>
        <p:spPr>
          <a:xfrm>
            <a:off x="6217920" y="4709160"/>
            <a:ext cx="2194560" cy="1005840"/>
          </a:xfrm>
          <a:prstGeom prst="roundRect">
            <a:avLst>
              <a:gd name="adj" fmla="val 7273"/>
            </a:avLst>
          </a:prstGeom>
          <a:solidFill>
            <a:schemeClr val="bg1"/>
          </a:solidFill>
          <a:ln w="15875">
            <a:solidFill>
              <a:srgbClr val="CBD5E1"/>
            </a:solidFill>
          </a:ln>
        </p:spPr>
        <p:txBody>
          <a:bodyPr wrap="square" lIns="76200" tIns="76200" rIns="76200" bIns="76200" rtlCol="0" anchor="ctr"/>
          <a:lstStyle/>
          <a:p>
            <a:pPr algn="ctr" indent="0" marL="0">
              <a:buNone/>
            </a:pPr>
            <a:r>
              <a:rPr lang="en-US" sz="1400" b="1" dirty="0">
                <a:solidFill>
                  <a:schemeClr val="tx1"/>
                </a:solidFill>
              </a:rPr>
              <a:t>audit-log-writer</a:t>
            </a:r>
            <a:endParaRPr lang="en-US" sz="1400" dirty="0"/>
          </a:p>
          <a:p>
            <a:pPr algn="ctr" indent="0" marL="0">
              <a:buNone/>
            </a:pPr>
            <a:r>
              <a:rPr lang="en-US" sz="1400" b="1" dirty="0">
                <a:solidFill>
                  <a:schemeClr val="tx1"/>
                </a:solidFill>
              </a:rPr>
              <a:t>background thread</a:t>
            </a:r>
            <a:endParaRPr lang="en-US" sz="1400" dirty="0"/>
          </a:p>
        </p:txBody>
      </p:sp>
      <p:sp>
        <p:nvSpPr>
          <p:cNvPr id="21" name="Shape 19"/>
          <p:cNvSpPr/>
          <p:nvPr/>
        </p:nvSpPr>
        <p:spPr>
          <a:xfrm>
            <a:off x="2834640" y="5212080"/>
            <a:ext cx="548640" cy="0"/>
          </a:xfrm>
          <a:prstGeom prst="line">
            <a:avLst/>
          </a:prstGeom>
          <a:noFill/>
          <a:ln w="22225">
            <a:solidFill>
              <a:srgbClr val="94A3B8"/>
            </a:solidFill>
            <a:prstDash val="solid"/>
            <a:tailEnd type="triangle"/>
          </a:ln>
        </p:spPr>
      </p:sp>
      <p:sp>
        <p:nvSpPr>
          <p:cNvPr id="22" name="Shape 20"/>
          <p:cNvSpPr/>
          <p:nvPr/>
        </p:nvSpPr>
        <p:spPr>
          <a:xfrm>
            <a:off x="5669280" y="5212080"/>
            <a:ext cx="548640" cy="0"/>
          </a:xfrm>
          <a:prstGeom prst="line">
            <a:avLst/>
          </a:prstGeom>
          <a:noFill/>
          <a:ln w="22225">
            <a:solidFill>
              <a:srgbClr val="94A3B8"/>
            </a:solidFill>
            <a:prstDash val="solid"/>
            <a:tailEnd type="triangle"/>
          </a:ln>
        </p:spPr>
      </p:sp>
      <p:sp>
        <p:nvSpPr>
          <p:cNvPr id="23" name="Text 21"/>
          <p:cNvSpPr txBox="1"/>
          <p:nvPr/>
        </p:nvSpPr>
        <p:spPr>
          <a:xfrm>
            <a:off x="8778240" y="4709160"/>
            <a:ext cx="2651760" cy="1188720"/>
          </a:xfrm>
          <a:prstGeom prst="rect">
            <a:avLst/>
          </a:prstGeom>
          <a:noFill/>
          <a:ln/>
        </p:spPr>
        <p:txBody>
          <a:bodyPr wrap="square" lIns="0" tIns="0" rIns="0" bIns="0" rtlCol="0" anchor="t"/>
          <a:lstStyle/>
          <a:p>
            <a:pPr indent="0" marL="0">
              <a:buNone/>
            </a:pPr>
            <a:r>
              <a:rPr lang="en-US" sz="1300" dirty="0">
                <a:solidFill>
                  <a:schemeClr val="accent6"/>
                </a:solidFill>
              </a:rPr>
              <a:t>Batches of up to 100 rows. flush() uses wait() / notifyAll(); a volatile flag stops the thread cleanly.</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algn="l" indent="0" marL="0">
              <a:buNone/>
            </a:pPr>
            <a:r>
              <a:rPr lang="en-US" sz="7200" b="1" dirty="0">
                <a:solidFill>
                  <a:schemeClr val="accent2"/>
                </a:solidFill>
              </a:rPr>
              <a:t>04</a:t>
            </a:r>
            <a:endParaRPr lang="en-US" sz="7200" dirty="0"/>
          </a:p>
        </p:txBody>
      </p:sp>
      <p:sp>
        <p:nvSpPr>
          <p:cNvPr id="3" name="Text 0"/>
          <p:cNvSpPr/>
          <p:nvPr>
            <p:ph idx="101" type="title" hasCustomPrompt="1"/>
          </p:nvPr>
        </p:nvSpPr>
        <p:spPr>
          <a:xfrm>
            <a:off x="731520" y="2834640"/>
            <a:ext cx="5669280" cy="822960"/>
          </a:xfrm>
          <a:prstGeom prst="rect">
            <a:avLst/>
          </a:prstGeom>
          <a:noFill/>
          <a:ln/>
        </p:spPr>
        <p:txBody>
          <a:bodyPr wrap="square" lIns="0" tIns="0" rIns="0" bIns="0" rtlCol="0" anchor="t"/>
          <a:lstStyle/>
          <a:p>
            <a:pPr algn="l" indent="0" marL="0">
              <a:buNone/>
            </a:pPr>
            <a:r>
              <a:rPr lang="en-US" sz="4000" b="1" dirty="0">
                <a:solidFill>
                  <a:schemeClr val="bg1"/>
                </a:solidFill>
              </a:rPr>
              <a:t>JDBC &amp; Servlets</a:t>
            </a:r>
            <a:endParaRPr lang="en-US" sz="4000" dirty="0"/>
          </a:p>
        </p:txBody>
      </p:sp>
      <p:sp>
        <p:nvSpPr>
          <p:cNvPr id="4" name="Text 0"/>
          <p:cNvSpPr/>
          <p:nvPr>
            <p:ph idx="102" type="body" hasCustomPrompt="1"/>
          </p:nvPr>
        </p:nvSpPr>
        <p:spPr>
          <a:xfrm>
            <a:off x="731520" y="3703320"/>
            <a:ext cx="5486400" cy="914400"/>
          </a:xfrm>
          <a:prstGeom prst="rect">
            <a:avLst/>
          </a:prstGeom>
          <a:noFill/>
          <a:ln/>
        </p:spPr>
        <p:txBody>
          <a:bodyPr wrap="square" lIns="0" tIns="0" rIns="0" bIns="0" rtlCol="0" anchor="t"/>
          <a:lstStyle/>
          <a:p>
            <a:pPr algn="l" indent="0" marL="0">
              <a:buNone/>
            </a:pPr>
            <a:r>
              <a:rPr lang="en-US" sz="1800" dirty="0">
                <a:solidFill>
                  <a:srgbClr val="CBD5E1"/>
                </a:solidFill>
              </a:rPr>
              <a:t>Raw JDBC data access and a servlet-based customer portal.</a:t>
            </a:r>
            <a:endParaRPr lang="en-US" sz="1800" dirty="0"/>
          </a:p>
        </p:txBody>
      </p:sp>
      <p:sp>
        <p:nvSpPr>
          <p:cNvPr id="5" name="card"/>
          <p:cNvSpPr/>
          <p:nvPr/>
        </p:nvSpPr>
        <p:spPr>
          <a:xfrm>
            <a:off x="7315200" y="1463040"/>
            <a:ext cx="4297680" cy="3383280"/>
          </a:xfrm>
          <a:prstGeom prst="roundRect">
            <a:avLst>
              <a:gd name="adj" fmla="val 2162"/>
            </a:avLst>
          </a:prstGeom>
          <a:solidFill>
            <a:srgbClr val="16304F"/>
          </a:solidFill>
          <a:ln/>
        </p:spPr>
      </p:sp>
      <p:sp>
        <p:nvSpPr>
          <p:cNvPr id="6" name="Text 4"/>
          <p:cNvSpPr txBox="1"/>
          <p:nvPr/>
        </p:nvSpPr>
        <p:spPr>
          <a:xfrm>
            <a:off x="7635240" y="169164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 THIS SECTION</a:t>
            </a:r>
            <a:endParaRPr lang="en-US" sz="1200" dirty="0"/>
          </a:p>
        </p:txBody>
      </p:sp>
      <p:sp>
        <p:nvSpPr>
          <p:cNvPr id="7" name="Text 5"/>
          <p:cNvSpPr txBox="1"/>
          <p:nvPr/>
        </p:nvSpPr>
        <p:spPr>
          <a:xfrm>
            <a:off x="7635240" y="2103120"/>
            <a:ext cx="3749040" cy="365760"/>
          </a:xfrm>
          <a:prstGeom prst="rect">
            <a:avLst/>
          </a:prstGeom>
          <a:noFill/>
          <a:ln/>
        </p:spPr>
        <p:txBody>
          <a:bodyPr wrap="square" lIns="0" tIns="0" rIns="0" bIns="0" rtlCol="0" anchor="t"/>
          <a:lstStyle/>
          <a:p>
            <a:pPr indent="0" marL="0">
              <a:buNone/>
            </a:pPr>
            <a:r>
              <a:rPr lang="en-US" sz="1700" dirty="0">
                <a:solidFill>
                  <a:schemeClr val="bg1"/>
                </a:solidFill>
              </a:rPr>
              <a:t>Classes for database operations</a:t>
            </a:r>
            <a:endParaRPr lang="en-US" sz="1700" dirty="0"/>
          </a:p>
        </p:txBody>
      </p:sp>
      <p:sp>
        <p:nvSpPr>
          <p:cNvPr id="8" name="Text 6"/>
          <p:cNvSpPr txBox="1"/>
          <p:nvPr/>
        </p:nvSpPr>
        <p:spPr>
          <a:xfrm>
            <a:off x="7635240" y="2670048"/>
            <a:ext cx="3749040" cy="365760"/>
          </a:xfrm>
          <a:prstGeom prst="rect">
            <a:avLst/>
          </a:prstGeom>
          <a:noFill/>
          <a:ln/>
        </p:spPr>
        <p:txBody>
          <a:bodyPr wrap="square" lIns="0" tIns="0" rIns="0" bIns="0" rtlCol="0" anchor="t"/>
          <a:lstStyle/>
          <a:p>
            <a:pPr indent="0" marL="0">
              <a:buNone/>
            </a:pPr>
            <a:r>
              <a:rPr lang="en-US" sz="1700" dirty="0">
                <a:solidFill>
                  <a:schemeClr val="bg1"/>
                </a:solidFill>
              </a:rPr>
              <a:t>JDBC in action</a:t>
            </a:r>
            <a:endParaRPr lang="en-US" sz="1700" dirty="0"/>
          </a:p>
        </p:txBody>
      </p:sp>
      <p:sp>
        <p:nvSpPr>
          <p:cNvPr id="9" name="Text 7"/>
          <p:cNvSpPr txBox="1"/>
          <p:nvPr/>
        </p:nvSpPr>
        <p:spPr>
          <a:xfrm>
            <a:off x="7635240" y="3236976"/>
            <a:ext cx="3749040" cy="365760"/>
          </a:xfrm>
          <a:prstGeom prst="rect">
            <a:avLst/>
          </a:prstGeom>
          <a:noFill/>
          <a:ln/>
        </p:spPr>
        <p:txBody>
          <a:bodyPr wrap="square" lIns="0" tIns="0" rIns="0" bIns="0" rtlCol="0" anchor="t"/>
          <a:lstStyle/>
          <a:p>
            <a:pPr indent="0" marL="0">
              <a:buNone/>
            </a:pPr>
            <a:r>
              <a:rPr lang="en-US" sz="1700" dirty="0">
                <a:solidFill>
                  <a:schemeClr val="bg1"/>
                </a:solidFill>
              </a:rPr>
              <a:t>Servlets &amp; URL mappings</a:t>
            </a:r>
            <a:endParaRPr lang="en-US" sz="1700" dirty="0"/>
          </a:p>
        </p:txBody>
      </p:sp>
      <p:sp>
        <p:nvSpPr>
          <p:cNvPr id="10" name="Text 8"/>
          <p:cNvSpPr txBox="1"/>
          <p:nvPr/>
        </p:nvSpPr>
        <p:spPr>
          <a:xfrm>
            <a:off x="7635240" y="3803904"/>
            <a:ext cx="3749040" cy="365760"/>
          </a:xfrm>
          <a:prstGeom prst="rect">
            <a:avLst/>
          </a:prstGeom>
          <a:noFill/>
          <a:ln/>
        </p:spPr>
        <p:txBody>
          <a:bodyPr wrap="square" lIns="0" tIns="0" rIns="0" bIns="0" rtlCol="0" anchor="t"/>
          <a:lstStyle/>
          <a:p>
            <a:pPr indent="0" marL="0">
              <a:buNone/>
            </a:pPr>
            <a:r>
              <a:rPr lang="en-US" sz="1700" dirty="0">
                <a:solidFill>
                  <a:schemeClr val="bg1"/>
                </a:solidFill>
              </a:rPr>
              <a:t>Portal screens</a:t>
            </a:r>
            <a:endParaRPr lang="en-US" sz="1700" dirty="0"/>
          </a:p>
        </p:txBody>
      </p:sp>
      <p:sp>
        <p:nvSpPr>
          <p:cNvPr id="11" name="Text 9"/>
          <p:cNvSpPr txBox="1"/>
          <p:nvPr/>
        </p:nvSpPr>
        <p:spPr>
          <a:xfrm>
            <a:off x="7635240" y="4370832"/>
            <a:ext cx="3749040" cy="365760"/>
          </a:xfrm>
          <a:prstGeom prst="rect">
            <a:avLst/>
          </a:prstGeom>
          <a:noFill/>
          <a:ln/>
        </p:spPr>
        <p:txBody>
          <a:bodyPr wrap="square" lIns="0" tIns="0" rIns="0" bIns="0" rtlCol="0" anchor="t"/>
          <a:lstStyle/>
          <a:p>
            <a:pPr indent="0" marL="0">
              <a:buNone/>
            </a:pPr>
            <a:r>
              <a:rPr lang="en-US" sz="1700" dirty="0">
                <a:solidFill>
                  <a:schemeClr val="bg1"/>
                </a:solidFill>
              </a:rPr>
              <a:t>30-day report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DATABASE INTEGRATION  |  JDBC</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Classes for database operations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The DAO pattern keeps SQL in one layer, behind interfaces.</a:t>
            </a:r>
            <a:endParaRPr lang="en-US" sz="1600" dirty="0"/>
          </a:p>
        </p:txBody>
      </p:sp>
      <p:sp>
        <p:nvSpPr>
          <p:cNvPr id="5" name="Text 3"/>
          <p:cNvSpPr txBox="1"/>
          <p:nvPr/>
        </p:nvSpPr>
        <p:spPr>
          <a:xfrm>
            <a:off x="548640" y="1783080"/>
            <a:ext cx="1920240" cy="868680"/>
          </a:xfrm>
          <a:prstGeom prst="roundRect">
            <a:avLst>
              <a:gd name="adj" fmla="val 8421"/>
            </a:avLst>
          </a:prstGeom>
          <a:solidFill>
            <a:schemeClr val="tx2"/>
          </a:solidFill>
          <a:ln/>
        </p:spPr>
        <p:txBody>
          <a:bodyPr wrap="square" lIns="76200" tIns="76200" rIns="76200" bIns="76200" rtlCol="0" anchor="ctr"/>
          <a:lstStyle/>
          <a:p>
            <a:pPr algn="ctr" indent="0" marL="0">
              <a:buNone/>
            </a:pPr>
            <a:r>
              <a:rPr lang="en-US" sz="1400" b="1" dirty="0">
                <a:solidFill>
                  <a:schemeClr val="bg1"/>
                </a:solidFill>
              </a:rPr>
              <a:t>DBConnection</a:t>
            </a:r>
            <a:endParaRPr lang="en-US" sz="1400" dirty="0"/>
          </a:p>
          <a:p>
            <a:pPr algn="ctr" indent="0" marL="0">
              <a:buNone/>
            </a:pPr>
            <a:r>
              <a:rPr lang="en-US" sz="1200" dirty="0">
                <a:solidFill>
                  <a:schemeClr val="bg1"/>
                </a:solidFill>
              </a:rPr>
              <a:t>pooled DataSource</a:t>
            </a:r>
            <a:endParaRPr lang="en-US" sz="1400" dirty="0"/>
          </a:p>
        </p:txBody>
      </p:sp>
      <p:sp>
        <p:nvSpPr>
          <p:cNvPr id="6" name="Shape 4"/>
          <p:cNvSpPr/>
          <p:nvPr/>
        </p:nvSpPr>
        <p:spPr>
          <a:xfrm>
            <a:off x="2468880" y="2212848"/>
            <a:ext cx="365760" cy="0"/>
          </a:xfrm>
          <a:prstGeom prst="line">
            <a:avLst/>
          </a:prstGeom>
          <a:noFill/>
          <a:ln w="22225">
            <a:solidFill>
              <a:srgbClr val="94A3B8"/>
            </a:solidFill>
            <a:prstDash val="solid"/>
            <a:tailEnd type="triangle"/>
          </a:ln>
        </p:spPr>
      </p:sp>
      <p:sp>
        <p:nvSpPr>
          <p:cNvPr id="7" name="Text 5"/>
          <p:cNvSpPr txBox="1"/>
          <p:nvPr/>
        </p:nvSpPr>
        <p:spPr>
          <a:xfrm>
            <a:off x="2834640" y="1783080"/>
            <a:ext cx="19202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AccountDao</a:t>
            </a:r>
            <a:endParaRPr lang="en-US" sz="1400" dirty="0"/>
          </a:p>
          <a:p>
            <a:pPr algn="ctr" indent="0" marL="0">
              <a:buNone/>
            </a:pPr>
            <a:r>
              <a:rPr lang="en-US" sz="1200" dirty="0">
                <a:solidFill>
                  <a:schemeClr val="tx1"/>
                </a:solidFill>
              </a:rPr>
              <a:t>interface</a:t>
            </a:r>
            <a:endParaRPr lang="en-US" sz="1400" dirty="0"/>
          </a:p>
        </p:txBody>
      </p:sp>
      <p:sp>
        <p:nvSpPr>
          <p:cNvPr id="8" name="Shape 6"/>
          <p:cNvSpPr/>
          <p:nvPr/>
        </p:nvSpPr>
        <p:spPr>
          <a:xfrm>
            <a:off x="4754880" y="2212848"/>
            <a:ext cx="365760" cy="0"/>
          </a:xfrm>
          <a:prstGeom prst="line">
            <a:avLst/>
          </a:prstGeom>
          <a:noFill/>
          <a:ln w="22225">
            <a:solidFill>
              <a:srgbClr val="94A3B8"/>
            </a:solidFill>
            <a:prstDash val="solid"/>
            <a:tailEnd type="triangle"/>
          </a:ln>
        </p:spPr>
      </p:sp>
      <p:sp>
        <p:nvSpPr>
          <p:cNvPr id="9" name="Text 7"/>
          <p:cNvSpPr txBox="1"/>
          <p:nvPr/>
        </p:nvSpPr>
        <p:spPr>
          <a:xfrm>
            <a:off x="5120640" y="1783080"/>
            <a:ext cx="19202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JdbcAccountDao</a:t>
            </a:r>
            <a:endParaRPr lang="en-US" sz="1400" dirty="0"/>
          </a:p>
          <a:p>
            <a:pPr algn="ctr" indent="0" marL="0">
              <a:buNone/>
            </a:pPr>
            <a:r>
              <a:rPr lang="en-US" sz="1200" dirty="0">
                <a:solidFill>
                  <a:schemeClr val="tx1"/>
                </a:solidFill>
              </a:rPr>
              <a:t>implementation</a:t>
            </a:r>
            <a:endParaRPr lang="en-US" sz="1400" dirty="0"/>
          </a:p>
        </p:txBody>
      </p:sp>
      <p:sp>
        <p:nvSpPr>
          <p:cNvPr id="10" name="Shape 8"/>
          <p:cNvSpPr/>
          <p:nvPr/>
        </p:nvSpPr>
        <p:spPr>
          <a:xfrm>
            <a:off x="7040880" y="2212848"/>
            <a:ext cx="365760" cy="0"/>
          </a:xfrm>
          <a:prstGeom prst="line">
            <a:avLst/>
          </a:prstGeom>
          <a:noFill/>
          <a:ln w="22225">
            <a:solidFill>
              <a:srgbClr val="94A3B8"/>
            </a:solidFill>
            <a:prstDash val="solid"/>
            <a:tailEnd type="triangle"/>
          </a:ln>
        </p:spPr>
      </p:sp>
      <p:sp>
        <p:nvSpPr>
          <p:cNvPr id="11" name="Text 9"/>
          <p:cNvSpPr txBox="1"/>
          <p:nvPr/>
        </p:nvSpPr>
        <p:spPr>
          <a:xfrm>
            <a:off x="7406640" y="1783080"/>
            <a:ext cx="19202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PreparedStatement</a:t>
            </a:r>
            <a:endParaRPr lang="en-US" sz="1400" dirty="0"/>
          </a:p>
          <a:p>
            <a:pPr algn="ctr" indent="0" marL="0">
              <a:buNone/>
            </a:pPr>
            <a:r>
              <a:rPr lang="en-US" sz="1200" dirty="0">
                <a:solidFill>
                  <a:schemeClr val="tx1"/>
                </a:solidFill>
              </a:rPr>
              <a:t>WHERE user_id = ?</a:t>
            </a:r>
            <a:endParaRPr lang="en-US" sz="1400" dirty="0"/>
          </a:p>
        </p:txBody>
      </p:sp>
      <p:sp>
        <p:nvSpPr>
          <p:cNvPr id="12" name="Shape 10"/>
          <p:cNvSpPr/>
          <p:nvPr/>
        </p:nvSpPr>
        <p:spPr>
          <a:xfrm>
            <a:off x="9326880" y="2212848"/>
            <a:ext cx="365760" cy="0"/>
          </a:xfrm>
          <a:prstGeom prst="line">
            <a:avLst/>
          </a:prstGeom>
          <a:noFill/>
          <a:ln w="22225">
            <a:solidFill>
              <a:srgbClr val="94A3B8"/>
            </a:solidFill>
            <a:prstDash val="solid"/>
            <a:tailEnd type="triangle"/>
          </a:ln>
        </p:spPr>
      </p:sp>
      <p:sp>
        <p:nvSpPr>
          <p:cNvPr id="13" name="Text 11"/>
          <p:cNvSpPr txBox="1"/>
          <p:nvPr/>
        </p:nvSpPr>
        <p:spPr>
          <a:xfrm>
            <a:off x="9692640" y="1783080"/>
            <a:ext cx="1920240" cy="868680"/>
          </a:xfrm>
          <a:prstGeom prst="roundRect">
            <a:avLst>
              <a:gd name="adj" fmla="val 8421"/>
            </a:avLst>
          </a:prstGeom>
          <a:solidFill>
            <a:schemeClr val="bg2"/>
          </a:solidFill>
          <a:ln/>
        </p:spPr>
        <p:txBody>
          <a:bodyPr wrap="square" lIns="76200" tIns="76200" rIns="76200" bIns="76200" rtlCol="0" anchor="ctr"/>
          <a:lstStyle/>
          <a:p>
            <a:pPr algn="ctr" indent="0" marL="0">
              <a:buNone/>
            </a:pPr>
            <a:r>
              <a:rPr lang="en-US" sz="1400" b="1" dirty="0">
                <a:solidFill>
                  <a:schemeClr val="tx1"/>
                </a:solidFill>
              </a:rPr>
              <a:t>ResultSet → object</a:t>
            </a:r>
            <a:endParaRPr lang="en-US" sz="1400" dirty="0"/>
          </a:p>
          <a:p>
            <a:pPr algn="ctr" indent="0" marL="0">
              <a:buNone/>
            </a:pPr>
            <a:r>
              <a:rPr lang="en-US" sz="1200" dirty="0">
                <a:solidFill>
                  <a:schemeClr val="tx1"/>
                </a:solidFill>
              </a:rPr>
              <a:t>SavingsAccount, …</a:t>
            </a:r>
            <a:endParaRPr lang="en-US" sz="1400" dirty="0"/>
          </a:p>
        </p:txBody>
      </p:sp>
      <p:sp>
        <p:nvSpPr>
          <p:cNvPr id="14" name="code"/>
          <p:cNvSpPr txBox="1"/>
          <p:nvPr/>
        </p:nvSpPr>
        <p:spPr>
          <a:xfrm>
            <a:off x="548640" y="2926080"/>
            <a:ext cx="5852160" cy="3246120"/>
          </a:xfrm>
          <a:prstGeom prst="roundRect">
            <a:avLst>
              <a:gd name="adj" fmla="val 2254"/>
            </a:avLst>
          </a:prstGeom>
          <a:solidFill>
            <a:srgbClr val="0F172A"/>
          </a:solidFill>
          <a:ln/>
        </p:spPr>
        <p:txBody>
          <a:bodyPr wrap="square" lIns="177800" tIns="177800" rIns="177800" bIns="177800" rtlCol="0" anchor="t"/>
          <a:lstStyle/>
          <a:p>
            <a:pPr indent="0" marL="0">
              <a:buNone/>
            </a:pPr>
            <a:r>
              <a:rPr lang="en-US" sz="1300" dirty="0">
                <a:solidFill>
                  <a:srgbClr val="E2E8F0"/>
                </a:solidFill>
                <a:latin typeface="Courier New" pitchFamily="34" charset="0"/>
                <a:ea typeface="Courier New" pitchFamily="34" charset="-122"/>
                <a:cs typeface="Courier New" pitchFamily="34" charset="-120"/>
              </a:rPr>
              <a:t>conn.setAutoCommit(false);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try (var ps = conn.prepareStatement(SQL))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for (AuditEvent e : events)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ps.setLong(1, e.userId());</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ps.addBatch();</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ps.executeBatch();</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conn.commit();</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catch (SQLException ex) {</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conn.rollback();   // all rows or none</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  throw ex;</a:t>
            </a:r>
            <a:endParaRPr lang="en-US" sz="1300" dirty="0"/>
          </a:p>
          <a:p>
            <a:pPr indent="0" marL="0">
              <a:buNone/>
            </a:pPr>
            <a:r>
              <a:rPr lang="en-US" sz="1300" dirty="0">
                <a:solidFill>
                  <a:srgbClr val="E2E8F0"/>
                </a:solidFill>
                <a:latin typeface="Courier New" pitchFamily="34" charset="0"/>
                <a:ea typeface="Courier New" pitchFamily="34" charset="-122"/>
                <a:cs typeface="Courier New" pitchFamily="34" charset="-120"/>
              </a:rPr>
              <a:t>}</a:t>
            </a:r>
            <a:endParaRPr lang="en-US" sz="1300" dirty="0"/>
          </a:p>
        </p:txBody>
      </p:sp>
      <p:sp>
        <p:nvSpPr>
          <p:cNvPr id="15" name="icon-bg"/>
          <p:cNvSpPr/>
          <p:nvPr/>
        </p:nvSpPr>
        <p:spPr>
          <a:xfrm>
            <a:off x="6766560" y="3017520"/>
            <a:ext cx="411480" cy="411480"/>
          </a:xfrm>
          <a:prstGeom prst="ellipse">
            <a:avLst/>
          </a:prstGeom>
          <a:solidFill>
            <a:schemeClr val="accent4"/>
          </a:solidFill>
          <a:ln/>
        </p:spPr>
      </p:sp>
      <p:pic>
        <p:nvPicPr>
          <p:cNvPr id="16" name="icon-FaCheck" descr="preencoded.png">    </p:cNvPr>
          <p:cNvPicPr>
            <a:picLocks noChangeAspect="1"/>
          </p:cNvPicPr>
          <p:nvPr/>
        </p:nvPicPr>
        <p:blipFill>
          <a:blip r:embed="rId1"/>
          <a:stretch>
            <a:fillRect/>
          </a:stretch>
        </p:blipFill>
        <p:spPr>
          <a:xfrm>
            <a:off x="6877660" y="3128620"/>
            <a:ext cx="189281" cy="189281"/>
          </a:xfrm>
          <a:prstGeom prst="rect">
            <a:avLst/>
          </a:prstGeom>
        </p:spPr>
      </p:pic>
      <p:sp>
        <p:nvSpPr>
          <p:cNvPr id="17" name="Text 14"/>
          <p:cNvSpPr txBox="1"/>
          <p:nvPr/>
        </p:nvSpPr>
        <p:spPr>
          <a:xfrm>
            <a:off x="7360920" y="2971800"/>
            <a:ext cx="4251960" cy="320040"/>
          </a:xfrm>
          <a:prstGeom prst="rect">
            <a:avLst/>
          </a:prstGeom>
          <a:noFill/>
          <a:ln/>
        </p:spPr>
        <p:txBody>
          <a:bodyPr wrap="square" lIns="0" tIns="0" rIns="0" bIns="0" rtlCol="0" anchor="t"/>
          <a:lstStyle/>
          <a:p>
            <a:pPr indent="0" marL="0">
              <a:buNone/>
            </a:pPr>
            <a:r>
              <a:rPr lang="en-US" sz="1600" b="1" dirty="0">
                <a:solidFill>
                  <a:schemeClr val="tx1"/>
                </a:solidFill>
              </a:rPr>
              <a:t>3 DAO interfaces + implementations</a:t>
            </a:r>
            <a:endParaRPr lang="en-US" sz="1600" dirty="0"/>
          </a:p>
        </p:txBody>
      </p:sp>
      <p:sp>
        <p:nvSpPr>
          <p:cNvPr id="18" name="Text 15"/>
          <p:cNvSpPr txBox="1"/>
          <p:nvPr/>
        </p:nvSpPr>
        <p:spPr>
          <a:xfrm>
            <a:off x="7360920" y="3300984"/>
            <a:ext cx="4251960" cy="365760"/>
          </a:xfrm>
          <a:prstGeom prst="rect">
            <a:avLst/>
          </a:prstGeom>
          <a:noFill/>
          <a:ln/>
        </p:spPr>
        <p:txBody>
          <a:bodyPr wrap="square" lIns="0" tIns="0" rIns="0" bIns="0" rtlCol="0" anchor="t"/>
          <a:lstStyle/>
          <a:p>
            <a:pPr indent="0" marL="0">
              <a:buNone/>
            </a:pPr>
            <a:r>
              <a:rPr lang="en-US" sz="1400" dirty="0">
                <a:solidFill>
                  <a:schemeClr val="accent6"/>
                </a:solidFill>
              </a:rPr>
              <a:t>Accounts, transactions and the audit log</a:t>
            </a:r>
            <a:endParaRPr lang="en-US" sz="1400" dirty="0"/>
          </a:p>
        </p:txBody>
      </p:sp>
      <p:sp>
        <p:nvSpPr>
          <p:cNvPr id="19" name="icon-bg"/>
          <p:cNvSpPr/>
          <p:nvPr/>
        </p:nvSpPr>
        <p:spPr>
          <a:xfrm>
            <a:off x="6766560" y="3822192"/>
            <a:ext cx="411480" cy="411480"/>
          </a:xfrm>
          <a:prstGeom prst="ellipse">
            <a:avLst/>
          </a:prstGeom>
          <a:solidFill>
            <a:schemeClr val="accent4"/>
          </a:solidFill>
          <a:ln/>
        </p:spPr>
      </p:sp>
      <p:pic>
        <p:nvPicPr>
          <p:cNvPr id="20" name="icon-FaCheck" descr="preencoded.png">    </p:cNvPr>
          <p:cNvPicPr>
            <a:picLocks noChangeAspect="1"/>
          </p:cNvPicPr>
          <p:nvPr/>
        </p:nvPicPr>
        <p:blipFill>
          <a:blip r:embed="rId2"/>
          <a:stretch>
            <a:fillRect/>
          </a:stretch>
        </p:blipFill>
        <p:spPr>
          <a:xfrm>
            <a:off x="6877660" y="3933292"/>
            <a:ext cx="189281" cy="189281"/>
          </a:xfrm>
          <a:prstGeom prst="rect">
            <a:avLst/>
          </a:prstGeom>
        </p:spPr>
      </p:pic>
      <p:sp>
        <p:nvSpPr>
          <p:cNvPr id="21" name="Text 17"/>
          <p:cNvSpPr txBox="1"/>
          <p:nvPr/>
        </p:nvSpPr>
        <p:spPr>
          <a:xfrm>
            <a:off x="7360920" y="3776472"/>
            <a:ext cx="4251960" cy="320040"/>
          </a:xfrm>
          <a:prstGeom prst="rect">
            <a:avLst/>
          </a:prstGeom>
          <a:noFill/>
          <a:ln/>
        </p:spPr>
        <p:txBody>
          <a:bodyPr wrap="square" lIns="0" tIns="0" rIns="0" bIns="0" rtlCol="0" anchor="t"/>
          <a:lstStyle/>
          <a:p>
            <a:pPr indent="0" marL="0">
              <a:buNone/>
            </a:pPr>
            <a:r>
              <a:rPr lang="en-US" sz="1600" b="1" dirty="0">
                <a:solidFill>
                  <a:schemeClr val="tx1"/>
                </a:solidFill>
              </a:rPr>
              <a:t>PreparedStatement everywhere</a:t>
            </a:r>
            <a:endParaRPr lang="en-US" sz="1600" dirty="0"/>
          </a:p>
        </p:txBody>
      </p:sp>
      <p:sp>
        <p:nvSpPr>
          <p:cNvPr id="22" name="Text 18"/>
          <p:cNvSpPr txBox="1"/>
          <p:nvPr/>
        </p:nvSpPr>
        <p:spPr>
          <a:xfrm>
            <a:off x="7360920" y="4105656"/>
            <a:ext cx="4251960" cy="365760"/>
          </a:xfrm>
          <a:prstGeom prst="rect">
            <a:avLst/>
          </a:prstGeom>
          <a:noFill/>
          <a:ln/>
        </p:spPr>
        <p:txBody>
          <a:bodyPr wrap="square" lIns="0" tIns="0" rIns="0" bIns="0" rtlCol="0" anchor="t"/>
          <a:lstStyle/>
          <a:p>
            <a:pPr indent="0" marL="0">
              <a:buNone/>
            </a:pPr>
            <a:r>
              <a:rPr lang="en-US" sz="1400" dirty="0">
                <a:solidFill>
                  <a:schemeClr val="accent6"/>
                </a:solidFill>
              </a:rPr>
              <a:t>Bound parameters make SQL injection impossible</a:t>
            </a:r>
            <a:endParaRPr lang="en-US" sz="1400" dirty="0"/>
          </a:p>
        </p:txBody>
      </p:sp>
      <p:sp>
        <p:nvSpPr>
          <p:cNvPr id="23" name="icon-bg"/>
          <p:cNvSpPr/>
          <p:nvPr/>
        </p:nvSpPr>
        <p:spPr>
          <a:xfrm>
            <a:off x="6766560" y="4626864"/>
            <a:ext cx="411480" cy="411480"/>
          </a:xfrm>
          <a:prstGeom prst="ellipse">
            <a:avLst/>
          </a:prstGeom>
          <a:solidFill>
            <a:schemeClr val="accent4"/>
          </a:solidFill>
          <a:ln/>
        </p:spPr>
      </p:sp>
      <p:pic>
        <p:nvPicPr>
          <p:cNvPr id="24" name="icon-FaCheck" descr="preencoded.png">    </p:cNvPr>
          <p:cNvPicPr>
            <a:picLocks noChangeAspect="1"/>
          </p:cNvPicPr>
          <p:nvPr/>
        </p:nvPicPr>
        <p:blipFill>
          <a:blip r:embed="rId3"/>
          <a:stretch>
            <a:fillRect/>
          </a:stretch>
        </p:blipFill>
        <p:spPr>
          <a:xfrm>
            <a:off x="6877660" y="4737964"/>
            <a:ext cx="189281" cy="189281"/>
          </a:xfrm>
          <a:prstGeom prst="rect">
            <a:avLst/>
          </a:prstGeom>
        </p:spPr>
      </p:pic>
      <p:sp>
        <p:nvSpPr>
          <p:cNvPr id="25" name="Text 20"/>
          <p:cNvSpPr txBox="1"/>
          <p:nvPr/>
        </p:nvSpPr>
        <p:spPr>
          <a:xfrm>
            <a:off x="7360920" y="4581144"/>
            <a:ext cx="4251960" cy="320040"/>
          </a:xfrm>
          <a:prstGeom prst="rect">
            <a:avLst/>
          </a:prstGeom>
          <a:noFill/>
          <a:ln/>
        </p:spPr>
        <p:txBody>
          <a:bodyPr wrap="square" lIns="0" tIns="0" rIns="0" bIns="0" rtlCol="0" anchor="t"/>
          <a:lstStyle/>
          <a:p>
            <a:pPr indent="0" marL="0">
              <a:buNone/>
            </a:pPr>
            <a:r>
              <a:rPr lang="en-US" sz="1600" b="1" dirty="0">
                <a:solidFill>
                  <a:schemeClr val="tx1"/>
                </a:solidFill>
              </a:rPr>
              <a:t>Aggregates and DDL</a:t>
            </a:r>
            <a:endParaRPr lang="en-US" sz="1600" dirty="0"/>
          </a:p>
        </p:txBody>
      </p:sp>
      <p:sp>
        <p:nvSpPr>
          <p:cNvPr id="26" name="Text 21"/>
          <p:cNvSpPr txBox="1"/>
          <p:nvPr/>
        </p:nvSpPr>
        <p:spPr>
          <a:xfrm>
            <a:off x="7360920" y="4910328"/>
            <a:ext cx="4251960" cy="365760"/>
          </a:xfrm>
          <a:prstGeom prst="rect">
            <a:avLst/>
          </a:prstGeom>
          <a:noFill/>
          <a:ln/>
        </p:spPr>
        <p:txBody>
          <a:bodyPr wrap="square" lIns="0" tIns="0" rIns="0" bIns="0" rtlCol="0" anchor="t"/>
          <a:lstStyle/>
          <a:p>
            <a:pPr indent="0" marL="0">
              <a:buNone/>
            </a:pPr>
            <a:r>
              <a:rPr lang="en-US" sz="1400" dirty="0">
                <a:solidFill>
                  <a:schemeClr val="accent6"/>
                </a:solidFill>
              </a:rPr>
              <a:t>SUM … GROUP BY; CREATE TABLE IF NOT EXISTS</a:t>
            </a:r>
            <a:endParaRPr lang="en-US" sz="1400" dirty="0"/>
          </a:p>
        </p:txBody>
      </p:sp>
      <p:sp>
        <p:nvSpPr>
          <p:cNvPr id="27" name="icon-bg"/>
          <p:cNvSpPr/>
          <p:nvPr/>
        </p:nvSpPr>
        <p:spPr>
          <a:xfrm>
            <a:off x="6766560" y="5431536"/>
            <a:ext cx="411480" cy="411480"/>
          </a:xfrm>
          <a:prstGeom prst="ellipse">
            <a:avLst/>
          </a:prstGeom>
          <a:solidFill>
            <a:schemeClr val="accent4"/>
          </a:solidFill>
          <a:ln/>
        </p:spPr>
      </p:sp>
      <p:pic>
        <p:nvPicPr>
          <p:cNvPr id="28" name="icon-FaCheck" descr="preencoded.png">    </p:cNvPr>
          <p:cNvPicPr>
            <a:picLocks noChangeAspect="1"/>
          </p:cNvPicPr>
          <p:nvPr/>
        </p:nvPicPr>
        <p:blipFill>
          <a:blip r:embed="rId4"/>
          <a:stretch>
            <a:fillRect/>
          </a:stretch>
        </p:blipFill>
        <p:spPr>
          <a:xfrm>
            <a:off x="6877660" y="5542636"/>
            <a:ext cx="189281" cy="189281"/>
          </a:xfrm>
          <a:prstGeom prst="rect">
            <a:avLst/>
          </a:prstGeom>
        </p:spPr>
      </p:pic>
      <p:sp>
        <p:nvSpPr>
          <p:cNvPr id="29" name="Text 23"/>
          <p:cNvSpPr txBox="1"/>
          <p:nvPr/>
        </p:nvSpPr>
        <p:spPr>
          <a:xfrm>
            <a:off x="7360920" y="5385816"/>
            <a:ext cx="4251960" cy="320040"/>
          </a:xfrm>
          <a:prstGeom prst="rect">
            <a:avLst/>
          </a:prstGeom>
          <a:noFill/>
          <a:ln/>
        </p:spPr>
        <p:txBody>
          <a:bodyPr wrap="square" lIns="0" tIns="0" rIns="0" bIns="0" rtlCol="0" anchor="t"/>
          <a:lstStyle/>
          <a:p>
            <a:pPr indent="0" marL="0">
              <a:buNone/>
            </a:pPr>
            <a:r>
              <a:rPr lang="en-US" sz="1600" b="1" dirty="0">
                <a:solidFill>
                  <a:schemeClr val="tx1"/>
                </a:solidFill>
              </a:rPr>
              <a:t>Transactions and batches</a:t>
            </a:r>
            <a:endParaRPr lang="en-US" sz="1600" dirty="0"/>
          </a:p>
        </p:txBody>
      </p:sp>
      <p:sp>
        <p:nvSpPr>
          <p:cNvPr id="30" name="Text 24"/>
          <p:cNvSpPr txBox="1"/>
          <p:nvPr/>
        </p:nvSpPr>
        <p:spPr>
          <a:xfrm>
            <a:off x="7360920" y="5715000"/>
            <a:ext cx="4251960" cy="365760"/>
          </a:xfrm>
          <a:prstGeom prst="rect">
            <a:avLst/>
          </a:prstGeom>
          <a:noFill/>
          <a:ln/>
        </p:spPr>
        <p:txBody>
          <a:bodyPr wrap="square" lIns="0" tIns="0" rIns="0" bIns="0" rtlCol="0" anchor="t"/>
          <a:lstStyle/>
          <a:p>
            <a:pPr indent="0" marL="0">
              <a:buNone/>
            </a:pPr>
            <a:r>
              <a:rPr lang="en-US" sz="1400" dirty="0">
                <a:solidFill>
                  <a:schemeClr val="accent6"/>
                </a:solidFill>
              </a:rPr>
              <a:t>addBatch / executeBatch, then commit or rollback</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DATABASE INTEGRATION  |  JDBC</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JDBC in action: the mini statement</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Every row on this page came through a PreparedStatement in the DAO layer.</a:t>
            </a:r>
            <a:endParaRPr lang="en-US" sz="1600" dirty="0"/>
          </a:p>
        </p:txBody>
      </p:sp>
      <p:sp>
        <p:nvSpPr>
          <p:cNvPr id="5" name="statement-window"/>
          <p:cNvSpPr/>
          <p:nvPr/>
        </p:nvSpPr>
        <p:spPr>
          <a:xfrm>
            <a:off x="548640" y="1737360"/>
            <a:ext cx="7223760" cy="4282821"/>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737360"/>
            <a:ext cx="7223760" cy="219456"/>
          </a:xfrm>
          <a:prstGeom prst="rect">
            <a:avLst/>
          </a:prstGeom>
          <a:solidFill>
            <a:srgbClr val="E2E8F0"/>
          </a:solidFill>
          <a:ln/>
        </p:spPr>
      </p:sp>
      <p:sp>
        <p:nvSpPr>
          <p:cNvPr id="7" name="Shape 5"/>
          <p:cNvSpPr/>
          <p:nvPr/>
        </p:nvSpPr>
        <p:spPr>
          <a:xfrm>
            <a:off x="640080" y="1805940"/>
            <a:ext cx="82296" cy="82296"/>
          </a:xfrm>
          <a:prstGeom prst="ellipse">
            <a:avLst/>
          </a:prstGeom>
          <a:solidFill>
            <a:srgbClr val="F87171"/>
          </a:solidFill>
          <a:ln/>
        </p:spPr>
      </p:sp>
      <p:sp>
        <p:nvSpPr>
          <p:cNvPr id="8" name="Shape 6"/>
          <p:cNvSpPr/>
          <p:nvPr/>
        </p:nvSpPr>
        <p:spPr>
          <a:xfrm>
            <a:off x="777240" y="1805940"/>
            <a:ext cx="82296" cy="82296"/>
          </a:xfrm>
          <a:prstGeom prst="ellipse">
            <a:avLst/>
          </a:prstGeom>
          <a:solidFill>
            <a:srgbClr val="FBBF24"/>
          </a:solidFill>
          <a:ln/>
        </p:spPr>
      </p:sp>
      <p:sp>
        <p:nvSpPr>
          <p:cNvPr id="9" name="Shape 7"/>
          <p:cNvSpPr/>
          <p:nvPr/>
        </p:nvSpPr>
        <p:spPr>
          <a:xfrm>
            <a:off x="914400" y="1805940"/>
            <a:ext cx="82296" cy="82296"/>
          </a:xfrm>
          <a:prstGeom prst="ellipse">
            <a:avLst/>
          </a:prstGeom>
          <a:solidFill>
            <a:srgbClr val="34D399"/>
          </a:solidFill>
          <a:ln/>
        </p:spPr>
      </p:sp>
      <p:pic>
        <p:nvPicPr>
          <p:cNvPr id="10" name="statement" descr="statement">    </p:cNvPr>
          <p:cNvPicPr>
            <a:picLocks noChangeAspect="1"/>
          </p:cNvPicPr>
          <p:nvPr/>
        </p:nvPicPr>
        <p:blipFill>
          <a:blip r:embed="rId1"/>
          <a:stretch>
            <a:fillRect/>
          </a:stretch>
        </p:blipFill>
        <p:spPr>
          <a:xfrm>
            <a:off x="548640" y="1956816"/>
            <a:ext cx="7223760" cy="4063365"/>
          </a:xfrm>
          <a:prstGeom prst="rect">
            <a:avLst/>
          </a:prstGeom>
        </p:spPr>
      </p:pic>
      <p:sp>
        <p:nvSpPr>
          <p:cNvPr id="11" name="icon-bg"/>
          <p:cNvSpPr/>
          <p:nvPr/>
        </p:nvSpPr>
        <p:spPr>
          <a:xfrm>
            <a:off x="8138160" y="1828800"/>
            <a:ext cx="502920" cy="502920"/>
          </a:xfrm>
          <a:prstGeom prst="ellipse">
            <a:avLst/>
          </a:prstGeom>
          <a:solidFill>
            <a:schemeClr val="accent1"/>
          </a:solidFill>
          <a:ln/>
        </p:spPr>
      </p:sp>
      <p:pic>
        <p:nvPicPr>
          <p:cNvPr id="12" name="icon-FaDatabase" descr="preencoded.png">    </p:cNvPr>
          <p:cNvPicPr>
            <a:picLocks noChangeAspect="1"/>
          </p:cNvPicPr>
          <p:nvPr/>
        </p:nvPicPr>
        <p:blipFill>
          <a:blip r:embed="rId2"/>
          <a:stretch>
            <a:fillRect/>
          </a:stretch>
        </p:blipFill>
        <p:spPr>
          <a:xfrm>
            <a:off x="8273948" y="1964588"/>
            <a:ext cx="231343" cy="231343"/>
          </a:xfrm>
          <a:prstGeom prst="rect">
            <a:avLst/>
          </a:prstGeom>
        </p:spPr>
      </p:pic>
      <p:sp>
        <p:nvSpPr>
          <p:cNvPr id="13" name="Text 9"/>
          <p:cNvSpPr txBox="1"/>
          <p:nvPr/>
        </p:nvSpPr>
        <p:spPr>
          <a:xfrm>
            <a:off x="8778240" y="1828800"/>
            <a:ext cx="2834640" cy="365760"/>
          </a:xfrm>
          <a:prstGeom prst="rect">
            <a:avLst/>
          </a:prstGeom>
          <a:noFill/>
          <a:ln/>
        </p:spPr>
        <p:txBody>
          <a:bodyPr wrap="square" lIns="0" tIns="0" rIns="0" bIns="0" rtlCol="0" anchor="t"/>
          <a:lstStyle/>
          <a:p>
            <a:pPr indent="0" marL="0">
              <a:buNone/>
            </a:pPr>
            <a:r>
              <a:rPr lang="en-US" sz="1700" b="1" dirty="0">
                <a:solidFill>
                  <a:schemeClr val="tx2"/>
                </a:solidFill>
              </a:rPr>
              <a:t>Read with JDBC</a:t>
            </a:r>
            <a:endParaRPr lang="en-US" sz="1700" dirty="0"/>
          </a:p>
        </p:txBody>
      </p:sp>
      <p:sp>
        <p:nvSpPr>
          <p:cNvPr id="14" name="Text 10"/>
          <p:cNvSpPr txBox="1"/>
          <p:nvPr/>
        </p:nvSpPr>
        <p:spPr>
          <a:xfrm>
            <a:off x="8778240" y="2212848"/>
            <a:ext cx="2834640" cy="914400"/>
          </a:xfrm>
          <a:prstGeom prst="rect">
            <a:avLst/>
          </a:prstGeom>
          <a:noFill/>
          <a:ln/>
        </p:spPr>
        <p:txBody>
          <a:bodyPr wrap="square" lIns="0" tIns="0" rIns="0" bIns="0" rtlCol="0" anchor="t"/>
          <a:lstStyle/>
          <a:p>
            <a:pPr indent="0" marL="0">
              <a:buNone/>
            </a:pPr>
            <a:r>
              <a:rPr lang="en-US" sz="1400" dirty="0">
                <a:solidFill>
                  <a:schemeClr val="accent6"/>
                </a:solidFill>
              </a:rPr>
              <a:t>JdbcTransactionDao.findRecent() returns the latest 25 rows, newest first</a:t>
            </a:r>
            <a:endParaRPr lang="en-US" sz="1400" dirty="0"/>
          </a:p>
        </p:txBody>
      </p:sp>
      <p:sp>
        <p:nvSpPr>
          <p:cNvPr id="15" name="icon-bg"/>
          <p:cNvSpPr/>
          <p:nvPr/>
        </p:nvSpPr>
        <p:spPr>
          <a:xfrm>
            <a:off x="8138160" y="3291840"/>
            <a:ext cx="502920" cy="502920"/>
          </a:xfrm>
          <a:prstGeom prst="ellipse">
            <a:avLst/>
          </a:prstGeom>
          <a:solidFill>
            <a:schemeClr val="accent1"/>
          </a:solidFill>
          <a:ln/>
        </p:spPr>
      </p:sp>
      <p:pic>
        <p:nvPicPr>
          <p:cNvPr id="16" name="icon-FaLock" descr="preencoded.png">    </p:cNvPr>
          <p:cNvPicPr>
            <a:picLocks noChangeAspect="1"/>
          </p:cNvPicPr>
          <p:nvPr/>
        </p:nvPicPr>
        <p:blipFill>
          <a:blip r:embed="rId3"/>
          <a:stretch>
            <a:fillRect/>
          </a:stretch>
        </p:blipFill>
        <p:spPr>
          <a:xfrm>
            <a:off x="8273948" y="3427628"/>
            <a:ext cx="231343" cy="231343"/>
          </a:xfrm>
          <a:prstGeom prst="rect">
            <a:avLst/>
          </a:prstGeom>
        </p:spPr>
      </p:pic>
      <p:sp>
        <p:nvSpPr>
          <p:cNvPr id="17" name="Text 12"/>
          <p:cNvSpPr txBox="1"/>
          <p:nvPr/>
        </p:nvSpPr>
        <p:spPr>
          <a:xfrm>
            <a:off x="8778240" y="3291840"/>
            <a:ext cx="2834640" cy="365760"/>
          </a:xfrm>
          <a:prstGeom prst="rect">
            <a:avLst/>
          </a:prstGeom>
          <a:noFill/>
          <a:ln/>
        </p:spPr>
        <p:txBody>
          <a:bodyPr wrap="square" lIns="0" tIns="0" rIns="0" bIns="0" rtlCol="0" anchor="t"/>
          <a:lstStyle/>
          <a:p>
            <a:pPr indent="0" marL="0">
              <a:buNone/>
            </a:pPr>
            <a:r>
              <a:rPr lang="en-US" sz="1700" b="1" dirty="0">
                <a:solidFill>
                  <a:schemeClr val="tx2"/>
                </a:solidFill>
              </a:rPr>
              <a:t>Your accounts only</a:t>
            </a:r>
            <a:endParaRPr lang="en-US" sz="1700" dirty="0"/>
          </a:p>
        </p:txBody>
      </p:sp>
      <p:sp>
        <p:nvSpPr>
          <p:cNvPr id="18" name="Text 13"/>
          <p:cNvSpPr txBox="1"/>
          <p:nvPr/>
        </p:nvSpPr>
        <p:spPr>
          <a:xfrm>
            <a:off x="8778240" y="3675888"/>
            <a:ext cx="2834640" cy="914400"/>
          </a:xfrm>
          <a:prstGeom prst="rect">
            <a:avLst/>
          </a:prstGeom>
          <a:noFill/>
          <a:ln/>
        </p:spPr>
        <p:txBody>
          <a:bodyPr wrap="square" lIns="0" tIns="0" rIns="0" bIns="0" rtlCol="0" anchor="t"/>
          <a:lstStyle/>
          <a:p>
            <a:pPr indent="0" marL="0">
              <a:buNone/>
            </a:pPr>
            <a:r>
              <a:rPr lang="en-US" sz="1400" dirty="0">
                <a:solidFill>
                  <a:schemeClr val="accent6"/>
                </a:solidFill>
              </a:rPr>
              <a:t>WHERE id = ? AND user_id = ? means another customer's id gives 404</a:t>
            </a:r>
            <a:endParaRPr lang="en-US" sz="1400" dirty="0"/>
          </a:p>
        </p:txBody>
      </p:sp>
      <p:sp>
        <p:nvSpPr>
          <p:cNvPr id="19" name="icon-bg"/>
          <p:cNvSpPr/>
          <p:nvPr/>
        </p:nvSpPr>
        <p:spPr>
          <a:xfrm>
            <a:off x="8138160" y="4754880"/>
            <a:ext cx="502920" cy="502920"/>
          </a:xfrm>
          <a:prstGeom prst="ellipse">
            <a:avLst/>
          </a:prstGeom>
          <a:solidFill>
            <a:schemeClr val="accent1"/>
          </a:solidFill>
          <a:ln/>
        </p:spPr>
      </p:sp>
      <p:pic>
        <p:nvPicPr>
          <p:cNvPr id="20" name="icon-FaLayerGroup" descr="preencoded.png">    </p:cNvPr>
          <p:cNvPicPr>
            <a:picLocks noChangeAspect="1"/>
          </p:cNvPicPr>
          <p:nvPr/>
        </p:nvPicPr>
        <p:blipFill>
          <a:blip r:embed="rId4"/>
          <a:stretch>
            <a:fillRect/>
          </a:stretch>
        </p:blipFill>
        <p:spPr>
          <a:xfrm>
            <a:off x="8273948" y="4890668"/>
            <a:ext cx="231343" cy="231343"/>
          </a:xfrm>
          <a:prstGeom prst="rect">
            <a:avLst/>
          </a:prstGeom>
        </p:spPr>
      </p:pic>
      <p:sp>
        <p:nvSpPr>
          <p:cNvPr id="21" name="Text 15"/>
          <p:cNvSpPr txBox="1"/>
          <p:nvPr/>
        </p:nvSpPr>
        <p:spPr>
          <a:xfrm>
            <a:off x="8778240" y="4754880"/>
            <a:ext cx="2834640" cy="365760"/>
          </a:xfrm>
          <a:prstGeom prst="rect">
            <a:avLst/>
          </a:prstGeom>
          <a:noFill/>
          <a:ln/>
        </p:spPr>
        <p:txBody>
          <a:bodyPr wrap="square" lIns="0" tIns="0" rIns="0" bIns="0" rtlCol="0" anchor="t"/>
          <a:lstStyle/>
          <a:p>
            <a:pPr indent="0" marL="0">
              <a:buNone/>
            </a:pPr>
            <a:r>
              <a:rPr lang="en-US" sz="1700" b="1" dirty="0">
                <a:solidFill>
                  <a:schemeClr val="tx2"/>
                </a:solidFill>
              </a:rPr>
              <a:t>Rows become objects</a:t>
            </a:r>
            <a:endParaRPr lang="en-US" sz="1700" dirty="0"/>
          </a:p>
        </p:txBody>
      </p:sp>
      <p:sp>
        <p:nvSpPr>
          <p:cNvPr id="22" name="Text 16"/>
          <p:cNvSpPr txBox="1"/>
          <p:nvPr/>
        </p:nvSpPr>
        <p:spPr>
          <a:xfrm>
            <a:off x="8778240" y="5138928"/>
            <a:ext cx="2834640" cy="914400"/>
          </a:xfrm>
          <a:prstGeom prst="rect">
            <a:avLst/>
          </a:prstGeom>
          <a:noFill/>
          <a:ln/>
        </p:spPr>
        <p:txBody>
          <a:bodyPr wrap="square" lIns="0" tIns="0" rIns="0" bIns="0" rtlCol="0" anchor="t"/>
          <a:lstStyle/>
          <a:p>
            <a:pPr indent="0" marL="0">
              <a:buNone/>
            </a:pPr>
            <a:r>
              <a:rPr lang="en-US" sz="1400" dirty="0">
                <a:solidFill>
                  <a:schemeClr val="accent6"/>
                </a:solidFill>
              </a:rPr>
              <a:t>Each row is mapped to a TransactionRecord and formatted in ₹</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SERVLETS &amp; WEB INTEGRATION</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Servlets and URL mappings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Six HttpServlets, one filter and one listener, registered in Java instead of web.xml.</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7315200" cy="914400"/>
        </p:xfrm>
        <a:graphic>
          <a:graphicData uri="http://schemas.openxmlformats.org/drawingml/2006/table">
            <a:tbl>
              <a:tblPr/>
              <a:tblGrid>
                <a:gridCol w="2103120"/>
                <a:gridCol w="2103120"/>
                <a:gridCol w="3108960"/>
              </a:tblGrid>
              <a:tr h="475488">
                <a:tc>
                  <a:txBody>
                    <a:bodyPr/>
                    <a:lstStyle/>
                    <a:p>
                      <a:pPr indent="0" marL="0">
                        <a:buNone/>
                      </a:pPr>
                      <a:r>
                        <a:rPr lang="en-US" sz="1200" b="1" dirty="0">
                          <a:solidFill>
                            <a:schemeClr val="bg1"/>
                          </a:solidFill>
                        </a:rPr>
                        <a:t>URL</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Servlet</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tx2"/>
                    </a:solidFill>
                  </a:tcPr>
                </a:tc>
                <a:tc>
                  <a:txBody>
                    <a:bodyPr/>
                    <a:lstStyle/>
                    <a:p>
                      <a:pPr indent="0" marL="0">
                        <a:buNone/>
                      </a:pPr>
                      <a:r>
                        <a:rPr lang="en-US" sz="1200" b="1" dirty="0">
                          <a:solidFill>
                            <a:schemeClr val="bg1"/>
                          </a:solidFill>
                        </a:rPr>
                        <a:t>What it does</a:t>
                      </a:r>
                      <a:endParaRPr lang="en-US" sz="1200" dirty="0"/>
                    </a:p>
                  </a:txBody>
                  <a:tcPr marL="91440" marR="91440" marT="36576" marB="36576" anchor="ctr">
                    <a:lnL w="0" cap="flat" cmpd="sng" algn="ctr">
                      <a:noFill/>
                    </a:lnL>
                    <a:lnR w="0" cap="flat" cmpd="sng" algn="ctr">
                      <a:noFill/>
                    </a:lnR>
                    <a:lnT w="0" cap="flat" cmpd="sng" algn="ctr">
                      <a:noFill/>
                    </a:lnT>
                    <a:lnB w="0" cap="flat" cmpd="sng" algn="ctr">
                      <a:noFill/>
                    </a:lnB>
                    <a:solidFill>
                      <a:schemeClr val="tx2"/>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/portal/login</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LoginServlet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400" dirty="0">
                          <a:solidFill>
                            <a:schemeClr val="tx1"/>
                          </a:solidFill>
                        </a:rPr>
                        <a:t>GET form; POST creates the HttpSession</a:t>
                      </a:r>
                      <a:endParaRPr lang="en-US" sz="14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/portal/logout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LogoutServlet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POST invalidates the session</a:t>
                      </a:r>
                      <a:endParaRPr lang="en-US" sz="14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/portal/accounts</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AccountsServlet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400" dirty="0">
                          <a:solidFill>
                            <a:schemeClr val="tx1"/>
                          </a:solidFill>
                        </a:rPr>
                        <a:t>Accounts with polymorphic interest</a:t>
                      </a:r>
                      <a:endParaRPr lang="en-US" sz="14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/portal/statement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StatementServlet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Mini statement for ?accountId=</a:t>
                      </a:r>
                      <a:endParaRPr lang="en-US" sz="14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/portal/report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ReportServlet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c>
                  <a:txBody>
                    <a:bodyPr/>
                    <a:lstStyle/>
                    <a:p>
                      <a:pPr indent="0" marL="0">
                        <a:buNone/>
                      </a:pPr>
                      <a:r>
                        <a:rPr lang="en-US" sz="1400" dirty="0">
                          <a:solidFill>
                            <a:schemeClr val="tx1"/>
                          </a:solidFill>
                        </a:rPr>
                        <a:t>30-day report on worker threads</a:t>
                      </a:r>
                      <a:endParaRPr lang="en-US" sz="14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F1F5F9"/>
                    </a:solidFill>
                  </a:tcPr>
                </a:tc>
              </a:tr>
              <a:tr h="475488">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/portal/activity</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200" dirty="0">
                          <a:solidFill>
                            <a:schemeClr val="tx1"/>
                          </a:solidFill>
                          <a:latin typeface="Courier New" pitchFamily="34" charset="0"/>
                          <a:ea typeface="Courier New" pitchFamily="34" charset="-122"/>
                          <a:cs typeface="Courier New" pitchFamily="34" charset="-120"/>
                        </a:rPr>
                        <a:t>ActivityServlet</a:t>
                      </a:r>
                      <a:endParaRPr lang="en-US" sz="1200" dirty="0">
                        <a:latin typeface="Courier New" charset="0"/>
                        <a:ea typeface="Courier New" charset="0"/>
                        <a:cs typeface="Courier New" charset="0"/>
                      </a:endParaRPr>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400" dirty="0">
                          <a:solidFill>
                            <a:schemeClr val="tx1"/>
                          </a:solidFill>
                        </a:rPr>
                        <a:t>Audit log read back over JDBC</a:t>
                      </a:r>
                      <a:endParaRPr lang="en-US" sz="1400" dirty="0"/>
                    </a:p>
                  </a:txBody>
                  <a:tcPr marL="91440" marR="91440" marT="36576" marB="36576"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6" name="icon-bg"/>
          <p:cNvSpPr/>
          <p:nvPr/>
        </p:nvSpPr>
        <p:spPr>
          <a:xfrm>
            <a:off x="8229600" y="1783080"/>
            <a:ext cx="457200" cy="457200"/>
          </a:xfrm>
          <a:prstGeom prst="ellipse">
            <a:avLst/>
          </a:prstGeom>
          <a:solidFill>
            <a:schemeClr val="accent1"/>
          </a:solidFill>
          <a:ln/>
        </p:spPr>
      </p:sp>
      <p:pic>
        <p:nvPicPr>
          <p:cNvPr id="7" name="icon-FaFilter" descr="preencoded.png">    </p:cNvPr>
          <p:cNvPicPr>
            <a:picLocks noChangeAspect="1"/>
          </p:cNvPicPr>
          <p:nvPr/>
        </p:nvPicPr>
        <p:blipFill>
          <a:blip r:embed="rId1"/>
          <a:stretch>
            <a:fillRect/>
          </a:stretch>
        </p:blipFill>
        <p:spPr>
          <a:xfrm>
            <a:off x="8353044" y="1906524"/>
            <a:ext cx="210312" cy="210312"/>
          </a:xfrm>
          <a:prstGeom prst="rect">
            <a:avLst/>
          </a:prstGeom>
        </p:spPr>
      </p:pic>
      <p:sp>
        <p:nvSpPr>
          <p:cNvPr id="8" name="Text 4"/>
          <p:cNvSpPr txBox="1"/>
          <p:nvPr/>
        </p:nvSpPr>
        <p:spPr>
          <a:xfrm>
            <a:off x="8823960" y="1764792"/>
            <a:ext cx="2788920" cy="320040"/>
          </a:xfrm>
          <a:prstGeom prst="rect">
            <a:avLst/>
          </a:prstGeom>
          <a:noFill/>
          <a:ln/>
        </p:spPr>
        <p:txBody>
          <a:bodyPr wrap="square" lIns="0" tIns="0" rIns="0" bIns="0" rtlCol="0" anchor="t"/>
          <a:lstStyle/>
          <a:p>
            <a:pPr indent="0" marL="0">
              <a:buNone/>
            </a:pPr>
            <a:r>
              <a:rPr lang="en-US" sz="1600" b="1" dirty="0">
                <a:solidFill>
                  <a:schemeClr val="tx2"/>
                </a:solidFill>
              </a:rPr>
              <a:t>PortalAuthFilter</a:t>
            </a:r>
            <a:endParaRPr lang="en-US" sz="1600" dirty="0"/>
          </a:p>
        </p:txBody>
      </p:sp>
      <p:sp>
        <p:nvSpPr>
          <p:cNvPr id="9" name="Text 5"/>
          <p:cNvSpPr txBox="1"/>
          <p:nvPr/>
        </p:nvSpPr>
        <p:spPr>
          <a:xfrm>
            <a:off x="8823960" y="2084832"/>
            <a:ext cx="2788920" cy="731520"/>
          </a:xfrm>
          <a:prstGeom prst="rect">
            <a:avLst/>
          </a:prstGeom>
          <a:noFill/>
          <a:ln/>
        </p:spPr>
        <p:txBody>
          <a:bodyPr wrap="square" lIns="0" tIns="0" rIns="0" bIns="0" rtlCol="0" anchor="t"/>
          <a:lstStyle/>
          <a:p>
            <a:pPr indent="0" marL="0">
              <a:buNone/>
            </a:pPr>
            <a:r>
              <a:rPr lang="en-US" sz="1300" dirty="0">
                <a:solidFill>
                  <a:schemeClr val="accent6"/>
                </a:solidFill>
              </a:rPr>
              <a:t>Redirects to login when there is no session</a:t>
            </a:r>
            <a:endParaRPr lang="en-US" sz="1300" dirty="0"/>
          </a:p>
        </p:txBody>
      </p:sp>
      <p:sp>
        <p:nvSpPr>
          <p:cNvPr id="10" name="icon-bg"/>
          <p:cNvSpPr/>
          <p:nvPr/>
        </p:nvSpPr>
        <p:spPr>
          <a:xfrm>
            <a:off x="8229600" y="2880360"/>
            <a:ext cx="457200" cy="457200"/>
          </a:xfrm>
          <a:prstGeom prst="ellipse">
            <a:avLst/>
          </a:prstGeom>
          <a:solidFill>
            <a:schemeClr val="accent1"/>
          </a:solidFill>
          <a:ln/>
        </p:spPr>
      </p:sp>
      <p:pic>
        <p:nvPicPr>
          <p:cNvPr id="11" name="icon-FaGlobe" descr="preencoded.png">    </p:cNvPr>
          <p:cNvPicPr>
            <a:picLocks noChangeAspect="1"/>
          </p:cNvPicPr>
          <p:nvPr/>
        </p:nvPicPr>
        <p:blipFill>
          <a:blip r:embed="rId2"/>
          <a:stretch>
            <a:fillRect/>
          </a:stretch>
        </p:blipFill>
        <p:spPr>
          <a:xfrm>
            <a:off x="8353044" y="3003804"/>
            <a:ext cx="210312" cy="210312"/>
          </a:xfrm>
          <a:prstGeom prst="rect">
            <a:avLst/>
          </a:prstGeom>
        </p:spPr>
      </p:pic>
      <p:sp>
        <p:nvSpPr>
          <p:cNvPr id="12" name="Text 7"/>
          <p:cNvSpPr txBox="1"/>
          <p:nvPr/>
        </p:nvSpPr>
        <p:spPr>
          <a:xfrm>
            <a:off x="8823960" y="2862072"/>
            <a:ext cx="2788920" cy="320040"/>
          </a:xfrm>
          <a:prstGeom prst="rect">
            <a:avLst/>
          </a:prstGeom>
          <a:noFill/>
          <a:ln/>
        </p:spPr>
        <p:txBody>
          <a:bodyPr wrap="square" lIns="0" tIns="0" rIns="0" bIns="0" rtlCol="0" anchor="t"/>
          <a:lstStyle/>
          <a:p>
            <a:pPr indent="0" marL="0">
              <a:buNone/>
            </a:pPr>
            <a:r>
              <a:rPr lang="en-US" sz="1600" b="1" dirty="0">
                <a:solidFill>
                  <a:schemeClr val="tx2"/>
                </a:solidFill>
              </a:rPr>
              <a:t>Lifecycle listener</a:t>
            </a:r>
            <a:endParaRPr lang="en-US" sz="1600" dirty="0"/>
          </a:p>
        </p:txBody>
      </p:sp>
      <p:sp>
        <p:nvSpPr>
          <p:cNvPr id="13" name="Text 8"/>
          <p:cNvSpPr txBox="1"/>
          <p:nvPr/>
        </p:nvSpPr>
        <p:spPr>
          <a:xfrm>
            <a:off x="8823960" y="3182112"/>
            <a:ext cx="2788920" cy="731520"/>
          </a:xfrm>
          <a:prstGeom prst="rect">
            <a:avLst/>
          </a:prstGeom>
          <a:noFill/>
          <a:ln/>
        </p:spPr>
        <p:txBody>
          <a:bodyPr wrap="square" lIns="0" tIns="0" rIns="0" bIns="0" rtlCol="0" anchor="t"/>
          <a:lstStyle/>
          <a:p>
            <a:pPr indent="0" marL="0">
              <a:buNone/>
            </a:pPr>
            <a:r>
              <a:rPr lang="en-US" sz="1300" dirty="0">
                <a:solidFill>
                  <a:schemeClr val="accent6"/>
                </a:solidFill>
              </a:rPr>
              <a:t>ServletContextListener + HttpSessionListener count live sessions</a:t>
            </a:r>
            <a:endParaRPr lang="en-US" sz="1300" dirty="0"/>
          </a:p>
        </p:txBody>
      </p:sp>
      <p:sp>
        <p:nvSpPr>
          <p:cNvPr id="14" name="icon-bg"/>
          <p:cNvSpPr/>
          <p:nvPr/>
        </p:nvSpPr>
        <p:spPr>
          <a:xfrm>
            <a:off x="8229600" y="3977640"/>
            <a:ext cx="457200" cy="457200"/>
          </a:xfrm>
          <a:prstGeom prst="ellipse">
            <a:avLst/>
          </a:prstGeom>
          <a:solidFill>
            <a:schemeClr val="accent1"/>
          </a:solidFill>
          <a:ln/>
        </p:spPr>
      </p:sp>
      <p:pic>
        <p:nvPicPr>
          <p:cNvPr id="15" name="icon-FaLock" descr="preencoded.png">    </p:cNvPr>
          <p:cNvPicPr>
            <a:picLocks noChangeAspect="1"/>
          </p:cNvPicPr>
          <p:nvPr/>
        </p:nvPicPr>
        <p:blipFill>
          <a:blip r:embed="rId3"/>
          <a:stretch>
            <a:fillRect/>
          </a:stretch>
        </p:blipFill>
        <p:spPr>
          <a:xfrm>
            <a:off x="8353044" y="4101084"/>
            <a:ext cx="210312" cy="210312"/>
          </a:xfrm>
          <a:prstGeom prst="rect">
            <a:avLst/>
          </a:prstGeom>
        </p:spPr>
      </p:pic>
      <p:sp>
        <p:nvSpPr>
          <p:cNvPr id="16" name="Text 10"/>
          <p:cNvSpPr txBox="1"/>
          <p:nvPr/>
        </p:nvSpPr>
        <p:spPr>
          <a:xfrm>
            <a:off x="8823960" y="3959352"/>
            <a:ext cx="2788920" cy="320040"/>
          </a:xfrm>
          <a:prstGeom prst="rect">
            <a:avLst/>
          </a:prstGeom>
          <a:noFill/>
          <a:ln/>
        </p:spPr>
        <p:txBody>
          <a:bodyPr wrap="square" lIns="0" tIns="0" rIns="0" bIns="0" rtlCol="0" anchor="t"/>
          <a:lstStyle/>
          <a:p>
            <a:pPr indent="0" marL="0">
              <a:buNone/>
            </a:pPr>
            <a:r>
              <a:rPr lang="en-US" sz="1600" b="1" dirty="0">
                <a:solidFill>
                  <a:schemeClr val="tx2"/>
                </a:solidFill>
              </a:rPr>
              <a:t>Session security</a:t>
            </a:r>
            <a:endParaRPr lang="en-US" sz="1600" dirty="0"/>
          </a:p>
        </p:txBody>
      </p:sp>
      <p:sp>
        <p:nvSpPr>
          <p:cNvPr id="17" name="Text 11"/>
          <p:cNvSpPr txBox="1"/>
          <p:nvPr/>
        </p:nvSpPr>
        <p:spPr>
          <a:xfrm>
            <a:off x="8823960" y="4279392"/>
            <a:ext cx="2788920" cy="731520"/>
          </a:xfrm>
          <a:prstGeom prst="rect">
            <a:avLst/>
          </a:prstGeom>
          <a:noFill/>
          <a:ln/>
        </p:spPr>
        <p:txBody>
          <a:bodyPr wrap="square" lIns="0" tIns="0" rIns="0" bIns="0" rtlCol="0" anchor="t"/>
          <a:lstStyle/>
          <a:p>
            <a:pPr indent="0" marL="0">
              <a:buNone/>
            </a:pPr>
            <a:r>
              <a:rPr lang="en-US" sz="1300" dirty="0">
                <a:solidFill>
                  <a:schemeClr val="accent6"/>
                </a:solidFill>
              </a:rPr>
              <a:t>New session at login, 15-minute timeout, HttpOnly and SameSite cookie</a:t>
            </a:r>
            <a:endParaRPr lang="en-US" sz="1300" dirty="0"/>
          </a:p>
        </p:txBody>
      </p:sp>
      <p:sp>
        <p:nvSpPr>
          <p:cNvPr id="18" name="icon-bg"/>
          <p:cNvSpPr/>
          <p:nvPr/>
        </p:nvSpPr>
        <p:spPr>
          <a:xfrm>
            <a:off x="8229600" y="5074920"/>
            <a:ext cx="457200" cy="457200"/>
          </a:xfrm>
          <a:prstGeom prst="ellipse">
            <a:avLst/>
          </a:prstGeom>
          <a:solidFill>
            <a:schemeClr val="accent1"/>
          </a:solidFill>
          <a:ln/>
        </p:spPr>
      </p:sp>
      <p:pic>
        <p:nvPicPr>
          <p:cNvPr id="19" name="icon-FaGears" descr="preencoded.png">    </p:cNvPr>
          <p:cNvPicPr>
            <a:picLocks noChangeAspect="1"/>
          </p:cNvPicPr>
          <p:nvPr/>
        </p:nvPicPr>
        <p:blipFill>
          <a:blip r:embed="rId4"/>
          <a:stretch>
            <a:fillRect/>
          </a:stretch>
        </p:blipFill>
        <p:spPr>
          <a:xfrm>
            <a:off x="8353044" y="5198364"/>
            <a:ext cx="210312" cy="210312"/>
          </a:xfrm>
          <a:prstGeom prst="rect">
            <a:avLst/>
          </a:prstGeom>
        </p:spPr>
      </p:pic>
      <p:sp>
        <p:nvSpPr>
          <p:cNvPr id="20" name="Text 13"/>
          <p:cNvSpPr txBox="1"/>
          <p:nvPr/>
        </p:nvSpPr>
        <p:spPr>
          <a:xfrm>
            <a:off x="8823960" y="5056632"/>
            <a:ext cx="2788920" cy="320040"/>
          </a:xfrm>
          <a:prstGeom prst="rect">
            <a:avLst/>
          </a:prstGeom>
          <a:noFill/>
          <a:ln/>
        </p:spPr>
        <p:txBody>
          <a:bodyPr wrap="square" lIns="0" tIns="0" rIns="0" bIns="0" rtlCol="0" anchor="t"/>
          <a:lstStyle/>
          <a:p>
            <a:pPr indent="0" marL="0">
              <a:buNone/>
            </a:pPr>
            <a:r>
              <a:rPr lang="en-US" sz="1600" b="1" dirty="0">
                <a:solidFill>
                  <a:schemeClr val="tx2"/>
                </a:solidFill>
              </a:rPr>
              <a:t>PortalWebConfig</a:t>
            </a:r>
            <a:endParaRPr lang="en-US" sz="1600" dirty="0"/>
          </a:p>
        </p:txBody>
      </p:sp>
      <p:sp>
        <p:nvSpPr>
          <p:cNvPr id="21" name="Text 14"/>
          <p:cNvSpPr txBox="1"/>
          <p:nvPr/>
        </p:nvSpPr>
        <p:spPr>
          <a:xfrm>
            <a:off x="8823960" y="5376672"/>
            <a:ext cx="2788920" cy="731520"/>
          </a:xfrm>
          <a:prstGeom prst="rect">
            <a:avLst/>
          </a:prstGeom>
          <a:noFill/>
          <a:ln/>
        </p:spPr>
        <p:txBody>
          <a:bodyPr wrap="square" lIns="0" tIns="0" rIns="0" bIns="0" rtlCol="0" anchor="t"/>
          <a:lstStyle/>
          <a:p>
            <a:pPr indent="0" marL="0">
              <a:buNone/>
            </a:pPr>
            <a:r>
              <a:rPr lang="en-US" sz="1300" dirty="0">
                <a:solidFill>
                  <a:schemeClr val="accent6"/>
                </a:solidFill>
              </a:rPr>
              <a:t>Registers servlets, filter and listener, like web.xml</a:t>
            </a:r>
            <a:endParaRPr lang="en-US" sz="1300" dirty="0"/>
          </a:p>
        </p:txBody>
      </p:sp>
      <p:sp>
        <p:nvSpPr>
          <p:cNvPr id="22" name="card"/>
          <p:cNvSpPr/>
          <p:nvPr/>
        </p:nvSpPr>
        <p:spPr>
          <a:xfrm>
            <a:off x="548640" y="5349240"/>
            <a:ext cx="7315200" cy="822960"/>
          </a:xfrm>
          <a:prstGeom prst="roundRect">
            <a:avLst>
              <a:gd name="adj" fmla="val 8889"/>
            </a:avLst>
          </a:prstGeom>
          <a:solidFill>
            <a:srgbClr val="EFF6FF"/>
          </a:solidFill>
          <a:ln/>
        </p:spPr>
      </p:sp>
      <p:sp>
        <p:nvSpPr>
          <p:cNvPr id="23" name="Text 16"/>
          <p:cNvSpPr txBox="1"/>
          <p:nvPr/>
        </p:nvSpPr>
        <p:spPr>
          <a:xfrm>
            <a:off x="777240" y="5486400"/>
            <a:ext cx="6858000" cy="594360"/>
          </a:xfrm>
          <a:prstGeom prst="rect">
            <a:avLst/>
          </a:prstGeom>
          <a:noFill/>
          <a:ln/>
        </p:spPr>
        <p:txBody>
          <a:bodyPr wrap="square" lIns="0" tIns="0" rIns="0" bIns="0" rtlCol="0" anchor="t"/>
          <a:lstStyle/>
          <a:p>
            <a:pPr indent="0" marL="0">
              <a:buNone/>
            </a:pPr>
            <a:r>
              <a:rPr lang="en-US" sz="1400" b="1" dirty="0">
                <a:solidFill>
                  <a:schemeClr val="accent1"/>
                </a:solidFill>
              </a:rPr>
              <a:t>Template method:  </a:t>
            </a:r>
            <a:pPr indent="0" marL="0">
              <a:buNone/>
            </a:pPr>
            <a:r>
              <a:rPr lang="en-US" sz="1400" dirty="0">
                <a:solidFill>
                  <a:schemeClr val="tx1"/>
                </a:solidFill>
              </a:rPr>
              <a:t>PortalServlet.doGet() is final and handles session, errors and auditing; each page only implements render().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SERVLETS  |  LIVE SCREENS</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The servlet portal in action</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Real pages served by plain Java servlets over JDBC.</a:t>
            </a:r>
            <a:endParaRPr lang="en-US" sz="1600" dirty="0"/>
          </a:p>
        </p:txBody>
      </p:sp>
      <p:sp>
        <p:nvSpPr>
          <p:cNvPr id="5" name="portal-accounts-window"/>
          <p:cNvSpPr/>
          <p:nvPr/>
        </p:nvSpPr>
        <p:spPr>
          <a:xfrm>
            <a:off x="548640" y="1783080"/>
            <a:ext cx="5440680" cy="2316385"/>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783080"/>
            <a:ext cx="5440680" cy="219456"/>
          </a:xfrm>
          <a:prstGeom prst="rect">
            <a:avLst/>
          </a:prstGeom>
          <a:solidFill>
            <a:srgbClr val="E2E8F0"/>
          </a:solidFill>
          <a:ln/>
        </p:spPr>
      </p:sp>
      <p:sp>
        <p:nvSpPr>
          <p:cNvPr id="7" name="Shape 5"/>
          <p:cNvSpPr/>
          <p:nvPr/>
        </p:nvSpPr>
        <p:spPr>
          <a:xfrm>
            <a:off x="640080" y="1851660"/>
            <a:ext cx="82296" cy="82296"/>
          </a:xfrm>
          <a:prstGeom prst="ellipse">
            <a:avLst/>
          </a:prstGeom>
          <a:solidFill>
            <a:srgbClr val="F87171"/>
          </a:solidFill>
          <a:ln/>
        </p:spPr>
      </p:sp>
      <p:sp>
        <p:nvSpPr>
          <p:cNvPr id="8" name="Shape 6"/>
          <p:cNvSpPr/>
          <p:nvPr/>
        </p:nvSpPr>
        <p:spPr>
          <a:xfrm>
            <a:off x="777240" y="1851660"/>
            <a:ext cx="82296" cy="82296"/>
          </a:xfrm>
          <a:prstGeom prst="ellipse">
            <a:avLst/>
          </a:prstGeom>
          <a:solidFill>
            <a:srgbClr val="FBBF24"/>
          </a:solidFill>
          <a:ln/>
        </p:spPr>
      </p:sp>
      <p:sp>
        <p:nvSpPr>
          <p:cNvPr id="9" name="Shape 7"/>
          <p:cNvSpPr/>
          <p:nvPr/>
        </p:nvSpPr>
        <p:spPr>
          <a:xfrm>
            <a:off x="914400" y="1851660"/>
            <a:ext cx="82296" cy="82296"/>
          </a:xfrm>
          <a:prstGeom prst="ellipse">
            <a:avLst/>
          </a:prstGeom>
          <a:solidFill>
            <a:srgbClr val="34D399"/>
          </a:solidFill>
          <a:ln/>
        </p:spPr>
      </p:sp>
      <p:pic>
        <p:nvPicPr>
          <p:cNvPr id="10" name="portal-accounts" descr="portal-accounts">    </p:cNvPr>
          <p:cNvPicPr>
            <a:picLocks noChangeAspect="1"/>
          </p:cNvPicPr>
          <p:nvPr/>
        </p:nvPicPr>
        <p:blipFill>
          <a:blip r:embed="rId1"/>
          <a:stretch>
            <a:fillRect/>
          </a:stretch>
        </p:blipFill>
        <p:spPr>
          <a:xfrm>
            <a:off x="548640" y="2002536"/>
            <a:ext cx="5440680" cy="2096929"/>
          </a:xfrm>
          <a:prstGeom prst="rect">
            <a:avLst/>
          </a:prstGeom>
        </p:spPr>
      </p:pic>
      <p:sp>
        <p:nvSpPr>
          <p:cNvPr id="11" name="portal-activity-window"/>
          <p:cNvSpPr/>
          <p:nvPr/>
        </p:nvSpPr>
        <p:spPr>
          <a:xfrm>
            <a:off x="6172200" y="1783080"/>
            <a:ext cx="5440680" cy="1976342"/>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12" name="Shape 9"/>
          <p:cNvSpPr/>
          <p:nvPr/>
        </p:nvSpPr>
        <p:spPr>
          <a:xfrm>
            <a:off x="6172200" y="1783080"/>
            <a:ext cx="5440680" cy="219456"/>
          </a:xfrm>
          <a:prstGeom prst="rect">
            <a:avLst/>
          </a:prstGeom>
          <a:solidFill>
            <a:srgbClr val="E2E8F0"/>
          </a:solidFill>
          <a:ln/>
        </p:spPr>
      </p:sp>
      <p:sp>
        <p:nvSpPr>
          <p:cNvPr id="13" name="Shape 10"/>
          <p:cNvSpPr/>
          <p:nvPr/>
        </p:nvSpPr>
        <p:spPr>
          <a:xfrm>
            <a:off x="6263640" y="1851660"/>
            <a:ext cx="82296" cy="82296"/>
          </a:xfrm>
          <a:prstGeom prst="ellipse">
            <a:avLst/>
          </a:prstGeom>
          <a:solidFill>
            <a:srgbClr val="F87171"/>
          </a:solidFill>
          <a:ln/>
        </p:spPr>
      </p:sp>
      <p:sp>
        <p:nvSpPr>
          <p:cNvPr id="14" name="Shape 11"/>
          <p:cNvSpPr/>
          <p:nvPr/>
        </p:nvSpPr>
        <p:spPr>
          <a:xfrm>
            <a:off x="6400800" y="1851660"/>
            <a:ext cx="82296" cy="82296"/>
          </a:xfrm>
          <a:prstGeom prst="ellipse">
            <a:avLst/>
          </a:prstGeom>
          <a:solidFill>
            <a:srgbClr val="FBBF24"/>
          </a:solidFill>
          <a:ln/>
        </p:spPr>
      </p:sp>
      <p:sp>
        <p:nvSpPr>
          <p:cNvPr id="15" name="Shape 12"/>
          <p:cNvSpPr/>
          <p:nvPr/>
        </p:nvSpPr>
        <p:spPr>
          <a:xfrm>
            <a:off x="6537960" y="1851660"/>
            <a:ext cx="82296" cy="82296"/>
          </a:xfrm>
          <a:prstGeom prst="ellipse">
            <a:avLst/>
          </a:prstGeom>
          <a:solidFill>
            <a:srgbClr val="34D399"/>
          </a:solidFill>
          <a:ln/>
        </p:spPr>
      </p:sp>
      <p:pic>
        <p:nvPicPr>
          <p:cNvPr id="16" name="portal-activity" descr="portal-activity">    </p:cNvPr>
          <p:cNvPicPr>
            <a:picLocks noChangeAspect="1"/>
          </p:cNvPicPr>
          <p:nvPr/>
        </p:nvPicPr>
        <p:blipFill>
          <a:blip r:embed="rId2"/>
          <a:stretch>
            <a:fillRect/>
          </a:stretch>
        </p:blipFill>
        <p:spPr>
          <a:xfrm>
            <a:off x="6172200" y="2002536"/>
            <a:ext cx="5440680" cy="1756886"/>
          </a:xfrm>
          <a:prstGeom prst="rect">
            <a:avLst/>
          </a:prstGeom>
        </p:spPr>
      </p:pic>
      <p:sp>
        <p:nvSpPr>
          <p:cNvPr id="17" name="Text 13"/>
          <p:cNvSpPr txBox="1"/>
          <p:nvPr/>
        </p:nvSpPr>
        <p:spPr>
          <a:xfrm>
            <a:off x="548640" y="4190905"/>
            <a:ext cx="5440680" cy="274320"/>
          </a:xfrm>
          <a:prstGeom prst="rect">
            <a:avLst/>
          </a:prstGeom>
          <a:noFill/>
          <a:ln/>
        </p:spPr>
        <p:txBody>
          <a:bodyPr wrap="square" lIns="0" tIns="0" rIns="0" bIns="0" rtlCol="0" anchor="t"/>
          <a:lstStyle/>
          <a:p>
            <a:pPr algn="l" indent="0" marL="0">
              <a:buNone/>
            </a:pPr>
            <a:r>
              <a:rPr lang="en-US" sz="1200" dirty="0">
                <a:solidFill>
                  <a:schemeClr val="accent6"/>
                </a:solidFill>
              </a:rPr>
              <a:t>Accounts: product name and interest come from each subclass</a:t>
            </a:r>
            <a:endParaRPr lang="en-US" sz="1200" dirty="0"/>
          </a:p>
        </p:txBody>
      </p:sp>
      <p:sp>
        <p:nvSpPr>
          <p:cNvPr id="18" name="Text 14"/>
          <p:cNvSpPr txBox="1"/>
          <p:nvPr/>
        </p:nvSpPr>
        <p:spPr>
          <a:xfrm>
            <a:off x="6172200" y="4190905"/>
            <a:ext cx="5440680" cy="274320"/>
          </a:xfrm>
          <a:prstGeom prst="rect">
            <a:avLst/>
          </a:prstGeom>
          <a:noFill/>
          <a:ln/>
        </p:spPr>
        <p:txBody>
          <a:bodyPr wrap="square" lIns="0" tIns="0" rIns="0" bIns="0" rtlCol="0" anchor="t"/>
          <a:lstStyle/>
          <a:p>
            <a:pPr algn="l" indent="0" marL="0">
              <a:buNone/>
            </a:pPr>
            <a:r>
              <a:rPr lang="en-US" sz="1200" dirty="0">
                <a:solidFill>
                  <a:schemeClr val="accent6"/>
                </a:solidFill>
              </a:rPr>
              <a:t>Activity: written by the background thread in JDBC batches</a:t>
            </a:r>
            <a:endParaRPr lang="en-US" sz="1200" dirty="0"/>
          </a:p>
        </p:txBody>
      </p:sp>
      <p:sp>
        <p:nvSpPr>
          <p:cNvPr id="19" name="card"/>
          <p:cNvSpPr/>
          <p:nvPr/>
        </p:nvSpPr>
        <p:spPr>
          <a:xfrm>
            <a:off x="548640" y="4572000"/>
            <a:ext cx="11064240" cy="1600200"/>
          </a:xfrm>
          <a:prstGeom prst="roundRect">
            <a:avLst>
              <a:gd name="adj" fmla="val 4571"/>
            </a:avLst>
          </a:prstGeom>
          <a:solidFill>
            <a:schemeClr val="bg2"/>
          </a:solidFill>
          <a:ln/>
        </p:spPr>
      </p:sp>
      <p:sp>
        <p:nvSpPr>
          <p:cNvPr id="20" name="Text 16"/>
          <p:cNvSpPr txBox="1"/>
          <p:nvPr/>
        </p:nvSpPr>
        <p:spPr>
          <a:xfrm>
            <a:off x="822960" y="4709160"/>
            <a:ext cx="2743200" cy="274320"/>
          </a:xfrm>
          <a:prstGeom prst="rect">
            <a:avLst/>
          </a:prstGeom>
          <a:noFill/>
          <a:ln/>
        </p:spPr>
        <p:txBody>
          <a:bodyPr wrap="square" lIns="0" tIns="0" rIns="0" bIns="0" rtlCol="0" anchor="t"/>
          <a:lstStyle/>
          <a:p>
            <a:pPr indent="0" marL="0">
              <a:buNone/>
            </a:pPr>
            <a:r>
              <a:rPr lang="en-US" sz="1200" b="1" spc="200" kern="0" dirty="0">
                <a:solidFill>
                  <a:schemeClr val="accent6"/>
                </a:solidFill>
              </a:rPr>
              <a:t>DEMO PATH</a:t>
            </a:r>
            <a:endParaRPr lang="en-US" sz="1200" dirty="0"/>
          </a:p>
        </p:txBody>
      </p:sp>
      <p:sp>
        <p:nvSpPr>
          <p:cNvPr id="21" name="Text 17"/>
          <p:cNvSpPr txBox="1"/>
          <p:nvPr/>
        </p:nvSpPr>
        <p:spPr>
          <a:xfrm>
            <a:off x="822960" y="5120640"/>
            <a:ext cx="457200" cy="457200"/>
          </a:xfrm>
          <a:prstGeom prst="roundRect">
            <a:avLst>
              <a:gd name="adj" fmla="val 16000"/>
            </a:avLst>
          </a:prstGeom>
          <a:solidFill>
            <a:schemeClr val="accent1"/>
          </a:solidFill>
          <a:ln/>
        </p:spPr>
        <p:txBody>
          <a:bodyPr wrap="square" lIns="76200" tIns="76200" rIns="76200" bIns="76200" rtlCol="0" anchor="ctr"/>
          <a:lstStyle/>
          <a:p>
            <a:pPr algn="ctr" indent="0" marL="0">
              <a:buNone/>
            </a:pPr>
            <a:r>
              <a:rPr lang="en-US" sz="1600" b="1" dirty="0">
                <a:solidFill>
                  <a:schemeClr val="bg1"/>
                </a:solidFill>
              </a:rPr>
              <a:t>1</a:t>
            </a:r>
            <a:endParaRPr lang="en-US" sz="1600" dirty="0"/>
          </a:p>
        </p:txBody>
      </p:sp>
      <p:sp>
        <p:nvSpPr>
          <p:cNvPr id="22" name="Text 18"/>
          <p:cNvSpPr txBox="1"/>
          <p:nvPr/>
        </p:nvSpPr>
        <p:spPr>
          <a:xfrm>
            <a:off x="1417320" y="5093208"/>
            <a:ext cx="1554480" cy="320040"/>
          </a:xfrm>
          <a:prstGeom prst="rect">
            <a:avLst/>
          </a:prstGeom>
          <a:noFill/>
          <a:ln/>
        </p:spPr>
        <p:txBody>
          <a:bodyPr wrap="square" lIns="0" tIns="0" rIns="0" bIns="0" rtlCol="0" anchor="t"/>
          <a:lstStyle/>
          <a:p>
            <a:pPr indent="0" marL="0">
              <a:buNone/>
            </a:pPr>
            <a:r>
              <a:rPr lang="en-US" sz="1500" b="1" dirty="0">
                <a:solidFill>
                  <a:schemeClr val="tx2"/>
                </a:solidFill>
              </a:rPr>
              <a:t>Sign in</a:t>
            </a:r>
            <a:endParaRPr lang="en-US" sz="1500" dirty="0"/>
          </a:p>
        </p:txBody>
      </p:sp>
      <p:sp>
        <p:nvSpPr>
          <p:cNvPr id="23" name="Text 19"/>
          <p:cNvSpPr txBox="1"/>
          <p:nvPr/>
        </p:nvSpPr>
        <p:spPr>
          <a:xfrm>
            <a:off x="1417320" y="5413248"/>
            <a:ext cx="1554480" cy="320040"/>
          </a:xfrm>
          <a:prstGeom prst="rect">
            <a:avLst/>
          </a:prstGeom>
          <a:noFill/>
          <a:ln/>
        </p:spPr>
        <p:txBody>
          <a:bodyPr wrap="square" lIns="0" tIns="0" rIns="0" bIns="0" rtlCol="0" anchor="t"/>
          <a:lstStyle/>
          <a:p>
            <a:pPr indent="0" marL="0">
              <a:buNone/>
            </a:pPr>
            <a:r>
              <a:rPr lang="en-US" sz="1200" dirty="0">
                <a:solidFill>
                  <a:schemeClr val="accent6"/>
                </a:solidFill>
              </a:rPr>
              <a:t>session created</a:t>
            </a:r>
            <a:endParaRPr lang="en-US" sz="1200" dirty="0"/>
          </a:p>
        </p:txBody>
      </p:sp>
      <p:sp>
        <p:nvSpPr>
          <p:cNvPr id="24" name="Text 20"/>
          <p:cNvSpPr txBox="1"/>
          <p:nvPr/>
        </p:nvSpPr>
        <p:spPr>
          <a:xfrm>
            <a:off x="3017520" y="5120640"/>
            <a:ext cx="457200" cy="457200"/>
          </a:xfrm>
          <a:prstGeom prst="roundRect">
            <a:avLst>
              <a:gd name="adj" fmla="val 16000"/>
            </a:avLst>
          </a:prstGeom>
          <a:solidFill>
            <a:schemeClr val="accent1"/>
          </a:solidFill>
          <a:ln/>
        </p:spPr>
        <p:txBody>
          <a:bodyPr wrap="square" lIns="76200" tIns="76200" rIns="76200" bIns="76200" rtlCol="0" anchor="ctr"/>
          <a:lstStyle/>
          <a:p>
            <a:pPr algn="ctr" indent="0" marL="0">
              <a:buNone/>
            </a:pPr>
            <a:r>
              <a:rPr lang="en-US" sz="1600" b="1" dirty="0">
                <a:solidFill>
                  <a:schemeClr val="bg1"/>
                </a:solidFill>
              </a:rPr>
              <a:t>2</a:t>
            </a:r>
            <a:endParaRPr lang="en-US" sz="1600" dirty="0"/>
          </a:p>
        </p:txBody>
      </p:sp>
      <p:sp>
        <p:nvSpPr>
          <p:cNvPr id="25" name="Text 21"/>
          <p:cNvSpPr txBox="1"/>
          <p:nvPr/>
        </p:nvSpPr>
        <p:spPr>
          <a:xfrm>
            <a:off x="3611880" y="5093208"/>
            <a:ext cx="1554480" cy="320040"/>
          </a:xfrm>
          <a:prstGeom prst="rect">
            <a:avLst/>
          </a:prstGeom>
          <a:noFill/>
          <a:ln/>
        </p:spPr>
        <p:txBody>
          <a:bodyPr wrap="square" lIns="0" tIns="0" rIns="0" bIns="0" rtlCol="0" anchor="t"/>
          <a:lstStyle/>
          <a:p>
            <a:pPr indent="0" marL="0">
              <a:buNone/>
            </a:pPr>
            <a:r>
              <a:rPr lang="en-US" sz="1500" b="1" dirty="0">
                <a:solidFill>
                  <a:schemeClr val="tx2"/>
                </a:solidFill>
              </a:rPr>
              <a:t>Accounts</a:t>
            </a:r>
            <a:endParaRPr lang="en-US" sz="1500" dirty="0"/>
          </a:p>
        </p:txBody>
      </p:sp>
      <p:sp>
        <p:nvSpPr>
          <p:cNvPr id="26" name="Text 22"/>
          <p:cNvSpPr txBox="1"/>
          <p:nvPr/>
        </p:nvSpPr>
        <p:spPr>
          <a:xfrm>
            <a:off x="3611880" y="5413248"/>
            <a:ext cx="1554480" cy="320040"/>
          </a:xfrm>
          <a:prstGeom prst="rect">
            <a:avLst/>
          </a:prstGeom>
          <a:noFill/>
          <a:ln/>
        </p:spPr>
        <p:txBody>
          <a:bodyPr wrap="square" lIns="0" tIns="0" rIns="0" bIns="0" rtlCol="0" anchor="t"/>
          <a:lstStyle/>
          <a:p>
            <a:pPr indent="0" marL="0">
              <a:buNone/>
            </a:pPr>
            <a:r>
              <a:rPr lang="en-US" sz="1200" dirty="0">
                <a:solidFill>
                  <a:schemeClr val="accent6"/>
                </a:solidFill>
              </a:rPr>
              <a:t>polymorphism</a:t>
            </a:r>
            <a:endParaRPr lang="en-US" sz="1200" dirty="0"/>
          </a:p>
        </p:txBody>
      </p:sp>
      <p:sp>
        <p:nvSpPr>
          <p:cNvPr id="27" name="Text 23"/>
          <p:cNvSpPr txBox="1"/>
          <p:nvPr/>
        </p:nvSpPr>
        <p:spPr>
          <a:xfrm>
            <a:off x="5212080" y="5120640"/>
            <a:ext cx="457200" cy="457200"/>
          </a:xfrm>
          <a:prstGeom prst="roundRect">
            <a:avLst>
              <a:gd name="adj" fmla="val 16000"/>
            </a:avLst>
          </a:prstGeom>
          <a:solidFill>
            <a:schemeClr val="accent1"/>
          </a:solidFill>
          <a:ln/>
        </p:spPr>
        <p:txBody>
          <a:bodyPr wrap="square" lIns="76200" tIns="76200" rIns="76200" bIns="76200" rtlCol="0" anchor="ctr"/>
          <a:lstStyle/>
          <a:p>
            <a:pPr algn="ctr" indent="0" marL="0">
              <a:buNone/>
            </a:pPr>
            <a:r>
              <a:rPr lang="en-US" sz="1600" b="1" dirty="0">
                <a:solidFill>
                  <a:schemeClr val="bg1"/>
                </a:solidFill>
              </a:rPr>
              <a:t>3</a:t>
            </a:r>
            <a:endParaRPr lang="en-US" sz="1600" dirty="0"/>
          </a:p>
        </p:txBody>
      </p:sp>
      <p:sp>
        <p:nvSpPr>
          <p:cNvPr id="28" name="Text 24"/>
          <p:cNvSpPr txBox="1"/>
          <p:nvPr/>
        </p:nvSpPr>
        <p:spPr>
          <a:xfrm>
            <a:off x="5806440" y="5093208"/>
            <a:ext cx="1554480" cy="320040"/>
          </a:xfrm>
          <a:prstGeom prst="rect">
            <a:avLst/>
          </a:prstGeom>
          <a:noFill/>
          <a:ln/>
        </p:spPr>
        <p:txBody>
          <a:bodyPr wrap="square" lIns="0" tIns="0" rIns="0" bIns="0" rtlCol="0" anchor="t"/>
          <a:lstStyle/>
          <a:p>
            <a:pPr indent="0" marL="0">
              <a:buNone/>
            </a:pPr>
            <a:r>
              <a:rPr lang="en-US" sz="1500" b="1" dirty="0">
                <a:solidFill>
                  <a:schemeClr val="tx2"/>
                </a:solidFill>
              </a:rPr>
              <a:t>Mini statement</a:t>
            </a:r>
            <a:endParaRPr lang="en-US" sz="1500" dirty="0"/>
          </a:p>
        </p:txBody>
      </p:sp>
      <p:sp>
        <p:nvSpPr>
          <p:cNvPr id="29" name="Text 25"/>
          <p:cNvSpPr txBox="1"/>
          <p:nvPr/>
        </p:nvSpPr>
        <p:spPr>
          <a:xfrm>
            <a:off x="5806440" y="5413248"/>
            <a:ext cx="1554480" cy="320040"/>
          </a:xfrm>
          <a:prstGeom prst="rect">
            <a:avLst/>
          </a:prstGeom>
          <a:noFill/>
          <a:ln/>
        </p:spPr>
        <p:txBody>
          <a:bodyPr wrap="square" lIns="0" tIns="0" rIns="0" bIns="0" rtlCol="0" anchor="t"/>
          <a:lstStyle/>
          <a:p>
            <a:pPr indent="0" marL="0">
              <a:buNone/>
            </a:pPr>
            <a:r>
              <a:rPr lang="en-US" sz="1200" dirty="0">
                <a:solidFill>
                  <a:schemeClr val="accent6"/>
                </a:solidFill>
              </a:rPr>
              <a:t>JDBC reads</a:t>
            </a:r>
            <a:endParaRPr lang="en-US" sz="1200" dirty="0"/>
          </a:p>
        </p:txBody>
      </p:sp>
      <p:sp>
        <p:nvSpPr>
          <p:cNvPr id="30" name="Text 26"/>
          <p:cNvSpPr txBox="1"/>
          <p:nvPr/>
        </p:nvSpPr>
        <p:spPr>
          <a:xfrm>
            <a:off x="7406640" y="5120640"/>
            <a:ext cx="457200" cy="457200"/>
          </a:xfrm>
          <a:prstGeom prst="roundRect">
            <a:avLst>
              <a:gd name="adj" fmla="val 16000"/>
            </a:avLst>
          </a:prstGeom>
          <a:solidFill>
            <a:schemeClr val="accent1"/>
          </a:solidFill>
          <a:ln/>
        </p:spPr>
        <p:txBody>
          <a:bodyPr wrap="square" lIns="76200" tIns="76200" rIns="76200" bIns="76200" rtlCol="0" anchor="ctr"/>
          <a:lstStyle/>
          <a:p>
            <a:pPr algn="ctr" indent="0" marL="0">
              <a:buNone/>
            </a:pPr>
            <a:r>
              <a:rPr lang="en-US" sz="1600" b="1" dirty="0">
                <a:solidFill>
                  <a:schemeClr val="bg1"/>
                </a:solidFill>
              </a:rPr>
              <a:t>4</a:t>
            </a:r>
            <a:endParaRPr lang="en-US" sz="1600" dirty="0"/>
          </a:p>
        </p:txBody>
      </p:sp>
      <p:sp>
        <p:nvSpPr>
          <p:cNvPr id="31" name="Text 27"/>
          <p:cNvSpPr txBox="1"/>
          <p:nvPr/>
        </p:nvSpPr>
        <p:spPr>
          <a:xfrm>
            <a:off x="8001000" y="5093208"/>
            <a:ext cx="1554480" cy="320040"/>
          </a:xfrm>
          <a:prstGeom prst="rect">
            <a:avLst/>
          </a:prstGeom>
          <a:noFill/>
          <a:ln/>
        </p:spPr>
        <p:txBody>
          <a:bodyPr wrap="square" lIns="0" tIns="0" rIns="0" bIns="0" rtlCol="0" anchor="t"/>
          <a:lstStyle/>
          <a:p>
            <a:pPr indent="0" marL="0">
              <a:buNone/>
            </a:pPr>
            <a:r>
              <a:rPr lang="en-US" sz="1500" b="1" dirty="0">
                <a:solidFill>
                  <a:schemeClr val="tx2"/>
                </a:solidFill>
              </a:rPr>
              <a:t>30-day report</a:t>
            </a:r>
            <a:endParaRPr lang="en-US" sz="1500" dirty="0"/>
          </a:p>
        </p:txBody>
      </p:sp>
      <p:sp>
        <p:nvSpPr>
          <p:cNvPr id="32" name="Text 28"/>
          <p:cNvSpPr txBox="1"/>
          <p:nvPr/>
        </p:nvSpPr>
        <p:spPr>
          <a:xfrm>
            <a:off x="8001000" y="5413248"/>
            <a:ext cx="1554480" cy="320040"/>
          </a:xfrm>
          <a:prstGeom prst="rect">
            <a:avLst/>
          </a:prstGeom>
          <a:noFill/>
          <a:ln/>
        </p:spPr>
        <p:txBody>
          <a:bodyPr wrap="square" lIns="0" tIns="0" rIns="0" bIns="0" rtlCol="0" anchor="t"/>
          <a:lstStyle/>
          <a:p>
            <a:pPr indent="0" marL="0">
              <a:buNone/>
            </a:pPr>
            <a:r>
              <a:rPr lang="en-US" sz="1200" dirty="0">
                <a:solidFill>
                  <a:schemeClr val="accent6"/>
                </a:solidFill>
              </a:rPr>
              <a:t>thread pool</a:t>
            </a:r>
            <a:endParaRPr lang="en-US" sz="1200" dirty="0"/>
          </a:p>
        </p:txBody>
      </p:sp>
      <p:sp>
        <p:nvSpPr>
          <p:cNvPr id="33" name="Text 29"/>
          <p:cNvSpPr txBox="1"/>
          <p:nvPr/>
        </p:nvSpPr>
        <p:spPr>
          <a:xfrm>
            <a:off x="9601200" y="5120640"/>
            <a:ext cx="457200" cy="457200"/>
          </a:xfrm>
          <a:prstGeom prst="roundRect">
            <a:avLst>
              <a:gd name="adj" fmla="val 16000"/>
            </a:avLst>
          </a:prstGeom>
          <a:solidFill>
            <a:schemeClr val="accent1"/>
          </a:solidFill>
          <a:ln/>
        </p:spPr>
        <p:txBody>
          <a:bodyPr wrap="square" lIns="76200" tIns="76200" rIns="76200" bIns="76200" rtlCol="0" anchor="ctr"/>
          <a:lstStyle/>
          <a:p>
            <a:pPr algn="ctr" indent="0" marL="0">
              <a:buNone/>
            </a:pPr>
            <a:r>
              <a:rPr lang="en-US" sz="1600" b="1" dirty="0">
                <a:solidFill>
                  <a:schemeClr val="bg1"/>
                </a:solidFill>
              </a:rPr>
              <a:t>5</a:t>
            </a:r>
            <a:endParaRPr lang="en-US" sz="1600" dirty="0"/>
          </a:p>
        </p:txBody>
      </p:sp>
      <p:sp>
        <p:nvSpPr>
          <p:cNvPr id="34" name="Text 30"/>
          <p:cNvSpPr txBox="1"/>
          <p:nvPr/>
        </p:nvSpPr>
        <p:spPr>
          <a:xfrm>
            <a:off x="10195560" y="5093208"/>
            <a:ext cx="1554480" cy="320040"/>
          </a:xfrm>
          <a:prstGeom prst="rect">
            <a:avLst/>
          </a:prstGeom>
          <a:noFill/>
          <a:ln/>
        </p:spPr>
        <p:txBody>
          <a:bodyPr wrap="square" lIns="0" tIns="0" rIns="0" bIns="0" rtlCol="0" anchor="t"/>
          <a:lstStyle/>
          <a:p>
            <a:pPr indent="0" marL="0">
              <a:buNone/>
            </a:pPr>
            <a:r>
              <a:rPr lang="en-US" sz="1500" b="1" dirty="0">
                <a:solidFill>
                  <a:schemeClr val="tx2"/>
                </a:solidFill>
              </a:rPr>
              <a:t>Activity</a:t>
            </a:r>
            <a:endParaRPr lang="en-US" sz="1500" dirty="0"/>
          </a:p>
        </p:txBody>
      </p:sp>
      <p:sp>
        <p:nvSpPr>
          <p:cNvPr id="35" name="Text 31"/>
          <p:cNvSpPr txBox="1"/>
          <p:nvPr/>
        </p:nvSpPr>
        <p:spPr>
          <a:xfrm>
            <a:off x="10195560" y="5413248"/>
            <a:ext cx="1554480" cy="320040"/>
          </a:xfrm>
          <a:prstGeom prst="rect">
            <a:avLst/>
          </a:prstGeom>
          <a:noFill/>
          <a:ln/>
        </p:spPr>
        <p:txBody>
          <a:bodyPr wrap="square" lIns="0" tIns="0" rIns="0" bIns="0" rtlCol="0" anchor="t"/>
          <a:lstStyle/>
          <a:p>
            <a:pPr indent="0" marL="0">
              <a:buNone/>
            </a:pPr>
            <a:r>
              <a:rPr lang="en-US" sz="1200" dirty="0">
                <a:solidFill>
                  <a:schemeClr val="accent6"/>
                </a:solidFill>
              </a:rPr>
              <a:t>producer-consumer</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SERVLETS  |  LIVE SCREENS</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30-day report, built in parallel</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Each account is summarised on its own worker thread, then merged into one report.</a:t>
            </a:r>
            <a:endParaRPr lang="en-US" sz="1600" dirty="0"/>
          </a:p>
        </p:txBody>
      </p:sp>
      <p:sp>
        <p:nvSpPr>
          <p:cNvPr id="5" name="portal-report-window"/>
          <p:cNvSpPr/>
          <p:nvPr/>
        </p:nvSpPr>
        <p:spPr>
          <a:xfrm>
            <a:off x="548640" y="1691640"/>
            <a:ext cx="5486400" cy="4534281"/>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691640"/>
            <a:ext cx="5486400" cy="219456"/>
          </a:xfrm>
          <a:prstGeom prst="rect">
            <a:avLst/>
          </a:prstGeom>
          <a:solidFill>
            <a:srgbClr val="E2E8F0"/>
          </a:solidFill>
          <a:ln/>
        </p:spPr>
      </p:sp>
      <p:sp>
        <p:nvSpPr>
          <p:cNvPr id="7" name="Shape 5"/>
          <p:cNvSpPr/>
          <p:nvPr/>
        </p:nvSpPr>
        <p:spPr>
          <a:xfrm>
            <a:off x="640080" y="1760220"/>
            <a:ext cx="82296" cy="82296"/>
          </a:xfrm>
          <a:prstGeom prst="ellipse">
            <a:avLst/>
          </a:prstGeom>
          <a:solidFill>
            <a:srgbClr val="F87171"/>
          </a:solidFill>
          <a:ln/>
        </p:spPr>
      </p:sp>
      <p:sp>
        <p:nvSpPr>
          <p:cNvPr id="8" name="Shape 6"/>
          <p:cNvSpPr/>
          <p:nvPr/>
        </p:nvSpPr>
        <p:spPr>
          <a:xfrm>
            <a:off x="777240" y="1760220"/>
            <a:ext cx="82296" cy="82296"/>
          </a:xfrm>
          <a:prstGeom prst="ellipse">
            <a:avLst/>
          </a:prstGeom>
          <a:solidFill>
            <a:srgbClr val="FBBF24"/>
          </a:solidFill>
          <a:ln/>
        </p:spPr>
      </p:sp>
      <p:sp>
        <p:nvSpPr>
          <p:cNvPr id="9" name="Shape 7"/>
          <p:cNvSpPr/>
          <p:nvPr/>
        </p:nvSpPr>
        <p:spPr>
          <a:xfrm>
            <a:off x="914400" y="1760220"/>
            <a:ext cx="82296" cy="82296"/>
          </a:xfrm>
          <a:prstGeom prst="ellipse">
            <a:avLst/>
          </a:prstGeom>
          <a:solidFill>
            <a:srgbClr val="34D399"/>
          </a:solidFill>
          <a:ln/>
        </p:spPr>
      </p:sp>
      <p:pic>
        <p:nvPicPr>
          <p:cNvPr id="10" name="portal-report" descr="portal-report">    </p:cNvPr>
          <p:cNvPicPr>
            <a:picLocks noChangeAspect="1"/>
          </p:cNvPicPr>
          <p:nvPr/>
        </p:nvPicPr>
        <p:blipFill>
          <a:blip r:embed="rId1"/>
          <a:stretch>
            <a:fillRect/>
          </a:stretch>
        </p:blipFill>
        <p:spPr>
          <a:xfrm>
            <a:off x="548640" y="1911096"/>
            <a:ext cx="5486400" cy="4314825"/>
          </a:xfrm>
          <a:prstGeom prst="rect">
            <a:avLst/>
          </a:prstGeom>
        </p:spPr>
      </p:pic>
      <p:graphicFrame>
        <p:nvGraphicFramePr>
          <p:cNvPr id="11" name="Chart 0" descr=""/>
          <p:cNvGraphicFramePr/>
          <p:nvPr/>
        </p:nvGraphicFramePr>
        <p:xfrm>
          <a:off x="6400800" y="1691640"/>
          <a:ext cx="5212080" cy="3108960"/>
        </p:xfrm>
        <a:graphic xmlns:a="http://schemas.openxmlformats.org/drawingml/2006/main">
          <a:graphicData uri="http://schemas.openxmlformats.org/drawingml/2006/chart">
            <c:chart xmlns:c="http://schemas.openxmlformats.org/drawingml/2006/chart" r:id="rId2"/>
          </a:graphicData>
        </a:graphic>
      </p:graphicFrame>
      <p:sp>
        <p:nvSpPr>
          <p:cNvPr id="12" name="card"/>
          <p:cNvSpPr/>
          <p:nvPr/>
        </p:nvSpPr>
        <p:spPr>
          <a:xfrm>
            <a:off x="6400800" y="4983480"/>
            <a:ext cx="5212080" cy="1188720"/>
          </a:xfrm>
          <a:prstGeom prst="roundRect">
            <a:avLst>
              <a:gd name="adj" fmla="val 6154"/>
            </a:avLst>
          </a:prstGeom>
          <a:solidFill>
            <a:schemeClr val="bg2"/>
          </a:solidFill>
          <a:ln/>
        </p:spPr>
      </p:sp>
      <p:sp>
        <p:nvSpPr>
          <p:cNvPr id="13" name="Text 9"/>
          <p:cNvSpPr txBox="1"/>
          <p:nvPr/>
        </p:nvSpPr>
        <p:spPr>
          <a:xfrm>
            <a:off x="6629400" y="5120640"/>
            <a:ext cx="4800600" cy="1005840"/>
          </a:xfrm>
          <a:prstGeom prst="rect">
            <a:avLst/>
          </a:prstGeom>
          <a:noFill/>
          <a:ln/>
        </p:spPr>
        <p:txBody>
          <a:bodyPr wrap="square" lIns="0" tIns="0" rIns="0" bIns="0" rtlCol="0" anchor="t"/>
          <a:lstStyle/>
          <a:p>
            <a:pPr indent="0" marL="0">
              <a:buNone/>
            </a:pPr>
            <a:r>
              <a:rPr lang="en-US" sz="1600" b="1" dirty="0">
                <a:solidFill>
                  <a:schemeClr val="tx2"/>
                </a:solidFill>
              </a:rPr>
              <a:t>How it is built</a:t>
            </a:r>
            <a:endParaRPr lang="en-US" sz="1300" dirty="0"/>
          </a:p>
          <a:p>
            <a:pPr indent="0" marL="0">
              <a:buNone/>
            </a:pPr>
            <a:r>
              <a:rPr lang="en-US" sz="1300" dirty="0">
                <a:solidFill>
                  <a:schemeClr val="tx1"/>
                </a:solidFill>
              </a:rPr>
              <a:t>JDBC GROUP BY totals per account, computed on report-worker threads, merged with EnumMap.merge() and ranked with a PriorityQueue.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731520" y="1737360"/>
            <a:ext cx="2743200" cy="1005840"/>
          </a:xfrm>
          <a:prstGeom prst="rect">
            <a:avLst/>
          </a:prstGeom>
          <a:noFill/>
          <a:ln/>
        </p:spPr>
        <p:txBody>
          <a:bodyPr wrap="square" lIns="0" tIns="0" rIns="0" bIns="0" rtlCol="0" anchor="b"/>
          <a:lstStyle/>
          <a:p>
            <a:pPr algn="l" indent="0" marL="0">
              <a:buNone/>
            </a:pPr>
            <a:r>
              <a:rPr lang="en-US" sz="7200" b="1" dirty="0">
                <a:solidFill>
                  <a:schemeClr val="accent2"/>
                </a:solidFill>
              </a:rPr>
              <a:t>05</a:t>
            </a:r>
            <a:endParaRPr lang="en-US" sz="7200" dirty="0"/>
          </a:p>
        </p:txBody>
      </p:sp>
      <p:sp>
        <p:nvSpPr>
          <p:cNvPr id="3" name="Text 0"/>
          <p:cNvSpPr/>
          <p:nvPr>
            <p:ph idx="101" type="title" hasCustomPrompt="1"/>
          </p:nvPr>
        </p:nvSpPr>
        <p:spPr>
          <a:xfrm>
            <a:off x="731520" y="2834640"/>
            <a:ext cx="5669280" cy="822960"/>
          </a:xfrm>
          <a:prstGeom prst="rect">
            <a:avLst/>
          </a:prstGeom>
          <a:noFill/>
          <a:ln/>
        </p:spPr>
        <p:txBody>
          <a:bodyPr wrap="square" lIns="0" tIns="0" rIns="0" bIns="0" rtlCol="0" anchor="t"/>
          <a:lstStyle/>
          <a:p>
            <a:pPr algn="l" indent="0" marL="0">
              <a:buNone/>
            </a:pPr>
            <a:r>
              <a:rPr lang="en-US" sz="4000" b="1" dirty="0">
                <a:solidFill>
                  <a:schemeClr val="bg1"/>
                </a:solidFill>
              </a:rPr>
              <a:t>Showcase &amp; results</a:t>
            </a:r>
            <a:endParaRPr lang="en-US" sz="4000" dirty="0"/>
          </a:p>
        </p:txBody>
      </p:sp>
      <p:sp>
        <p:nvSpPr>
          <p:cNvPr id="4" name="Text 0"/>
          <p:cNvSpPr/>
          <p:nvPr>
            <p:ph idx="102" type="body" hasCustomPrompt="1"/>
          </p:nvPr>
        </p:nvSpPr>
        <p:spPr>
          <a:xfrm>
            <a:off x="731520" y="3703320"/>
            <a:ext cx="5486400" cy="914400"/>
          </a:xfrm>
          <a:prstGeom prst="rect">
            <a:avLst/>
          </a:prstGeom>
          <a:noFill/>
          <a:ln/>
        </p:spPr>
        <p:txBody>
          <a:bodyPr wrap="square" lIns="0" tIns="0" rIns="0" bIns="0" rtlCol="0" anchor="t"/>
          <a:lstStyle/>
          <a:p>
            <a:pPr algn="l" indent="0" marL="0">
              <a:buNone/>
            </a:pPr>
            <a:r>
              <a:rPr lang="en-US" sz="1800" dirty="0">
                <a:solidFill>
                  <a:srgbClr val="CBD5E1"/>
                </a:solidFill>
              </a:rPr>
              <a:t>The complete application, its security and how it was verified.</a:t>
            </a:r>
            <a:endParaRPr lang="en-US" sz="1800" dirty="0"/>
          </a:p>
        </p:txBody>
      </p:sp>
      <p:sp>
        <p:nvSpPr>
          <p:cNvPr id="5" name="card"/>
          <p:cNvSpPr/>
          <p:nvPr/>
        </p:nvSpPr>
        <p:spPr>
          <a:xfrm>
            <a:off x="7315200" y="1463040"/>
            <a:ext cx="4297680" cy="3383280"/>
          </a:xfrm>
          <a:prstGeom prst="roundRect">
            <a:avLst>
              <a:gd name="adj" fmla="val 2162"/>
            </a:avLst>
          </a:prstGeom>
          <a:solidFill>
            <a:srgbClr val="16304F"/>
          </a:solidFill>
          <a:ln/>
        </p:spPr>
      </p:sp>
      <p:sp>
        <p:nvSpPr>
          <p:cNvPr id="6" name="Text 4"/>
          <p:cNvSpPr txBox="1"/>
          <p:nvPr/>
        </p:nvSpPr>
        <p:spPr>
          <a:xfrm>
            <a:off x="7635240" y="1691640"/>
            <a:ext cx="36576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IN THIS SECTION</a:t>
            </a:r>
            <a:endParaRPr lang="en-US" sz="1200" dirty="0"/>
          </a:p>
        </p:txBody>
      </p:sp>
      <p:sp>
        <p:nvSpPr>
          <p:cNvPr id="7" name="Text 5"/>
          <p:cNvSpPr txBox="1"/>
          <p:nvPr/>
        </p:nvSpPr>
        <p:spPr>
          <a:xfrm>
            <a:off x="7635240" y="2103120"/>
            <a:ext cx="3749040" cy="365760"/>
          </a:xfrm>
          <a:prstGeom prst="rect">
            <a:avLst/>
          </a:prstGeom>
          <a:noFill/>
          <a:ln/>
        </p:spPr>
        <p:txBody>
          <a:bodyPr wrap="square" lIns="0" tIns="0" rIns="0" bIns="0" rtlCol="0" anchor="t"/>
          <a:lstStyle/>
          <a:p>
            <a:pPr indent="0" marL="0">
              <a:buNone/>
            </a:pPr>
            <a:r>
              <a:rPr lang="en-US" sz="1700" dirty="0">
                <a:solidFill>
                  <a:schemeClr val="bg1"/>
                </a:solidFill>
              </a:rPr>
              <a:t>Customer dashboard</a:t>
            </a:r>
            <a:endParaRPr lang="en-US" sz="1700" dirty="0"/>
          </a:p>
        </p:txBody>
      </p:sp>
      <p:sp>
        <p:nvSpPr>
          <p:cNvPr id="8" name="Text 6"/>
          <p:cNvSpPr txBox="1"/>
          <p:nvPr/>
        </p:nvSpPr>
        <p:spPr>
          <a:xfrm>
            <a:off x="7635240" y="2670048"/>
            <a:ext cx="3749040" cy="365760"/>
          </a:xfrm>
          <a:prstGeom prst="rect">
            <a:avLst/>
          </a:prstGeom>
          <a:noFill/>
          <a:ln/>
        </p:spPr>
        <p:txBody>
          <a:bodyPr wrap="square" lIns="0" tIns="0" rIns="0" bIns="0" rtlCol="0" anchor="t"/>
          <a:lstStyle/>
          <a:p>
            <a:pPr indent="0" marL="0">
              <a:buNone/>
            </a:pPr>
            <a:r>
              <a:rPr lang="en-US" sz="1700" dirty="0">
                <a:solidFill>
                  <a:schemeClr val="bg1"/>
                </a:solidFill>
              </a:rPr>
              <a:t>Customer features</a:t>
            </a:r>
            <a:endParaRPr lang="en-US" sz="1700" dirty="0"/>
          </a:p>
        </p:txBody>
      </p:sp>
      <p:sp>
        <p:nvSpPr>
          <p:cNvPr id="9" name="Text 7"/>
          <p:cNvSpPr txBox="1"/>
          <p:nvPr/>
        </p:nvSpPr>
        <p:spPr>
          <a:xfrm>
            <a:off x="7635240" y="3236976"/>
            <a:ext cx="3749040" cy="365760"/>
          </a:xfrm>
          <a:prstGeom prst="rect">
            <a:avLst/>
          </a:prstGeom>
          <a:noFill/>
          <a:ln/>
        </p:spPr>
        <p:txBody>
          <a:bodyPr wrap="square" lIns="0" tIns="0" rIns="0" bIns="0" rtlCol="0" anchor="t"/>
          <a:lstStyle/>
          <a:p>
            <a:pPr indent="0" marL="0">
              <a:buNone/>
            </a:pPr>
            <a:r>
              <a:rPr lang="en-US" sz="1700" dirty="0">
                <a:solidFill>
                  <a:schemeClr val="bg1"/>
                </a:solidFill>
              </a:rPr>
              <a:t>Admin console</a:t>
            </a:r>
            <a:endParaRPr lang="en-US" sz="1700" dirty="0"/>
          </a:p>
        </p:txBody>
      </p:sp>
      <p:sp>
        <p:nvSpPr>
          <p:cNvPr id="10" name="Text 8"/>
          <p:cNvSpPr txBox="1"/>
          <p:nvPr/>
        </p:nvSpPr>
        <p:spPr>
          <a:xfrm>
            <a:off x="7635240" y="3803904"/>
            <a:ext cx="3749040" cy="365760"/>
          </a:xfrm>
          <a:prstGeom prst="rect">
            <a:avLst/>
          </a:prstGeom>
          <a:noFill/>
          <a:ln/>
        </p:spPr>
        <p:txBody>
          <a:bodyPr wrap="square" lIns="0" tIns="0" rIns="0" bIns="0" rtlCol="0" anchor="t"/>
          <a:lstStyle/>
          <a:p>
            <a:pPr indent="0" marL="0">
              <a:buNone/>
            </a:pPr>
            <a:r>
              <a:rPr lang="en-US" sz="1700" dirty="0">
                <a:solidFill>
                  <a:schemeClr val="bg1"/>
                </a:solidFill>
              </a:rPr>
              <a:t>Security</a:t>
            </a:r>
            <a:endParaRPr lang="en-US" sz="1700" dirty="0"/>
          </a:p>
        </p:txBody>
      </p:sp>
      <p:sp>
        <p:nvSpPr>
          <p:cNvPr id="11" name="Text 9"/>
          <p:cNvSpPr txBox="1"/>
          <p:nvPr/>
        </p:nvSpPr>
        <p:spPr>
          <a:xfrm>
            <a:off x="7635240" y="4370832"/>
            <a:ext cx="3749040" cy="365760"/>
          </a:xfrm>
          <a:prstGeom prst="rect">
            <a:avLst/>
          </a:prstGeom>
          <a:noFill/>
          <a:ln/>
        </p:spPr>
        <p:txBody>
          <a:bodyPr wrap="square" lIns="0" tIns="0" rIns="0" bIns="0" rtlCol="0" anchor="t"/>
          <a:lstStyle/>
          <a:p>
            <a:pPr indent="0" marL="0">
              <a:buNone/>
            </a:pPr>
            <a:r>
              <a:rPr lang="en-US" sz="1700" dirty="0">
                <a:solidFill>
                  <a:schemeClr val="bg1"/>
                </a:solidFill>
              </a:rPr>
              <a:t>Testing, challenges &amp; future scope</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APPLICATION  |  CUSTOMER</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Customer dashboard</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Everything a customer needs at a glance, backed by the same Java API.</a:t>
            </a:r>
            <a:endParaRPr lang="en-US" sz="1600" dirty="0"/>
          </a:p>
        </p:txBody>
      </p:sp>
      <p:sp>
        <p:nvSpPr>
          <p:cNvPr id="5" name="dashboard-window"/>
          <p:cNvSpPr/>
          <p:nvPr/>
        </p:nvSpPr>
        <p:spPr>
          <a:xfrm>
            <a:off x="548640" y="1737360"/>
            <a:ext cx="6675120" cy="4205986"/>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737360"/>
            <a:ext cx="6675120" cy="219456"/>
          </a:xfrm>
          <a:prstGeom prst="rect">
            <a:avLst/>
          </a:prstGeom>
          <a:solidFill>
            <a:srgbClr val="E2E8F0"/>
          </a:solidFill>
          <a:ln/>
        </p:spPr>
      </p:sp>
      <p:sp>
        <p:nvSpPr>
          <p:cNvPr id="7" name="Shape 5"/>
          <p:cNvSpPr/>
          <p:nvPr/>
        </p:nvSpPr>
        <p:spPr>
          <a:xfrm>
            <a:off x="640080" y="1805940"/>
            <a:ext cx="82296" cy="82296"/>
          </a:xfrm>
          <a:prstGeom prst="ellipse">
            <a:avLst/>
          </a:prstGeom>
          <a:solidFill>
            <a:srgbClr val="F87171"/>
          </a:solidFill>
          <a:ln/>
        </p:spPr>
      </p:sp>
      <p:sp>
        <p:nvSpPr>
          <p:cNvPr id="8" name="Shape 6"/>
          <p:cNvSpPr/>
          <p:nvPr/>
        </p:nvSpPr>
        <p:spPr>
          <a:xfrm>
            <a:off x="777240" y="1805940"/>
            <a:ext cx="82296" cy="82296"/>
          </a:xfrm>
          <a:prstGeom prst="ellipse">
            <a:avLst/>
          </a:prstGeom>
          <a:solidFill>
            <a:srgbClr val="FBBF24"/>
          </a:solidFill>
          <a:ln/>
        </p:spPr>
      </p:sp>
      <p:sp>
        <p:nvSpPr>
          <p:cNvPr id="9" name="Shape 7"/>
          <p:cNvSpPr/>
          <p:nvPr/>
        </p:nvSpPr>
        <p:spPr>
          <a:xfrm>
            <a:off x="914400" y="1805940"/>
            <a:ext cx="82296" cy="82296"/>
          </a:xfrm>
          <a:prstGeom prst="ellipse">
            <a:avLst/>
          </a:prstGeom>
          <a:solidFill>
            <a:srgbClr val="34D399"/>
          </a:solidFill>
          <a:ln/>
        </p:spPr>
      </p:sp>
      <p:pic>
        <p:nvPicPr>
          <p:cNvPr id="10" name="dashboard" descr="dashboard">    </p:cNvPr>
          <p:cNvPicPr>
            <a:picLocks noChangeAspect="1"/>
          </p:cNvPicPr>
          <p:nvPr/>
        </p:nvPicPr>
        <p:blipFill>
          <a:blip r:embed="rId1"/>
          <a:stretch>
            <a:fillRect/>
          </a:stretch>
        </p:blipFill>
        <p:spPr>
          <a:xfrm>
            <a:off x="548640" y="1956816"/>
            <a:ext cx="6675120" cy="3986530"/>
          </a:xfrm>
          <a:prstGeom prst="rect">
            <a:avLst/>
          </a:prstGeom>
        </p:spPr>
      </p:pic>
      <p:graphicFrame>
        <p:nvGraphicFramePr>
          <p:cNvPr id="11" name="Chart 0" descr=""/>
          <p:cNvGraphicFramePr/>
          <p:nvPr/>
        </p:nvGraphicFramePr>
        <p:xfrm>
          <a:off x="7498080" y="1691640"/>
          <a:ext cx="4114800" cy="3200400"/>
        </p:xfrm>
        <a:graphic xmlns:a="http://schemas.openxmlformats.org/drawingml/2006/main">
          <a:graphicData uri="http://schemas.openxmlformats.org/drawingml/2006/chart">
            <c:chart xmlns:c="http://schemas.openxmlformats.org/drawingml/2006/chart" r:id="rId2"/>
          </a:graphicData>
        </a:graphic>
      </p:graphicFrame>
      <p:sp>
        <p:nvSpPr>
          <p:cNvPr id="12" name="card"/>
          <p:cNvSpPr/>
          <p:nvPr/>
        </p:nvSpPr>
        <p:spPr>
          <a:xfrm>
            <a:off x="7498080" y="5074920"/>
            <a:ext cx="4114800" cy="1097280"/>
          </a:xfrm>
          <a:prstGeom prst="roundRect">
            <a:avLst>
              <a:gd name="adj" fmla="val 6667"/>
            </a:avLst>
          </a:prstGeom>
          <a:solidFill>
            <a:schemeClr val="bg2"/>
          </a:solidFill>
          <a:ln/>
        </p:spPr>
      </p:sp>
      <p:sp>
        <p:nvSpPr>
          <p:cNvPr id="13" name="Text 9"/>
          <p:cNvSpPr txBox="1"/>
          <p:nvPr/>
        </p:nvSpPr>
        <p:spPr>
          <a:xfrm>
            <a:off x="7726680" y="5212080"/>
            <a:ext cx="3703320" cy="868680"/>
          </a:xfrm>
          <a:prstGeom prst="rect">
            <a:avLst/>
          </a:prstGeom>
          <a:noFill/>
          <a:ln/>
        </p:spPr>
        <p:txBody>
          <a:bodyPr wrap="square" lIns="0" tIns="0" rIns="0" bIns="0" rtlCol="0" anchor="t"/>
          <a:lstStyle/>
          <a:p>
            <a:pPr indent="0" marL="0">
              <a:buNone/>
            </a:pPr>
            <a:r>
              <a:rPr lang="en-US" sz="1300" b="1" dirty="0">
                <a:solidFill>
                  <a:schemeClr val="tx2"/>
                </a:solidFill>
              </a:rPr>
              <a:t>Live data: </a:t>
            </a:r>
            <a:pPr indent="0" marL="0">
              <a:buNone/>
            </a:pPr>
            <a:r>
              <a:rPr lang="en-US" sz="1300" dirty="0">
                <a:solidFill>
                  <a:schemeClr val="tx1"/>
                </a:solidFill>
              </a:rPr>
              <a:t>balances, the 6-month money flow, deposits, loans and today's transfer limit, all from one /api/dashboard call.</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APPLICATION  |  CUSTOMER</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Customer features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Real screens from the running application.</a:t>
            </a:r>
            <a:endParaRPr lang="en-US" sz="1600" dirty="0"/>
          </a:p>
        </p:txBody>
      </p:sp>
      <p:sp>
        <p:nvSpPr>
          <p:cNvPr id="5" name="Accounts-window"/>
          <p:cNvSpPr/>
          <p:nvPr/>
        </p:nvSpPr>
        <p:spPr>
          <a:xfrm>
            <a:off x="548640" y="1691640"/>
            <a:ext cx="3200400" cy="201945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691640"/>
            <a:ext cx="3200400" cy="219456"/>
          </a:xfrm>
          <a:prstGeom prst="rect">
            <a:avLst/>
          </a:prstGeom>
          <a:solidFill>
            <a:srgbClr val="E2E8F0"/>
          </a:solidFill>
          <a:ln/>
        </p:spPr>
      </p:sp>
      <p:sp>
        <p:nvSpPr>
          <p:cNvPr id="7" name="Shape 5"/>
          <p:cNvSpPr/>
          <p:nvPr/>
        </p:nvSpPr>
        <p:spPr>
          <a:xfrm>
            <a:off x="640080" y="1760220"/>
            <a:ext cx="82296" cy="82296"/>
          </a:xfrm>
          <a:prstGeom prst="ellipse">
            <a:avLst/>
          </a:prstGeom>
          <a:solidFill>
            <a:srgbClr val="F87171"/>
          </a:solidFill>
          <a:ln/>
        </p:spPr>
      </p:sp>
      <p:sp>
        <p:nvSpPr>
          <p:cNvPr id="8" name="Shape 6"/>
          <p:cNvSpPr/>
          <p:nvPr/>
        </p:nvSpPr>
        <p:spPr>
          <a:xfrm>
            <a:off x="777240" y="1760220"/>
            <a:ext cx="82296" cy="82296"/>
          </a:xfrm>
          <a:prstGeom prst="ellipse">
            <a:avLst/>
          </a:prstGeom>
          <a:solidFill>
            <a:srgbClr val="FBBF24"/>
          </a:solidFill>
          <a:ln/>
        </p:spPr>
      </p:sp>
      <p:sp>
        <p:nvSpPr>
          <p:cNvPr id="9" name="Shape 7"/>
          <p:cNvSpPr/>
          <p:nvPr/>
        </p:nvSpPr>
        <p:spPr>
          <a:xfrm>
            <a:off x="914400" y="1760220"/>
            <a:ext cx="82296" cy="82296"/>
          </a:xfrm>
          <a:prstGeom prst="ellipse">
            <a:avLst/>
          </a:prstGeom>
          <a:solidFill>
            <a:srgbClr val="34D399"/>
          </a:solidFill>
          <a:ln/>
        </p:spPr>
      </p:sp>
      <p:pic>
        <p:nvPicPr>
          <p:cNvPr id="10" name="Accounts" descr="Accounts">    </p:cNvPr>
          <p:cNvPicPr>
            <a:picLocks noChangeAspect="1"/>
          </p:cNvPicPr>
          <p:nvPr/>
        </p:nvPicPr>
        <p:blipFill>
          <a:blip r:embed="rId1"/>
          <a:stretch>
            <a:fillRect/>
          </a:stretch>
        </p:blipFill>
        <p:spPr>
          <a:xfrm>
            <a:off x="548640" y="1911096"/>
            <a:ext cx="3200400" cy="1799994"/>
          </a:xfrm>
          <a:prstGeom prst="rect">
            <a:avLst/>
          </a:prstGeom>
        </p:spPr>
      </p:pic>
      <p:sp>
        <p:nvSpPr>
          <p:cNvPr id="11" name="Text 8"/>
          <p:cNvSpPr txBox="1"/>
          <p:nvPr/>
        </p:nvSpPr>
        <p:spPr>
          <a:xfrm>
            <a:off x="548640" y="3756810"/>
            <a:ext cx="3200400" cy="274320"/>
          </a:xfrm>
          <a:prstGeom prst="rect">
            <a:avLst/>
          </a:prstGeom>
          <a:noFill/>
          <a:ln/>
        </p:spPr>
        <p:txBody>
          <a:bodyPr wrap="square" lIns="0" tIns="0" rIns="0" bIns="0" rtlCol="0" anchor="t"/>
          <a:lstStyle/>
          <a:p>
            <a:pPr algn="l" indent="0" marL="0">
              <a:buNone/>
            </a:pPr>
            <a:r>
              <a:rPr lang="en-US" sz="1200" dirty="0">
                <a:solidFill>
                  <a:schemeClr val="accent6"/>
                </a:solidFill>
              </a:rPr>
              <a:t>Accounts</a:t>
            </a:r>
            <a:endParaRPr lang="en-US" sz="1200" dirty="0"/>
          </a:p>
        </p:txBody>
      </p:sp>
      <p:sp>
        <p:nvSpPr>
          <p:cNvPr id="12" name="Transfer money-window"/>
          <p:cNvSpPr/>
          <p:nvPr/>
        </p:nvSpPr>
        <p:spPr>
          <a:xfrm>
            <a:off x="4480560" y="1691640"/>
            <a:ext cx="3200400" cy="201945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13" name="Shape 10"/>
          <p:cNvSpPr/>
          <p:nvPr/>
        </p:nvSpPr>
        <p:spPr>
          <a:xfrm>
            <a:off x="4480560" y="1691640"/>
            <a:ext cx="3200400" cy="219456"/>
          </a:xfrm>
          <a:prstGeom prst="rect">
            <a:avLst/>
          </a:prstGeom>
          <a:solidFill>
            <a:srgbClr val="E2E8F0"/>
          </a:solidFill>
          <a:ln/>
        </p:spPr>
      </p:sp>
      <p:sp>
        <p:nvSpPr>
          <p:cNvPr id="14" name="Shape 11"/>
          <p:cNvSpPr/>
          <p:nvPr/>
        </p:nvSpPr>
        <p:spPr>
          <a:xfrm>
            <a:off x="4572000" y="1760220"/>
            <a:ext cx="82296" cy="82296"/>
          </a:xfrm>
          <a:prstGeom prst="ellipse">
            <a:avLst/>
          </a:prstGeom>
          <a:solidFill>
            <a:srgbClr val="F87171"/>
          </a:solidFill>
          <a:ln/>
        </p:spPr>
      </p:sp>
      <p:sp>
        <p:nvSpPr>
          <p:cNvPr id="15" name="Shape 12"/>
          <p:cNvSpPr/>
          <p:nvPr/>
        </p:nvSpPr>
        <p:spPr>
          <a:xfrm>
            <a:off x="4709160" y="1760220"/>
            <a:ext cx="82296" cy="82296"/>
          </a:xfrm>
          <a:prstGeom prst="ellipse">
            <a:avLst/>
          </a:prstGeom>
          <a:solidFill>
            <a:srgbClr val="FBBF24"/>
          </a:solidFill>
          <a:ln/>
        </p:spPr>
      </p:sp>
      <p:sp>
        <p:nvSpPr>
          <p:cNvPr id="16" name="Shape 13"/>
          <p:cNvSpPr/>
          <p:nvPr/>
        </p:nvSpPr>
        <p:spPr>
          <a:xfrm>
            <a:off x="4846320" y="1760220"/>
            <a:ext cx="82296" cy="82296"/>
          </a:xfrm>
          <a:prstGeom prst="ellipse">
            <a:avLst/>
          </a:prstGeom>
          <a:solidFill>
            <a:srgbClr val="34D399"/>
          </a:solidFill>
          <a:ln/>
        </p:spPr>
      </p:sp>
      <p:pic>
        <p:nvPicPr>
          <p:cNvPr id="17" name="Transfer money" descr="Transfer money">    </p:cNvPr>
          <p:cNvPicPr>
            <a:picLocks noChangeAspect="1"/>
          </p:cNvPicPr>
          <p:nvPr/>
        </p:nvPicPr>
        <p:blipFill>
          <a:blip r:embed="rId2"/>
          <a:stretch>
            <a:fillRect/>
          </a:stretch>
        </p:blipFill>
        <p:spPr>
          <a:xfrm>
            <a:off x="4480560" y="1911096"/>
            <a:ext cx="3200400" cy="1799994"/>
          </a:xfrm>
          <a:prstGeom prst="rect">
            <a:avLst/>
          </a:prstGeom>
        </p:spPr>
      </p:pic>
      <p:sp>
        <p:nvSpPr>
          <p:cNvPr id="18" name="Text 14"/>
          <p:cNvSpPr txBox="1"/>
          <p:nvPr/>
        </p:nvSpPr>
        <p:spPr>
          <a:xfrm>
            <a:off x="4480560" y="3756810"/>
            <a:ext cx="3200400" cy="274320"/>
          </a:xfrm>
          <a:prstGeom prst="rect">
            <a:avLst/>
          </a:prstGeom>
          <a:noFill/>
          <a:ln/>
        </p:spPr>
        <p:txBody>
          <a:bodyPr wrap="square" lIns="0" tIns="0" rIns="0" bIns="0" rtlCol="0" anchor="t"/>
          <a:lstStyle/>
          <a:p>
            <a:pPr algn="l" indent="0" marL="0">
              <a:buNone/>
            </a:pPr>
            <a:r>
              <a:rPr lang="en-US" sz="1200" dirty="0">
                <a:solidFill>
                  <a:schemeClr val="accent6"/>
                </a:solidFill>
              </a:rPr>
              <a:t>Transfer money</a:t>
            </a:r>
            <a:endParaRPr lang="en-US" sz="1200" dirty="0"/>
          </a:p>
        </p:txBody>
      </p:sp>
      <p:sp>
        <p:nvSpPr>
          <p:cNvPr id="19" name="Transactions-window"/>
          <p:cNvSpPr/>
          <p:nvPr/>
        </p:nvSpPr>
        <p:spPr>
          <a:xfrm>
            <a:off x="8412480" y="1691640"/>
            <a:ext cx="3200400" cy="201945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20" name="Shape 16"/>
          <p:cNvSpPr/>
          <p:nvPr/>
        </p:nvSpPr>
        <p:spPr>
          <a:xfrm>
            <a:off x="8412480" y="1691640"/>
            <a:ext cx="3200400" cy="219456"/>
          </a:xfrm>
          <a:prstGeom prst="rect">
            <a:avLst/>
          </a:prstGeom>
          <a:solidFill>
            <a:srgbClr val="E2E8F0"/>
          </a:solidFill>
          <a:ln/>
        </p:spPr>
      </p:sp>
      <p:sp>
        <p:nvSpPr>
          <p:cNvPr id="21" name="Shape 17"/>
          <p:cNvSpPr/>
          <p:nvPr/>
        </p:nvSpPr>
        <p:spPr>
          <a:xfrm>
            <a:off x="8503920" y="1760220"/>
            <a:ext cx="82296" cy="82296"/>
          </a:xfrm>
          <a:prstGeom prst="ellipse">
            <a:avLst/>
          </a:prstGeom>
          <a:solidFill>
            <a:srgbClr val="F87171"/>
          </a:solidFill>
          <a:ln/>
        </p:spPr>
      </p:sp>
      <p:sp>
        <p:nvSpPr>
          <p:cNvPr id="22" name="Shape 18"/>
          <p:cNvSpPr/>
          <p:nvPr/>
        </p:nvSpPr>
        <p:spPr>
          <a:xfrm>
            <a:off x="8641080" y="1760220"/>
            <a:ext cx="82296" cy="82296"/>
          </a:xfrm>
          <a:prstGeom prst="ellipse">
            <a:avLst/>
          </a:prstGeom>
          <a:solidFill>
            <a:srgbClr val="FBBF24"/>
          </a:solidFill>
          <a:ln/>
        </p:spPr>
      </p:sp>
      <p:sp>
        <p:nvSpPr>
          <p:cNvPr id="23" name="Shape 19"/>
          <p:cNvSpPr/>
          <p:nvPr/>
        </p:nvSpPr>
        <p:spPr>
          <a:xfrm>
            <a:off x="8778240" y="1760220"/>
            <a:ext cx="82296" cy="82296"/>
          </a:xfrm>
          <a:prstGeom prst="ellipse">
            <a:avLst/>
          </a:prstGeom>
          <a:solidFill>
            <a:srgbClr val="34D399"/>
          </a:solidFill>
          <a:ln/>
        </p:spPr>
      </p:sp>
      <p:pic>
        <p:nvPicPr>
          <p:cNvPr id="24" name="Transactions" descr="Transactions">    </p:cNvPr>
          <p:cNvPicPr>
            <a:picLocks noChangeAspect="1"/>
          </p:cNvPicPr>
          <p:nvPr/>
        </p:nvPicPr>
        <p:blipFill>
          <a:blip r:embed="rId3"/>
          <a:stretch>
            <a:fillRect/>
          </a:stretch>
        </p:blipFill>
        <p:spPr>
          <a:xfrm>
            <a:off x="8412480" y="1911096"/>
            <a:ext cx="3200400" cy="1799994"/>
          </a:xfrm>
          <a:prstGeom prst="rect">
            <a:avLst/>
          </a:prstGeom>
        </p:spPr>
      </p:pic>
      <p:sp>
        <p:nvSpPr>
          <p:cNvPr id="25" name="Text 20"/>
          <p:cNvSpPr txBox="1"/>
          <p:nvPr/>
        </p:nvSpPr>
        <p:spPr>
          <a:xfrm>
            <a:off x="8412480" y="3756810"/>
            <a:ext cx="3200400" cy="274320"/>
          </a:xfrm>
          <a:prstGeom prst="rect">
            <a:avLst/>
          </a:prstGeom>
          <a:noFill/>
          <a:ln/>
        </p:spPr>
        <p:txBody>
          <a:bodyPr wrap="square" lIns="0" tIns="0" rIns="0" bIns="0" rtlCol="0" anchor="t"/>
          <a:lstStyle/>
          <a:p>
            <a:pPr algn="l" indent="0" marL="0">
              <a:buNone/>
            </a:pPr>
            <a:r>
              <a:rPr lang="en-US" sz="1200" dirty="0">
                <a:solidFill>
                  <a:schemeClr val="accent6"/>
                </a:solidFill>
              </a:rPr>
              <a:t>Transactions</a:t>
            </a:r>
            <a:endParaRPr lang="en-US" sz="1200" dirty="0"/>
          </a:p>
        </p:txBody>
      </p:sp>
      <p:sp>
        <p:nvSpPr>
          <p:cNvPr id="26" name="Fixed deposits-window"/>
          <p:cNvSpPr/>
          <p:nvPr/>
        </p:nvSpPr>
        <p:spPr>
          <a:xfrm>
            <a:off x="548640" y="4023360"/>
            <a:ext cx="3200400" cy="201945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27" name="Shape 22"/>
          <p:cNvSpPr/>
          <p:nvPr/>
        </p:nvSpPr>
        <p:spPr>
          <a:xfrm>
            <a:off x="548640" y="4023360"/>
            <a:ext cx="3200400" cy="219456"/>
          </a:xfrm>
          <a:prstGeom prst="rect">
            <a:avLst/>
          </a:prstGeom>
          <a:solidFill>
            <a:srgbClr val="E2E8F0"/>
          </a:solidFill>
          <a:ln/>
        </p:spPr>
      </p:sp>
      <p:sp>
        <p:nvSpPr>
          <p:cNvPr id="28" name="Shape 23"/>
          <p:cNvSpPr/>
          <p:nvPr/>
        </p:nvSpPr>
        <p:spPr>
          <a:xfrm>
            <a:off x="640080" y="4091940"/>
            <a:ext cx="82296" cy="82296"/>
          </a:xfrm>
          <a:prstGeom prst="ellipse">
            <a:avLst/>
          </a:prstGeom>
          <a:solidFill>
            <a:srgbClr val="F87171"/>
          </a:solidFill>
          <a:ln/>
        </p:spPr>
      </p:sp>
      <p:sp>
        <p:nvSpPr>
          <p:cNvPr id="29" name="Shape 24"/>
          <p:cNvSpPr/>
          <p:nvPr/>
        </p:nvSpPr>
        <p:spPr>
          <a:xfrm>
            <a:off x="777240" y="4091940"/>
            <a:ext cx="82296" cy="82296"/>
          </a:xfrm>
          <a:prstGeom prst="ellipse">
            <a:avLst/>
          </a:prstGeom>
          <a:solidFill>
            <a:srgbClr val="FBBF24"/>
          </a:solidFill>
          <a:ln/>
        </p:spPr>
      </p:sp>
      <p:sp>
        <p:nvSpPr>
          <p:cNvPr id="30" name="Shape 25"/>
          <p:cNvSpPr/>
          <p:nvPr/>
        </p:nvSpPr>
        <p:spPr>
          <a:xfrm>
            <a:off x="914400" y="4091940"/>
            <a:ext cx="82296" cy="82296"/>
          </a:xfrm>
          <a:prstGeom prst="ellipse">
            <a:avLst/>
          </a:prstGeom>
          <a:solidFill>
            <a:srgbClr val="34D399"/>
          </a:solidFill>
          <a:ln/>
        </p:spPr>
      </p:sp>
      <p:pic>
        <p:nvPicPr>
          <p:cNvPr id="31" name="Fixed deposits" descr="Fixed deposits">    </p:cNvPr>
          <p:cNvPicPr>
            <a:picLocks noChangeAspect="1"/>
          </p:cNvPicPr>
          <p:nvPr/>
        </p:nvPicPr>
        <p:blipFill>
          <a:blip r:embed="rId4"/>
          <a:stretch>
            <a:fillRect/>
          </a:stretch>
        </p:blipFill>
        <p:spPr>
          <a:xfrm>
            <a:off x="548640" y="4242816"/>
            <a:ext cx="3200400" cy="1799994"/>
          </a:xfrm>
          <a:prstGeom prst="rect">
            <a:avLst/>
          </a:prstGeom>
        </p:spPr>
      </p:pic>
      <p:sp>
        <p:nvSpPr>
          <p:cNvPr id="32" name="Text 26"/>
          <p:cNvSpPr txBox="1"/>
          <p:nvPr/>
        </p:nvSpPr>
        <p:spPr>
          <a:xfrm>
            <a:off x="548640" y="6088530"/>
            <a:ext cx="3200400" cy="274320"/>
          </a:xfrm>
          <a:prstGeom prst="rect">
            <a:avLst/>
          </a:prstGeom>
          <a:noFill/>
          <a:ln/>
        </p:spPr>
        <p:txBody>
          <a:bodyPr wrap="square" lIns="0" tIns="0" rIns="0" bIns="0" rtlCol="0" anchor="t"/>
          <a:lstStyle/>
          <a:p>
            <a:pPr algn="l" indent="0" marL="0">
              <a:buNone/>
            </a:pPr>
            <a:r>
              <a:rPr lang="en-US" sz="1200" dirty="0">
                <a:solidFill>
                  <a:schemeClr val="accent6"/>
                </a:solidFill>
              </a:rPr>
              <a:t>Fixed deposits</a:t>
            </a:r>
            <a:endParaRPr lang="en-US" sz="1200" dirty="0"/>
          </a:p>
        </p:txBody>
      </p:sp>
      <p:sp>
        <p:nvSpPr>
          <p:cNvPr id="33" name="Loans-window"/>
          <p:cNvSpPr/>
          <p:nvPr/>
        </p:nvSpPr>
        <p:spPr>
          <a:xfrm>
            <a:off x="4480560" y="4023360"/>
            <a:ext cx="3200400" cy="201945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34" name="Shape 28"/>
          <p:cNvSpPr/>
          <p:nvPr/>
        </p:nvSpPr>
        <p:spPr>
          <a:xfrm>
            <a:off x="4480560" y="4023360"/>
            <a:ext cx="3200400" cy="219456"/>
          </a:xfrm>
          <a:prstGeom prst="rect">
            <a:avLst/>
          </a:prstGeom>
          <a:solidFill>
            <a:srgbClr val="E2E8F0"/>
          </a:solidFill>
          <a:ln/>
        </p:spPr>
      </p:sp>
      <p:sp>
        <p:nvSpPr>
          <p:cNvPr id="35" name="Shape 29"/>
          <p:cNvSpPr/>
          <p:nvPr/>
        </p:nvSpPr>
        <p:spPr>
          <a:xfrm>
            <a:off x="4572000" y="4091940"/>
            <a:ext cx="82296" cy="82296"/>
          </a:xfrm>
          <a:prstGeom prst="ellipse">
            <a:avLst/>
          </a:prstGeom>
          <a:solidFill>
            <a:srgbClr val="F87171"/>
          </a:solidFill>
          <a:ln/>
        </p:spPr>
      </p:sp>
      <p:sp>
        <p:nvSpPr>
          <p:cNvPr id="36" name="Shape 30"/>
          <p:cNvSpPr/>
          <p:nvPr/>
        </p:nvSpPr>
        <p:spPr>
          <a:xfrm>
            <a:off x="4709160" y="4091940"/>
            <a:ext cx="82296" cy="82296"/>
          </a:xfrm>
          <a:prstGeom prst="ellipse">
            <a:avLst/>
          </a:prstGeom>
          <a:solidFill>
            <a:srgbClr val="FBBF24"/>
          </a:solidFill>
          <a:ln/>
        </p:spPr>
      </p:sp>
      <p:sp>
        <p:nvSpPr>
          <p:cNvPr id="37" name="Shape 31"/>
          <p:cNvSpPr/>
          <p:nvPr/>
        </p:nvSpPr>
        <p:spPr>
          <a:xfrm>
            <a:off x="4846320" y="4091940"/>
            <a:ext cx="82296" cy="82296"/>
          </a:xfrm>
          <a:prstGeom prst="ellipse">
            <a:avLst/>
          </a:prstGeom>
          <a:solidFill>
            <a:srgbClr val="34D399"/>
          </a:solidFill>
          <a:ln/>
        </p:spPr>
      </p:sp>
      <p:pic>
        <p:nvPicPr>
          <p:cNvPr id="38" name="Loans" descr="Loans">    </p:cNvPr>
          <p:cNvPicPr>
            <a:picLocks noChangeAspect="1"/>
          </p:cNvPicPr>
          <p:nvPr/>
        </p:nvPicPr>
        <p:blipFill>
          <a:blip r:embed="rId5"/>
          <a:stretch>
            <a:fillRect/>
          </a:stretch>
        </p:blipFill>
        <p:spPr>
          <a:xfrm>
            <a:off x="4480560" y="4242816"/>
            <a:ext cx="3200400" cy="1799994"/>
          </a:xfrm>
          <a:prstGeom prst="rect">
            <a:avLst/>
          </a:prstGeom>
        </p:spPr>
      </p:pic>
      <p:sp>
        <p:nvSpPr>
          <p:cNvPr id="39" name="Text 32"/>
          <p:cNvSpPr txBox="1"/>
          <p:nvPr/>
        </p:nvSpPr>
        <p:spPr>
          <a:xfrm>
            <a:off x="4480560" y="6088530"/>
            <a:ext cx="3200400" cy="274320"/>
          </a:xfrm>
          <a:prstGeom prst="rect">
            <a:avLst/>
          </a:prstGeom>
          <a:noFill/>
          <a:ln/>
        </p:spPr>
        <p:txBody>
          <a:bodyPr wrap="square" lIns="0" tIns="0" rIns="0" bIns="0" rtlCol="0" anchor="t"/>
          <a:lstStyle/>
          <a:p>
            <a:pPr algn="l" indent="0" marL="0">
              <a:buNone/>
            </a:pPr>
            <a:r>
              <a:rPr lang="en-US" sz="1200" dirty="0">
                <a:solidFill>
                  <a:schemeClr val="accent6"/>
                </a:solidFill>
              </a:rPr>
              <a:t>Loans</a:t>
            </a:r>
            <a:endParaRPr lang="en-US" sz="1200" dirty="0"/>
          </a:p>
        </p:txBody>
      </p:sp>
      <p:sp>
        <p:nvSpPr>
          <p:cNvPr id="40" name="Debit cards-window"/>
          <p:cNvSpPr/>
          <p:nvPr/>
        </p:nvSpPr>
        <p:spPr>
          <a:xfrm>
            <a:off x="8412480" y="4023360"/>
            <a:ext cx="3200400" cy="2019450"/>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41" name="Shape 34"/>
          <p:cNvSpPr/>
          <p:nvPr/>
        </p:nvSpPr>
        <p:spPr>
          <a:xfrm>
            <a:off x="8412480" y="4023360"/>
            <a:ext cx="3200400" cy="219456"/>
          </a:xfrm>
          <a:prstGeom prst="rect">
            <a:avLst/>
          </a:prstGeom>
          <a:solidFill>
            <a:srgbClr val="E2E8F0"/>
          </a:solidFill>
          <a:ln/>
        </p:spPr>
      </p:sp>
      <p:sp>
        <p:nvSpPr>
          <p:cNvPr id="42" name="Shape 35"/>
          <p:cNvSpPr/>
          <p:nvPr/>
        </p:nvSpPr>
        <p:spPr>
          <a:xfrm>
            <a:off x="8503920" y="4091940"/>
            <a:ext cx="82296" cy="82296"/>
          </a:xfrm>
          <a:prstGeom prst="ellipse">
            <a:avLst/>
          </a:prstGeom>
          <a:solidFill>
            <a:srgbClr val="F87171"/>
          </a:solidFill>
          <a:ln/>
        </p:spPr>
      </p:sp>
      <p:sp>
        <p:nvSpPr>
          <p:cNvPr id="43" name="Shape 36"/>
          <p:cNvSpPr/>
          <p:nvPr/>
        </p:nvSpPr>
        <p:spPr>
          <a:xfrm>
            <a:off x="8641080" y="4091940"/>
            <a:ext cx="82296" cy="82296"/>
          </a:xfrm>
          <a:prstGeom prst="ellipse">
            <a:avLst/>
          </a:prstGeom>
          <a:solidFill>
            <a:srgbClr val="FBBF24"/>
          </a:solidFill>
          <a:ln/>
        </p:spPr>
      </p:sp>
      <p:sp>
        <p:nvSpPr>
          <p:cNvPr id="44" name="Shape 37"/>
          <p:cNvSpPr/>
          <p:nvPr/>
        </p:nvSpPr>
        <p:spPr>
          <a:xfrm>
            <a:off x="8778240" y="4091940"/>
            <a:ext cx="82296" cy="82296"/>
          </a:xfrm>
          <a:prstGeom prst="ellipse">
            <a:avLst/>
          </a:prstGeom>
          <a:solidFill>
            <a:srgbClr val="34D399"/>
          </a:solidFill>
          <a:ln/>
        </p:spPr>
      </p:sp>
      <p:pic>
        <p:nvPicPr>
          <p:cNvPr id="45" name="Debit cards" descr="Debit cards">    </p:cNvPr>
          <p:cNvPicPr>
            <a:picLocks noChangeAspect="1"/>
          </p:cNvPicPr>
          <p:nvPr/>
        </p:nvPicPr>
        <p:blipFill>
          <a:blip r:embed="rId6"/>
          <a:stretch>
            <a:fillRect/>
          </a:stretch>
        </p:blipFill>
        <p:spPr>
          <a:xfrm>
            <a:off x="8412480" y="4242816"/>
            <a:ext cx="3200400" cy="1799994"/>
          </a:xfrm>
          <a:prstGeom prst="rect">
            <a:avLst/>
          </a:prstGeom>
        </p:spPr>
      </p:pic>
      <p:sp>
        <p:nvSpPr>
          <p:cNvPr id="46" name="Text 38"/>
          <p:cNvSpPr txBox="1"/>
          <p:nvPr/>
        </p:nvSpPr>
        <p:spPr>
          <a:xfrm>
            <a:off x="8412480" y="6088530"/>
            <a:ext cx="3200400" cy="274320"/>
          </a:xfrm>
          <a:prstGeom prst="rect">
            <a:avLst/>
          </a:prstGeom>
          <a:noFill/>
          <a:ln/>
        </p:spPr>
        <p:txBody>
          <a:bodyPr wrap="square" lIns="0" tIns="0" rIns="0" bIns="0" rtlCol="0" anchor="t"/>
          <a:lstStyle/>
          <a:p>
            <a:pPr algn="l" indent="0" marL="0">
              <a:buNone/>
            </a:pPr>
            <a:r>
              <a:rPr lang="en-US" sz="1200" dirty="0">
                <a:solidFill>
                  <a:schemeClr val="accent6"/>
                </a:solidFill>
              </a:rPr>
              <a:t>Debit cards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APPLICATION  |  BRANCH ADMIN</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Admin console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Bank-wide KPIs and charts for branch staff.</a:t>
            </a:r>
            <a:endParaRPr lang="en-US" sz="1600" dirty="0"/>
          </a:p>
        </p:txBody>
      </p:sp>
      <p:sp>
        <p:nvSpPr>
          <p:cNvPr id="5" name="admin-overview-window"/>
          <p:cNvSpPr/>
          <p:nvPr/>
        </p:nvSpPr>
        <p:spPr>
          <a:xfrm>
            <a:off x="548640" y="1737360"/>
            <a:ext cx="6035040" cy="3823716"/>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737360"/>
            <a:ext cx="6035040" cy="219456"/>
          </a:xfrm>
          <a:prstGeom prst="rect">
            <a:avLst/>
          </a:prstGeom>
          <a:solidFill>
            <a:srgbClr val="E2E8F0"/>
          </a:solidFill>
          <a:ln/>
        </p:spPr>
      </p:sp>
      <p:sp>
        <p:nvSpPr>
          <p:cNvPr id="7" name="Shape 5"/>
          <p:cNvSpPr/>
          <p:nvPr/>
        </p:nvSpPr>
        <p:spPr>
          <a:xfrm>
            <a:off x="640080" y="1805940"/>
            <a:ext cx="82296" cy="82296"/>
          </a:xfrm>
          <a:prstGeom prst="ellipse">
            <a:avLst/>
          </a:prstGeom>
          <a:solidFill>
            <a:srgbClr val="F87171"/>
          </a:solidFill>
          <a:ln/>
        </p:spPr>
      </p:sp>
      <p:sp>
        <p:nvSpPr>
          <p:cNvPr id="8" name="Shape 6"/>
          <p:cNvSpPr/>
          <p:nvPr/>
        </p:nvSpPr>
        <p:spPr>
          <a:xfrm>
            <a:off x="777240" y="1805940"/>
            <a:ext cx="82296" cy="82296"/>
          </a:xfrm>
          <a:prstGeom prst="ellipse">
            <a:avLst/>
          </a:prstGeom>
          <a:solidFill>
            <a:srgbClr val="FBBF24"/>
          </a:solidFill>
          <a:ln/>
        </p:spPr>
      </p:sp>
      <p:sp>
        <p:nvSpPr>
          <p:cNvPr id="9" name="Shape 7"/>
          <p:cNvSpPr/>
          <p:nvPr/>
        </p:nvSpPr>
        <p:spPr>
          <a:xfrm>
            <a:off x="914400" y="1805940"/>
            <a:ext cx="82296" cy="82296"/>
          </a:xfrm>
          <a:prstGeom prst="ellipse">
            <a:avLst/>
          </a:prstGeom>
          <a:solidFill>
            <a:srgbClr val="34D399"/>
          </a:solidFill>
          <a:ln/>
        </p:spPr>
      </p:sp>
      <p:pic>
        <p:nvPicPr>
          <p:cNvPr id="10" name="admin-overview" descr="admin-overview">    </p:cNvPr>
          <p:cNvPicPr>
            <a:picLocks noChangeAspect="1"/>
          </p:cNvPicPr>
          <p:nvPr/>
        </p:nvPicPr>
        <p:blipFill>
          <a:blip r:embed="rId1"/>
          <a:stretch>
            <a:fillRect/>
          </a:stretch>
        </p:blipFill>
        <p:spPr>
          <a:xfrm>
            <a:off x="548640" y="1956816"/>
            <a:ext cx="6035040" cy="3604260"/>
          </a:xfrm>
          <a:prstGeom prst="rect">
            <a:avLst/>
          </a:prstGeom>
        </p:spPr>
      </p:pic>
      <p:graphicFrame>
        <p:nvGraphicFramePr>
          <p:cNvPr id="11" name="Chart 0" descr=""/>
          <p:cNvGraphicFramePr/>
          <p:nvPr/>
        </p:nvGraphicFramePr>
        <p:xfrm>
          <a:off x="6858000" y="1691640"/>
          <a:ext cx="4754880" cy="2240280"/>
        </p:xfrm>
        <a:graphic xmlns:a="http://schemas.openxmlformats.org/drawingml/2006/main">
          <a:graphicData uri="http://schemas.openxmlformats.org/drawingml/2006/chart">
            <c:chart xmlns:c="http://schemas.openxmlformats.org/drawingml/2006/chart" r:id="rId2"/>
          </a:graphicData>
        </a:graphic>
      </p:graphicFrame>
      <p:graphicFrame>
        <p:nvGraphicFramePr>
          <p:cNvPr id="12" name="Chart 1" descr=""/>
          <p:cNvGraphicFramePr/>
          <p:nvPr/>
        </p:nvGraphicFramePr>
        <p:xfrm>
          <a:off x="6858000" y="4023360"/>
          <a:ext cx="4754880" cy="2148840"/>
        </p:xfrm>
        <a:graphic xmlns:a="http://schemas.openxmlformats.org/drawingml/2006/main">
          <a:graphicData uri="http://schemas.openxmlformats.org/drawingml/2006/chart">
            <c:chart xmlns:c="http://schemas.openxmlformats.org/drawingml/2006/chart" r:id="rId3"/>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APPLICATION  |  BRANCH ADMIN</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Admin workflows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Staff can manage customers, approve loans and audit every transaction.</a:t>
            </a:r>
            <a:endParaRPr lang="en-US" sz="1600" dirty="0"/>
          </a:p>
        </p:txBody>
      </p:sp>
      <p:sp>
        <p:nvSpPr>
          <p:cNvPr id="5" name="Customers-window"/>
          <p:cNvSpPr/>
          <p:nvPr/>
        </p:nvSpPr>
        <p:spPr>
          <a:xfrm>
            <a:off x="548640" y="1737360"/>
            <a:ext cx="3520440" cy="2199449"/>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6" name="Shape 4"/>
          <p:cNvSpPr/>
          <p:nvPr/>
        </p:nvSpPr>
        <p:spPr>
          <a:xfrm>
            <a:off x="548640" y="1737360"/>
            <a:ext cx="3520440" cy="219456"/>
          </a:xfrm>
          <a:prstGeom prst="rect">
            <a:avLst/>
          </a:prstGeom>
          <a:solidFill>
            <a:srgbClr val="E2E8F0"/>
          </a:solidFill>
          <a:ln/>
        </p:spPr>
      </p:sp>
      <p:sp>
        <p:nvSpPr>
          <p:cNvPr id="7" name="Shape 5"/>
          <p:cNvSpPr/>
          <p:nvPr/>
        </p:nvSpPr>
        <p:spPr>
          <a:xfrm>
            <a:off x="640080" y="1805940"/>
            <a:ext cx="82296" cy="82296"/>
          </a:xfrm>
          <a:prstGeom prst="ellipse">
            <a:avLst/>
          </a:prstGeom>
          <a:solidFill>
            <a:srgbClr val="F87171"/>
          </a:solidFill>
          <a:ln/>
        </p:spPr>
      </p:sp>
      <p:sp>
        <p:nvSpPr>
          <p:cNvPr id="8" name="Shape 6"/>
          <p:cNvSpPr/>
          <p:nvPr/>
        </p:nvSpPr>
        <p:spPr>
          <a:xfrm>
            <a:off x="777240" y="1805940"/>
            <a:ext cx="82296" cy="82296"/>
          </a:xfrm>
          <a:prstGeom prst="ellipse">
            <a:avLst/>
          </a:prstGeom>
          <a:solidFill>
            <a:srgbClr val="FBBF24"/>
          </a:solidFill>
          <a:ln/>
        </p:spPr>
      </p:sp>
      <p:sp>
        <p:nvSpPr>
          <p:cNvPr id="9" name="Shape 7"/>
          <p:cNvSpPr/>
          <p:nvPr/>
        </p:nvSpPr>
        <p:spPr>
          <a:xfrm>
            <a:off x="914400" y="1805940"/>
            <a:ext cx="82296" cy="82296"/>
          </a:xfrm>
          <a:prstGeom prst="ellipse">
            <a:avLst/>
          </a:prstGeom>
          <a:solidFill>
            <a:srgbClr val="34D399"/>
          </a:solidFill>
          <a:ln/>
        </p:spPr>
      </p:sp>
      <p:pic>
        <p:nvPicPr>
          <p:cNvPr id="10" name="Customers" descr="Customers">    </p:cNvPr>
          <p:cNvPicPr>
            <a:picLocks noChangeAspect="1"/>
          </p:cNvPicPr>
          <p:nvPr/>
        </p:nvPicPr>
        <p:blipFill>
          <a:blip r:embed="rId1"/>
          <a:stretch>
            <a:fillRect/>
          </a:stretch>
        </p:blipFill>
        <p:spPr>
          <a:xfrm>
            <a:off x="548640" y="1956816"/>
            <a:ext cx="3520440" cy="1979993"/>
          </a:xfrm>
          <a:prstGeom prst="rect">
            <a:avLst/>
          </a:prstGeom>
        </p:spPr>
      </p:pic>
      <p:sp>
        <p:nvSpPr>
          <p:cNvPr id="11" name="Text 8"/>
          <p:cNvSpPr txBox="1"/>
          <p:nvPr/>
        </p:nvSpPr>
        <p:spPr>
          <a:xfrm>
            <a:off x="548640" y="4119689"/>
            <a:ext cx="3520440" cy="365760"/>
          </a:xfrm>
          <a:prstGeom prst="rect">
            <a:avLst/>
          </a:prstGeom>
          <a:noFill/>
          <a:ln/>
        </p:spPr>
        <p:txBody>
          <a:bodyPr wrap="square" lIns="0" tIns="0" rIns="0" bIns="0" rtlCol="0" anchor="t"/>
          <a:lstStyle/>
          <a:p>
            <a:pPr indent="0" marL="0">
              <a:buNone/>
            </a:pPr>
            <a:r>
              <a:rPr lang="en-US" sz="1700" b="1" dirty="0">
                <a:solidFill>
                  <a:schemeClr val="tx2"/>
                </a:solidFill>
              </a:rPr>
              <a:t>Customers</a:t>
            </a:r>
            <a:endParaRPr lang="en-US" sz="1700" dirty="0"/>
          </a:p>
        </p:txBody>
      </p:sp>
      <p:sp>
        <p:nvSpPr>
          <p:cNvPr id="12" name="Text 9"/>
          <p:cNvSpPr txBox="1"/>
          <p:nvPr/>
        </p:nvSpPr>
        <p:spPr>
          <a:xfrm>
            <a:off x="548640" y="4485449"/>
            <a:ext cx="3520440" cy="640080"/>
          </a:xfrm>
          <a:prstGeom prst="rect">
            <a:avLst/>
          </a:prstGeom>
          <a:noFill/>
          <a:ln/>
        </p:spPr>
        <p:txBody>
          <a:bodyPr wrap="square" lIns="0" tIns="0" rIns="0" bIns="0" rtlCol="0" anchor="t"/>
          <a:lstStyle/>
          <a:p>
            <a:pPr indent="0" marL="0">
              <a:buNone/>
            </a:pPr>
            <a:r>
              <a:rPr lang="en-US" sz="1400" dirty="0">
                <a:solidFill>
                  <a:schemeClr val="accent6"/>
                </a:solidFill>
              </a:rPr>
              <a:t>Search by name, CIF or PAN; onboard, suspend or unlock</a:t>
            </a:r>
            <a:endParaRPr lang="en-US" sz="1400" dirty="0"/>
          </a:p>
        </p:txBody>
      </p:sp>
      <p:sp>
        <p:nvSpPr>
          <p:cNvPr id="13" name="Loan approvals-window"/>
          <p:cNvSpPr/>
          <p:nvPr/>
        </p:nvSpPr>
        <p:spPr>
          <a:xfrm>
            <a:off x="4297680" y="1737360"/>
            <a:ext cx="3520440" cy="2199449"/>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14" name="Shape 11"/>
          <p:cNvSpPr/>
          <p:nvPr/>
        </p:nvSpPr>
        <p:spPr>
          <a:xfrm>
            <a:off x="4297680" y="1737360"/>
            <a:ext cx="3520440" cy="219456"/>
          </a:xfrm>
          <a:prstGeom prst="rect">
            <a:avLst/>
          </a:prstGeom>
          <a:solidFill>
            <a:srgbClr val="E2E8F0"/>
          </a:solidFill>
          <a:ln/>
        </p:spPr>
      </p:sp>
      <p:sp>
        <p:nvSpPr>
          <p:cNvPr id="15" name="Shape 12"/>
          <p:cNvSpPr/>
          <p:nvPr/>
        </p:nvSpPr>
        <p:spPr>
          <a:xfrm>
            <a:off x="4389120" y="1805940"/>
            <a:ext cx="82296" cy="82296"/>
          </a:xfrm>
          <a:prstGeom prst="ellipse">
            <a:avLst/>
          </a:prstGeom>
          <a:solidFill>
            <a:srgbClr val="F87171"/>
          </a:solidFill>
          <a:ln/>
        </p:spPr>
      </p:sp>
      <p:sp>
        <p:nvSpPr>
          <p:cNvPr id="16" name="Shape 13"/>
          <p:cNvSpPr/>
          <p:nvPr/>
        </p:nvSpPr>
        <p:spPr>
          <a:xfrm>
            <a:off x="4526280" y="1805940"/>
            <a:ext cx="82296" cy="82296"/>
          </a:xfrm>
          <a:prstGeom prst="ellipse">
            <a:avLst/>
          </a:prstGeom>
          <a:solidFill>
            <a:srgbClr val="FBBF24"/>
          </a:solidFill>
          <a:ln/>
        </p:spPr>
      </p:sp>
      <p:sp>
        <p:nvSpPr>
          <p:cNvPr id="17" name="Shape 14"/>
          <p:cNvSpPr/>
          <p:nvPr/>
        </p:nvSpPr>
        <p:spPr>
          <a:xfrm>
            <a:off x="4663440" y="1805940"/>
            <a:ext cx="82296" cy="82296"/>
          </a:xfrm>
          <a:prstGeom prst="ellipse">
            <a:avLst/>
          </a:prstGeom>
          <a:solidFill>
            <a:srgbClr val="34D399"/>
          </a:solidFill>
          <a:ln/>
        </p:spPr>
      </p:sp>
      <p:pic>
        <p:nvPicPr>
          <p:cNvPr id="18" name="Loan approvals" descr="Loan approvals">    </p:cNvPr>
          <p:cNvPicPr>
            <a:picLocks noChangeAspect="1"/>
          </p:cNvPicPr>
          <p:nvPr/>
        </p:nvPicPr>
        <p:blipFill>
          <a:blip r:embed="rId2"/>
          <a:stretch>
            <a:fillRect/>
          </a:stretch>
        </p:blipFill>
        <p:spPr>
          <a:xfrm>
            <a:off x="4297680" y="1956816"/>
            <a:ext cx="3520440" cy="1979993"/>
          </a:xfrm>
          <a:prstGeom prst="rect">
            <a:avLst/>
          </a:prstGeom>
        </p:spPr>
      </p:pic>
      <p:sp>
        <p:nvSpPr>
          <p:cNvPr id="19" name="Text 15"/>
          <p:cNvSpPr txBox="1"/>
          <p:nvPr/>
        </p:nvSpPr>
        <p:spPr>
          <a:xfrm>
            <a:off x="4297680" y="4119689"/>
            <a:ext cx="3520440" cy="365760"/>
          </a:xfrm>
          <a:prstGeom prst="rect">
            <a:avLst/>
          </a:prstGeom>
          <a:noFill/>
          <a:ln/>
        </p:spPr>
        <p:txBody>
          <a:bodyPr wrap="square" lIns="0" tIns="0" rIns="0" bIns="0" rtlCol="0" anchor="t"/>
          <a:lstStyle/>
          <a:p>
            <a:pPr indent="0" marL="0">
              <a:buNone/>
            </a:pPr>
            <a:r>
              <a:rPr lang="en-US" sz="1700" b="1" dirty="0">
                <a:solidFill>
                  <a:schemeClr val="tx2"/>
                </a:solidFill>
              </a:rPr>
              <a:t>Loan approvals</a:t>
            </a:r>
            <a:endParaRPr lang="en-US" sz="1700" dirty="0"/>
          </a:p>
        </p:txBody>
      </p:sp>
      <p:sp>
        <p:nvSpPr>
          <p:cNvPr id="20" name="Text 16"/>
          <p:cNvSpPr txBox="1"/>
          <p:nvPr/>
        </p:nvSpPr>
        <p:spPr>
          <a:xfrm>
            <a:off x="4297680" y="4485449"/>
            <a:ext cx="3520440" cy="640080"/>
          </a:xfrm>
          <a:prstGeom prst="rect">
            <a:avLst/>
          </a:prstGeom>
          <a:noFill/>
          <a:ln/>
        </p:spPr>
        <p:txBody>
          <a:bodyPr wrap="square" lIns="0" tIns="0" rIns="0" bIns="0" rtlCol="0" anchor="t"/>
          <a:lstStyle/>
          <a:p>
            <a:pPr indent="0" marL="0">
              <a:buNone/>
            </a:pPr>
            <a:r>
              <a:rPr lang="en-US" sz="1400" dirty="0">
                <a:solidFill>
                  <a:schemeClr val="accent6"/>
                </a:solidFill>
              </a:rPr>
              <a:t>Approve to disburse the loan and charge the processing fee</a:t>
            </a:r>
            <a:endParaRPr lang="en-US" sz="1400" dirty="0"/>
          </a:p>
        </p:txBody>
      </p:sp>
      <p:sp>
        <p:nvSpPr>
          <p:cNvPr id="21" name="Bank-wide ledger-window"/>
          <p:cNvSpPr/>
          <p:nvPr/>
        </p:nvSpPr>
        <p:spPr>
          <a:xfrm>
            <a:off x="8046720" y="1737360"/>
            <a:ext cx="3520440" cy="2199449"/>
          </a:xfrm>
          <a:prstGeom prst="rect">
            <a:avLst/>
          </a:prstGeom>
          <a:solidFill>
            <a:srgbClr val="FFFFFF"/>
          </a:solidFill>
          <a:ln w="9525">
            <a:solidFill>
              <a:srgbClr val="CBD5E1"/>
            </a:solidFill>
            <a:prstDash val="solid"/>
          </a:ln>
          <a:effectLst>
            <a:outerShdw sx="100000" sy="100000" kx="0" ky="0" algn="bl" rotWithShape="0" blurRad="127000" dist="38100" dir="5400000">
              <a:srgbClr val="0F172A">
                <a:alpha val="14000"/>
              </a:srgbClr>
            </a:outerShdw>
          </a:effectLst>
        </p:spPr>
      </p:sp>
      <p:sp>
        <p:nvSpPr>
          <p:cNvPr id="22" name="Shape 18"/>
          <p:cNvSpPr/>
          <p:nvPr/>
        </p:nvSpPr>
        <p:spPr>
          <a:xfrm>
            <a:off x="8046720" y="1737360"/>
            <a:ext cx="3520440" cy="219456"/>
          </a:xfrm>
          <a:prstGeom prst="rect">
            <a:avLst/>
          </a:prstGeom>
          <a:solidFill>
            <a:srgbClr val="E2E8F0"/>
          </a:solidFill>
          <a:ln/>
        </p:spPr>
      </p:sp>
      <p:sp>
        <p:nvSpPr>
          <p:cNvPr id="23" name="Shape 19"/>
          <p:cNvSpPr/>
          <p:nvPr/>
        </p:nvSpPr>
        <p:spPr>
          <a:xfrm>
            <a:off x="8138160" y="1805940"/>
            <a:ext cx="82296" cy="82296"/>
          </a:xfrm>
          <a:prstGeom prst="ellipse">
            <a:avLst/>
          </a:prstGeom>
          <a:solidFill>
            <a:srgbClr val="F87171"/>
          </a:solidFill>
          <a:ln/>
        </p:spPr>
      </p:sp>
      <p:sp>
        <p:nvSpPr>
          <p:cNvPr id="24" name="Shape 20"/>
          <p:cNvSpPr/>
          <p:nvPr/>
        </p:nvSpPr>
        <p:spPr>
          <a:xfrm>
            <a:off x="8275320" y="1805940"/>
            <a:ext cx="82296" cy="82296"/>
          </a:xfrm>
          <a:prstGeom prst="ellipse">
            <a:avLst/>
          </a:prstGeom>
          <a:solidFill>
            <a:srgbClr val="FBBF24"/>
          </a:solidFill>
          <a:ln/>
        </p:spPr>
      </p:sp>
      <p:sp>
        <p:nvSpPr>
          <p:cNvPr id="25" name="Shape 21"/>
          <p:cNvSpPr/>
          <p:nvPr/>
        </p:nvSpPr>
        <p:spPr>
          <a:xfrm>
            <a:off x="8412480" y="1805940"/>
            <a:ext cx="82296" cy="82296"/>
          </a:xfrm>
          <a:prstGeom prst="ellipse">
            <a:avLst/>
          </a:prstGeom>
          <a:solidFill>
            <a:srgbClr val="34D399"/>
          </a:solidFill>
          <a:ln/>
        </p:spPr>
      </p:sp>
      <p:pic>
        <p:nvPicPr>
          <p:cNvPr id="26" name="Bank-wide ledger" descr="Bank-wide ledger">    </p:cNvPr>
          <p:cNvPicPr>
            <a:picLocks noChangeAspect="1"/>
          </p:cNvPicPr>
          <p:nvPr/>
        </p:nvPicPr>
        <p:blipFill>
          <a:blip r:embed="rId3"/>
          <a:stretch>
            <a:fillRect/>
          </a:stretch>
        </p:blipFill>
        <p:spPr>
          <a:xfrm>
            <a:off x="8046720" y="1956816"/>
            <a:ext cx="3520440" cy="1979993"/>
          </a:xfrm>
          <a:prstGeom prst="rect">
            <a:avLst/>
          </a:prstGeom>
        </p:spPr>
      </p:pic>
      <p:sp>
        <p:nvSpPr>
          <p:cNvPr id="27" name="Text 22"/>
          <p:cNvSpPr txBox="1"/>
          <p:nvPr/>
        </p:nvSpPr>
        <p:spPr>
          <a:xfrm>
            <a:off x="8046720" y="4119689"/>
            <a:ext cx="3520440" cy="365760"/>
          </a:xfrm>
          <a:prstGeom prst="rect">
            <a:avLst/>
          </a:prstGeom>
          <a:noFill/>
          <a:ln/>
        </p:spPr>
        <p:txBody>
          <a:bodyPr wrap="square" lIns="0" tIns="0" rIns="0" bIns="0" rtlCol="0" anchor="t"/>
          <a:lstStyle/>
          <a:p>
            <a:pPr indent="0" marL="0">
              <a:buNone/>
            </a:pPr>
            <a:r>
              <a:rPr lang="en-US" sz="1700" b="1" dirty="0">
                <a:solidFill>
                  <a:schemeClr val="tx2"/>
                </a:solidFill>
              </a:rPr>
              <a:t>Bank-wide ledger</a:t>
            </a:r>
            <a:endParaRPr lang="en-US" sz="1700" dirty="0"/>
          </a:p>
        </p:txBody>
      </p:sp>
      <p:sp>
        <p:nvSpPr>
          <p:cNvPr id="28" name="Text 23"/>
          <p:cNvSpPr txBox="1"/>
          <p:nvPr/>
        </p:nvSpPr>
        <p:spPr>
          <a:xfrm>
            <a:off x="8046720" y="4485449"/>
            <a:ext cx="3520440" cy="640080"/>
          </a:xfrm>
          <a:prstGeom prst="rect">
            <a:avLst/>
          </a:prstGeom>
          <a:noFill/>
          <a:ln/>
        </p:spPr>
        <p:txBody>
          <a:bodyPr wrap="square" lIns="0" tIns="0" rIns="0" bIns="0" rtlCol="0" anchor="t"/>
          <a:lstStyle/>
          <a:p>
            <a:pPr indent="0" marL="0">
              <a:buNone/>
            </a:pPr>
            <a:r>
              <a:rPr lang="en-US" sz="1400" dirty="0">
                <a:solidFill>
                  <a:schemeClr val="accent6"/>
                </a:solidFill>
              </a:rPr>
              <a:t>Every posting, filterable by mode, direction and date</a:t>
            </a:r>
            <a:endParaRPr lang="en-US" sz="1400" dirty="0"/>
          </a:p>
        </p:txBody>
      </p:sp>
      <p:sp>
        <p:nvSpPr>
          <p:cNvPr id="29" name="card"/>
          <p:cNvSpPr/>
          <p:nvPr/>
        </p:nvSpPr>
        <p:spPr>
          <a:xfrm>
            <a:off x="548640" y="5166360"/>
            <a:ext cx="11064240" cy="1005840"/>
          </a:xfrm>
          <a:prstGeom prst="roundRect">
            <a:avLst>
              <a:gd name="adj" fmla="val 7273"/>
            </a:avLst>
          </a:prstGeom>
          <a:solidFill>
            <a:srgbClr val="EFF6FF"/>
          </a:solidFill>
          <a:ln/>
        </p:spPr>
      </p:sp>
      <p:sp>
        <p:nvSpPr>
          <p:cNvPr id="30" name="Text 25"/>
          <p:cNvSpPr txBox="1"/>
          <p:nvPr/>
        </p:nvSpPr>
        <p:spPr>
          <a:xfrm>
            <a:off x="777240" y="5349240"/>
            <a:ext cx="10607040" cy="685800"/>
          </a:xfrm>
          <a:prstGeom prst="rect">
            <a:avLst/>
          </a:prstGeom>
          <a:noFill/>
          <a:ln/>
        </p:spPr>
        <p:txBody>
          <a:bodyPr wrap="square" lIns="0" tIns="0" rIns="0" bIns="0" rtlCol="0" anchor="t"/>
          <a:lstStyle/>
          <a:p>
            <a:pPr indent="0" marL="0">
              <a:buNone/>
            </a:pPr>
            <a:r>
              <a:rPr lang="en-US" sz="1400" b="1" dirty="0">
                <a:solidFill>
                  <a:schemeClr val="accent1"/>
                </a:solidFill>
              </a:rPr>
              <a:t>Role-based access:  </a:t>
            </a:r>
            <a:pPr indent="0" marL="0">
              <a:buNone/>
            </a:pPr>
            <a:r>
              <a:rPr lang="en-US" sz="1400" dirty="0">
                <a:solidFill>
                  <a:schemeClr val="tx1"/>
                </a:solidFill>
              </a:rPr>
              <a:t>every /api/admin/** endpoint requires ROLE_ADMIN, and the servlet portal turns admins away, so customers and staff never share screens.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SECURITY</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Security built in</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Defence in depth, from passwords to SQL to HTML output.</a:t>
            </a:r>
            <a:endParaRPr lang="en-US" sz="1600" dirty="0"/>
          </a:p>
        </p:txBody>
      </p:sp>
      <p:sp>
        <p:nvSpPr>
          <p:cNvPr id="5" name="card"/>
          <p:cNvSpPr/>
          <p:nvPr/>
        </p:nvSpPr>
        <p:spPr>
          <a:xfrm>
            <a:off x="548640" y="1783080"/>
            <a:ext cx="2651760" cy="2057400"/>
          </a:xfrm>
          <a:prstGeom prst="roundRect">
            <a:avLst>
              <a:gd name="adj" fmla="val 3556"/>
            </a:avLst>
          </a:prstGeom>
          <a:solidFill>
            <a:schemeClr val="bg1"/>
          </a:solidFill>
          <a:ln w="12700">
            <a:solidFill>
              <a:srgbClr val="E2E8F0"/>
            </a:solidFill>
            <a:prstDash val="solid"/>
          </a:ln>
        </p:spPr>
      </p:sp>
      <p:sp>
        <p:nvSpPr>
          <p:cNvPr id="6" name="icon-bg"/>
          <p:cNvSpPr/>
          <p:nvPr/>
        </p:nvSpPr>
        <p:spPr>
          <a:xfrm>
            <a:off x="804672" y="2039112"/>
            <a:ext cx="530352" cy="530352"/>
          </a:xfrm>
          <a:prstGeom prst="ellipse">
            <a:avLst/>
          </a:prstGeom>
          <a:solidFill>
            <a:schemeClr val="tx2"/>
          </a:solidFill>
          <a:ln/>
        </p:spPr>
      </p:sp>
      <p:pic>
        <p:nvPicPr>
          <p:cNvPr id="7" name="icon-FaKey" descr="preencoded.png">    </p:cNvPr>
          <p:cNvPicPr>
            <a:picLocks noChangeAspect="1"/>
          </p:cNvPicPr>
          <p:nvPr/>
        </p:nvPicPr>
        <p:blipFill>
          <a:blip r:embed="rId1"/>
          <a:stretch>
            <a:fillRect/>
          </a:stretch>
        </p:blipFill>
        <p:spPr>
          <a:xfrm>
            <a:off x="947867" y="2182307"/>
            <a:ext cx="243962" cy="243962"/>
          </a:xfrm>
          <a:prstGeom prst="rect">
            <a:avLst/>
          </a:prstGeom>
        </p:spPr>
      </p:pic>
      <p:sp>
        <p:nvSpPr>
          <p:cNvPr id="8" name="Text 5"/>
          <p:cNvSpPr txBox="1"/>
          <p:nvPr/>
        </p:nvSpPr>
        <p:spPr>
          <a:xfrm>
            <a:off x="804672" y="2697480"/>
            <a:ext cx="2194560" cy="347472"/>
          </a:xfrm>
          <a:prstGeom prst="rect">
            <a:avLst/>
          </a:prstGeom>
          <a:noFill/>
          <a:ln/>
        </p:spPr>
        <p:txBody>
          <a:bodyPr wrap="square" lIns="0" tIns="0" rIns="0" bIns="0" rtlCol="0" anchor="t"/>
          <a:lstStyle/>
          <a:p>
            <a:pPr indent="0" marL="0">
              <a:buNone/>
            </a:pPr>
            <a:r>
              <a:rPr lang="en-US" sz="1600" b="1" dirty="0">
                <a:solidFill>
                  <a:schemeClr val="tx2"/>
                </a:solidFill>
              </a:rPr>
              <a:t>BCrypt hashing</a:t>
            </a:r>
            <a:endParaRPr lang="en-US" sz="1600" dirty="0"/>
          </a:p>
        </p:txBody>
      </p:sp>
      <p:sp>
        <p:nvSpPr>
          <p:cNvPr id="9" name="Text 6"/>
          <p:cNvSpPr txBox="1"/>
          <p:nvPr/>
        </p:nvSpPr>
        <p:spPr>
          <a:xfrm>
            <a:off x="804672" y="3063240"/>
            <a:ext cx="2194560" cy="731520"/>
          </a:xfrm>
          <a:prstGeom prst="rect">
            <a:avLst/>
          </a:prstGeom>
          <a:noFill/>
          <a:ln/>
        </p:spPr>
        <p:txBody>
          <a:bodyPr wrap="square" lIns="0" tIns="0" rIns="0" bIns="0" rtlCol="0" anchor="t"/>
          <a:lstStyle/>
          <a:p>
            <a:pPr indent="0" marL="0">
              <a:buNone/>
            </a:pPr>
            <a:r>
              <a:rPr lang="en-US" sz="1300" dirty="0">
                <a:solidFill>
                  <a:schemeClr val="accent6"/>
                </a:solidFill>
              </a:rPr>
              <a:t>Passwords and 6-digit PINs are never stored in plain text</a:t>
            </a:r>
            <a:endParaRPr lang="en-US" sz="1300" dirty="0"/>
          </a:p>
        </p:txBody>
      </p:sp>
      <p:sp>
        <p:nvSpPr>
          <p:cNvPr id="10" name="card"/>
          <p:cNvSpPr/>
          <p:nvPr/>
        </p:nvSpPr>
        <p:spPr>
          <a:xfrm>
            <a:off x="3355848" y="1783080"/>
            <a:ext cx="2651760" cy="2057400"/>
          </a:xfrm>
          <a:prstGeom prst="roundRect">
            <a:avLst>
              <a:gd name="adj" fmla="val 3556"/>
            </a:avLst>
          </a:prstGeom>
          <a:solidFill>
            <a:schemeClr val="bg1"/>
          </a:solidFill>
          <a:ln w="12700">
            <a:solidFill>
              <a:srgbClr val="E2E8F0"/>
            </a:solidFill>
            <a:prstDash val="solid"/>
          </a:ln>
        </p:spPr>
      </p:sp>
      <p:sp>
        <p:nvSpPr>
          <p:cNvPr id="11" name="icon-bg"/>
          <p:cNvSpPr/>
          <p:nvPr/>
        </p:nvSpPr>
        <p:spPr>
          <a:xfrm>
            <a:off x="3611880" y="2039112"/>
            <a:ext cx="530352" cy="530352"/>
          </a:xfrm>
          <a:prstGeom prst="ellipse">
            <a:avLst/>
          </a:prstGeom>
          <a:solidFill>
            <a:schemeClr val="tx2"/>
          </a:solidFill>
          <a:ln/>
        </p:spPr>
      </p:sp>
      <p:pic>
        <p:nvPicPr>
          <p:cNvPr id="12" name="icon-FaIdCard" descr="preencoded.png">    </p:cNvPr>
          <p:cNvPicPr>
            <a:picLocks noChangeAspect="1"/>
          </p:cNvPicPr>
          <p:nvPr/>
        </p:nvPicPr>
        <p:blipFill>
          <a:blip r:embed="rId2"/>
          <a:stretch>
            <a:fillRect/>
          </a:stretch>
        </p:blipFill>
        <p:spPr>
          <a:xfrm>
            <a:off x="3755075" y="2182307"/>
            <a:ext cx="243962" cy="243962"/>
          </a:xfrm>
          <a:prstGeom prst="rect">
            <a:avLst/>
          </a:prstGeom>
        </p:spPr>
      </p:pic>
      <p:sp>
        <p:nvSpPr>
          <p:cNvPr id="13" name="Text 9"/>
          <p:cNvSpPr txBox="1"/>
          <p:nvPr/>
        </p:nvSpPr>
        <p:spPr>
          <a:xfrm>
            <a:off x="3611880" y="2697480"/>
            <a:ext cx="2194560" cy="347472"/>
          </a:xfrm>
          <a:prstGeom prst="rect">
            <a:avLst/>
          </a:prstGeom>
          <a:noFill/>
          <a:ln/>
        </p:spPr>
        <p:txBody>
          <a:bodyPr wrap="square" lIns="0" tIns="0" rIns="0" bIns="0" rtlCol="0" anchor="t"/>
          <a:lstStyle/>
          <a:p>
            <a:pPr indent="0" marL="0">
              <a:buNone/>
            </a:pPr>
            <a:r>
              <a:rPr lang="en-US" sz="1600" b="1" dirty="0">
                <a:solidFill>
                  <a:schemeClr val="tx2"/>
                </a:solidFill>
              </a:rPr>
              <a:t>JWT + sessions</a:t>
            </a:r>
            <a:endParaRPr lang="en-US" sz="1600" dirty="0"/>
          </a:p>
        </p:txBody>
      </p:sp>
      <p:sp>
        <p:nvSpPr>
          <p:cNvPr id="14" name="Text 10"/>
          <p:cNvSpPr txBox="1"/>
          <p:nvPr/>
        </p:nvSpPr>
        <p:spPr>
          <a:xfrm>
            <a:off x="3611880" y="3063240"/>
            <a:ext cx="2194560" cy="731520"/>
          </a:xfrm>
          <a:prstGeom prst="rect">
            <a:avLst/>
          </a:prstGeom>
          <a:noFill/>
          <a:ln/>
        </p:spPr>
        <p:txBody>
          <a:bodyPr wrap="square" lIns="0" tIns="0" rIns="0" bIns="0" rtlCol="0" anchor="t"/>
          <a:lstStyle/>
          <a:p>
            <a:pPr indent="0" marL="0">
              <a:buNone/>
            </a:pPr>
            <a:r>
              <a:rPr lang="en-US" sz="1300" dirty="0">
                <a:solidFill>
                  <a:schemeClr val="accent6"/>
                </a:solidFill>
              </a:rPr>
              <a:t>Stateless tokens for the API, HttpSession for the portal</a:t>
            </a:r>
            <a:endParaRPr lang="en-US" sz="1300" dirty="0"/>
          </a:p>
        </p:txBody>
      </p:sp>
      <p:sp>
        <p:nvSpPr>
          <p:cNvPr id="15" name="card"/>
          <p:cNvSpPr/>
          <p:nvPr/>
        </p:nvSpPr>
        <p:spPr>
          <a:xfrm>
            <a:off x="6163056" y="1783080"/>
            <a:ext cx="2651760" cy="2057400"/>
          </a:xfrm>
          <a:prstGeom prst="roundRect">
            <a:avLst>
              <a:gd name="adj" fmla="val 3556"/>
            </a:avLst>
          </a:prstGeom>
          <a:solidFill>
            <a:schemeClr val="bg1"/>
          </a:solidFill>
          <a:ln w="12700">
            <a:solidFill>
              <a:srgbClr val="E2E8F0"/>
            </a:solidFill>
            <a:prstDash val="solid"/>
          </a:ln>
        </p:spPr>
      </p:sp>
      <p:sp>
        <p:nvSpPr>
          <p:cNvPr id="16" name="icon-bg"/>
          <p:cNvSpPr/>
          <p:nvPr/>
        </p:nvSpPr>
        <p:spPr>
          <a:xfrm>
            <a:off x="6419088" y="2039112"/>
            <a:ext cx="530352" cy="530352"/>
          </a:xfrm>
          <a:prstGeom prst="ellipse">
            <a:avLst/>
          </a:prstGeom>
          <a:solidFill>
            <a:schemeClr val="tx2"/>
          </a:solidFill>
          <a:ln/>
        </p:spPr>
      </p:sp>
      <p:pic>
        <p:nvPicPr>
          <p:cNvPr id="17" name="icon-FaUserLock" descr="preencoded.png">    </p:cNvPr>
          <p:cNvPicPr>
            <a:picLocks noChangeAspect="1"/>
          </p:cNvPicPr>
          <p:nvPr/>
        </p:nvPicPr>
        <p:blipFill>
          <a:blip r:embed="rId3"/>
          <a:stretch>
            <a:fillRect/>
          </a:stretch>
        </p:blipFill>
        <p:spPr>
          <a:xfrm>
            <a:off x="6562283" y="2182307"/>
            <a:ext cx="243962" cy="243962"/>
          </a:xfrm>
          <a:prstGeom prst="rect">
            <a:avLst/>
          </a:prstGeom>
        </p:spPr>
      </p:pic>
      <p:sp>
        <p:nvSpPr>
          <p:cNvPr id="18" name="Text 13"/>
          <p:cNvSpPr txBox="1"/>
          <p:nvPr/>
        </p:nvSpPr>
        <p:spPr>
          <a:xfrm>
            <a:off x="6419088" y="2697480"/>
            <a:ext cx="2194560" cy="347472"/>
          </a:xfrm>
          <a:prstGeom prst="rect">
            <a:avLst/>
          </a:prstGeom>
          <a:noFill/>
          <a:ln/>
        </p:spPr>
        <p:txBody>
          <a:bodyPr wrap="square" lIns="0" tIns="0" rIns="0" bIns="0" rtlCol="0" anchor="t"/>
          <a:lstStyle/>
          <a:p>
            <a:pPr indent="0" marL="0">
              <a:buNone/>
            </a:pPr>
            <a:r>
              <a:rPr lang="en-US" sz="1600" b="1" dirty="0">
                <a:solidFill>
                  <a:schemeClr val="tx2"/>
                </a:solidFill>
              </a:rPr>
              <a:t>Account lockout</a:t>
            </a:r>
            <a:endParaRPr lang="en-US" sz="1600" dirty="0"/>
          </a:p>
        </p:txBody>
      </p:sp>
      <p:sp>
        <p:nvSpPr>
          <p:cNvPr id="19" name="Text 14"/>
          <p:cNvSpPr txBox="1"/>
          <p:nvPr/>
        </p:nvSpPr>
        <p:spPr>
          <a:xfrm>
            <a:off x="6419088" y="3063240"/>
            <a:ext cx="2194560" cy="731520"/>
          </a:xfrm>
          <a:prstGeom prst="rect">
            <a:avLst/>
          </a:prstGeom>
          <a:noFill/>
          <a:ln/>
        </p:spPr>
        <p:txBody>
          <a:bodyPr wrap="square" lIns="0" tIns="0" rIns="0" bIns="0" rtlCol="0" anchor="t"/>
          <a:lstStyle/>
          <a:p>
            <a:pPr indent="0" marL="0">
              <a:buNone/>
            </a:pPr>
            <a:r>
              <a:rPr lang="en-US" sz="1300" dirty="0">
                <a:solidFill>
                  <a:schemeClr val="accent6"/>
                </a:solidFill>
              </a:rPr>
              <a:t>Locked after repeated failed logins; admin unlock</a:t>
            </a:r>
            <a:endParaRPr lang="en-US" sz="1300" dirty="0"/>
          </a:p>
        </p:txBody>
      </p:sp>
      <p:sp>
        <p:nvSpPr>
          <p:cNvPr id="20" name="card"/>
          <p:cNvSpPr/>
          <p:nvPr/>
        </p:nvSpPr>
        <p:spPr>
          <a:xfrm>
            <a:off x="8970264" y="1783080"/>
            <a:ext cx="2651760" cy="2057400"/>
          </a:xfrm>
          <a:prstGeom prst="roundRect">
            <a:avLst>
              <a:gd name="adj" fmla="val 3556"/>
            </a:avLst>
          </a:prstGeom>
          <a:solidFill>
            <a:schemeClr val="bg1"/>
          </a:solidFill>
          <a:ln w="12700">
            <a:solidFill>
              <a:srgbClr val="E2E8F0"/>
            </a:solidFill>
            <a:prstDash val="solid"/>
          </a:ln>
        </p:spPr>
      </p:sp>
      <p:sp>
        <p:nvSpPr>
          <p:cNvPr id="21" name="icon-bg"/>
          <p:cNvSpPr/>
          <p:nvPr/>
        </p:nvSpPr>
        <p:spPr>
          <a:xfrm>
            <a:off x="9226296" y="2039112"/>
            <a:ext cx="530352" cy="530352"/>
          </a:xfrm>
          <a:prstGeom prst="ellipse">
            <a:avLst/>
          </a:prstGeom>
          <a:solidFill>
            <a:schemeClr val="tx2"/>
          </a:solidFill>
          <a:ln/>
        </p:spPr>
      </p:sp>
      <p:pic>
        <p:nvPicPr>
          <p:cNvPr id="22" name="icon-FaUserShield" descr="preencoded.png">    </p:cNvPr>
          <p:cNvPicPr>
            <a:picLocks noChangeAspect="1"/>
          </p:cNvPicPr>
          <p:nvPr/>
        </p:nvPicPr>
        <p:blipFill>
          <a:blip r:embed="rId4"/>
          <a:stretch>
            <a:fillRect/>
          </a:stretch>
        </p:blipFill>
        <p:spPr>
          <a:xfrm>
            <a:off x="9369491" y="2182307"/>
            <a:ext cx="243962" cy="243962"/>
          </a:xfrm>
          <a:prstGeom prst="rect">
            <a:avLst/>
          </a:prstGeom>
        </p:spPr>
      </p:pic>
      <p:sp>
        <p:nvSpPr>
          <p:cNvPr id="23" name="Text 17"/>
          <p:cNvSpPr txBox="1"/>
          <p:nvPr/>
        </p:nvSpPr>
        <p:spPr>
          <a:xfrm>
            <a:off x="9226296" y="2697480"/>
            <a:ext cx="2194560" cy="347472"/>
          </a:xfrm>
          <a:prstGeom prst="rect">
            <a:avLst/>
          </a:prstGeom>
          <a:noFill/>
          <a:ln/>
        </p:spPr>
        <p:txBody>
          <a:bodyPr wrap="square" lIns="0" tIns="0" rIns="0" bIns="0" rtlCol="0" anchor="t"/>
          <a:lstStyle/>
          <a:p>
            <a:pPr indent="0" marL="0">
              <a:buNone/>
            </a:pPr>
            <a:r>
              <a:rPr lang="en-US" sz="1600" b="1" dirty="0">
                <a:solidFill>
                  <a:schemeClr val="tx2"/>
                </a:solidFill>
              </a:rPr>
              <a:t>Role-based access</a:t>
            </a:r>
            <a:endParaRPr lang="en-US" sz="1600" dirty="0"/>
          </a:p>
        </p:txBody>
      </p:sp>
      <p:sp>
        <p:nvSpPr>
          <p:cNvPr id="24" name="Text 18"/>
          <p:cNvSpPr txBox="1"/>
          <p:nvPr/>
        </p:nvSpPr>
        <p:spPr>
          <a:xfrm>
            <a:off x="9226296" y="3063240"/>
            <a:ext cx="2194560" cy="731520"/>
          </a:xfrm>
          <a:prstGeom prst="rect">
            <a:avLst/>
          </a:prstGeom>
          <a:noFill/>
          <a:ln/>
        </p:spPr>
        <p:txBody>
          <a:bodyPr wrap="square" lIns="0" tIns="0" rIns="0" bIns="0" rtlCol="0" anchor="t"/>
          <a:lstStyle/>
          <a:p>
            <a:pPr indent="0" marL="0">
              <a:buNone/>
            </a:pPr>
            <a:r>
              <a:rPr lang="en-US" sz="1300" dirty="0">
                <a:solidFill>
                  <a:schemeClr val="accent6"/>
                </a:solidFill>
              </a:rPr>
              <a:t>ROLE_ADMIN required for /api/admin/**</a:t>
            </a:r>
            <a:endParaRPr lang="en-US" sz="1300" dirty="0"/>
          </a:p>
        </p:txBody>
      </p:sp>
      <p:sp>
        <p:nvSpPr>
          <p:cNvPr id="25" name="card"/>
          <p:cNvSpPr/>
          <p:nvPr/>
        </p:nvSpPr>
        <p:spPr>
          <a:xfrm>
            <a:off x="548640" y="3995928"/>
            <a:ext cx="2651760" cy="2057400"/>
          </a:xfrm>
          <a:prstGeom prst="roundRect">
            <a:avLst>
              <a:gd name="adj" fmla="val 3556"/>
            </a:avLst>
          </a:prstGeom>
          <a:solidFill>
            <a:schemeClr val="bg1"/>
          </a:solidFill>
          <a:ln w="12700">
            <a:solidFill>
              <a:srgbClr val="E2E8F0"/>
            </a:solidFill>
            <a:prstDash val="solid"/>
          </a:ln>
        </p:spPr>
      </p:sp>
      <p:sp>
        <p:nvSpPr>
          <p:cNvPr id="26" name="icon-bg"/>
          <p:cNvSpPr/>
          <p:nvPr/>
        </p:nvSpPr>
        <p:spPr>
          <a:xfrm>
            <a:off x="804672" y="4251960"/>
            <a:ext cx="530352" cy="530352"/>
          </a:xfrm>
          <a:prstGeom prst="ellipse">
            <a:avLst/>
          </a:prstGeom>
          <a:solidFill>
            <a:schemeClr val="tx2"/>
          </a:solidFill>
          <a:ln/>
        </p:spPr>
      </p:sp>
      <p:pic>
        <p:nvPicPr>
          <p:cNvPr id="27" name="icon-FaDatabase" descr="preencoded.png">    </p:cNvPr>
          <p:cNvPicPr>
            <a:picLocks noChangeAspect="1"/>
          </p:cNvPicPr>
          <p:nvPr/>
        </p:nvPicPr>
        <p:blipFill>
          <a:blip r:embed="rId5"/>
          <a:stretch>
            <a:fillRect/>
          </a:stretch>
        </p:blipFill>
        <p:spPr>
          <a:xfrm>
            <a:off x="947867" y="4395155"/>
            <a:ext cx="243962" cy="243962"/>
          </a:xfrm>
          <a:prstGeom prst="rect">
            <a:avLst/>
          </a:prstGeom>
        </p:spPr>
      </p:pic>
      <p:sp>
        <p:nvSpPr>
          <p:cNvPr id="28" name="Text 21"/>
          <p:cNvSpPr txBox="1"/>
          <p:nvPr/>
        </p:nvSpPr>
        <p:spPr>
          <a:xfrm>
            <a:off x="804672" y="4910328"/>
            <a:ext cx="2194560" cy="347472"/>
          </a:xfrm>
          <a:prstGeom prst="rect">
            <a:avLst/>
          </a:prstGeom>
          <a:noFill/>
          <a:ln/>
        </p:spPr>
        <p:txBody>
          <a:bodyPr wrap="square" lIns="0" tIns="0" rIns="0" bIns="0" rtlCol="0" anchor="t"/>
          <a:lstStyle/>
          <a:p>
            <a:pPr indent="0" marL="0">
              <a:buNone/>
            </a:pPr>
            <a:r>
              <a:rPr lang="en-US" sz="1600" b="1" dirty="0">
                <a:solidFill>
                  <a:schemeClr val="tx2"/>
                </a:solidFill>
              </a:rPr>
              <a:t>SQL injection safe</a:t>
            </a:r>
            <a:endParaRPr lang="en-US" sz="1600" dirty="0"/>
          </a:p>
        </p:txBody>
      </p:sp>
      <p:sp>
        <p:nvSpPr>
          <p:cNvPr id="29" name="Text 22"/>
          <p:cNvSpPr txBox="1"/>
          <p:nvPr/>
        </p:nvSpPr>
        <p:spPr>
          <a:xfrm>
            <a:off x="804672" y="5276088"/>
            <a:ext cx="2194560" cy="731520"/>
          </a:xfrm>
          <a:prstGeom prst="rect">
            <a:avLst/>
          </a:prstGeom>
          <a:noFill/>
          <a:ln/>
        </p:spPr>
        <p:txBody>
          <a:bodyPr wrap="square" lIns="0" tIns="0" rIns="0" bIns="0" rtlCol="0" anchor="t"/>
          <a:lstStyle/>
          <a:p>
            <a:pPr indent="0" marL="0">
              <a:buNone/>
            </a:pPr>
            <a:r>
              <a:rPr lang="en-US" sz="1300" dirty="0">
                <a:solidFill>
                  <a:schemeClr val="accent6"/>
                </a:solidFill>
              </a:rPr>
              <a:t>PreparedStatement and owner-scoped queries</a:t>
            </a:r>
            <a:endParaRPr lang="en-US" sz="1300" dirty="0"/>
          </a:p>
        </p:txBody>
      </p:sp>
      <p:sp>
        <p:nvSpPr>
          <p:cNvPr id="30" name="card"/>
          <p:cNvSpPr/>
          <p:nvPr/>
        </p:nvSpPr>
        <p:spPr>
          <a:xfrm>
            <a:off x="3355848" y="3995928"/>
            <a:ext cx="2651760" cy="2057400"/>
          </a:xfrm>
          <a:prstGeom prst="roundRect">
            <a:avLst>
              <a:gd name="adj" fmla="val 3556"/>
            </a:avLst>
          </a:prstGeom>
          <a:solidFill>
            <a:schemeClr val="bg1"/>
          </a:solidFill>
          <a:ln w="12700">
            <a:solidFill>
              <a:srgbClr val="E2E8F0"/>
            </a:solidFill>
            <a:prstDash val="solid"/>
          </a:ln>
        </p:spPr>
      </p:sp>
      <p:sp>
        <p:nvSpPr>
          <p:cNvPr id="31" name="icon-bg"/>
          <p:cNvSpPr/>
          <p:nvPr/>
        </p:nvSpPr>
        <p:spPr>
          <a:xfrm>
            <a:off x="3611880" y="4251960"/>
            <a:ext cx="530352" cy="530352"/>
          </a:xfrm>
          <a:prstGeom prst="ellipse">
            <a:avLst/>
          </a:prstGeom>
          <a:solidFill>
            <a:schemeClr val="tx2"/>
          </a:solidFill>
          <a:ln/>
        </p:spPr>
      </p:sp>
      <p:pic>
        <p:nvPicPr>
          <p:cNvPr id="32" name="icon-FaCode" descr="preencoded.png">    </p:cNvPr>
          <p:cNvPicPr>
            <a:picLocks noChangeAspect="1"/>
          </p:cNvPicPr>
          <p:nvPr/>
        </p:nvPicPr>
        <p:blipFill>
          <a:blip r:embed="rId6"/>
          <a:stretch>
            <a:fillRect/>
          </a:stretch>
        </p:blipFill>
        <p:spPr>
          <a:xfrm>
            <a:off x="3755075" y="4395155"/>
            <a:ext cx="243962" cy="243962"/>
          </a:xfrm>
          <a:prstGeom prst="rect">
            <a:avLst/>
          </a:prstGeom>
        </p:spPr>
      </p:pic>
      <p:sp>
        <p:nvSpPr>
          <p:cNvPr id="33" name="Text 25"/>
          <p:cNvSpPr txBox="1"/>
          <p:nvPr/>
        </p:nvSpPr>
        <p:spPr>
          <a:xfrm>
            <a:off x="3611880" y="4910328"/>
            <a:ext cx="2194560" cy="347472"/>
          </a:xfrm>
          <a:prstGeom prst="rect">
            <a:avLst/>
          </a:prstGeom>
          <a:noFill/>
          <a:ln/>
        </p:spPr>
        <p:txBody>
          <a:bodyPr wrap="square" lIns="0" tIns="0" rIns="0" bIns="0" rtlCol="0" anchor="t"/>
          <a:lstStyle/>
          <a:p>
            <a:pPr indent="0" marL="0">
              <a:buNone/>
            </a:pPr>
            <a:r>
              <a:rPr lang="en-US" sz="1600" b="1" dirty="0">
                <a:solidFill>
                  <a:schemeClr val="tx2"/>
                </a:solidFill>
              </a:rPr>
              <a:t>XSS safe output</a:t>
            </a:r>
            <a:endParaRPr lang="en-US" sz="1600" dirty="0"/>
          </a:p>
        </p:txBody>
      </p:sp>
      <p:sp>
        <p:nvSpPr>
          <p:cNvPr id="34" name="Text 26"/>
          <p:cNvSpPr txBox="1"/>
          <p:nvPr/>
        </p:nvSpPr>
        <p:spPr>
          <a:xfrm>
            <a:off x="3611880" y="5276088"/>
            <a:ext cx="2194560" cy="731520"/>
          </a:xfrm>
          <a:prstGeom prst="rect">
            <a:avLst/>
          </a:prstGeom>
          <a:noFill/>
          <a:ln/>
        </p:spPr>
        <p:txBody>
          <a:bodyPr wrap="square" lIns="0" tIns="0" rIns="0" bIns="0" rtlCol="0" anchor="t"/>
          <a:lstStyle/>
          <a:p>
            <a:pPr indent="0" marL="0">
              <a:buNone/>
            </a:pPr>
            <a:r>
              <a:rPr lang="en-US" sz="1300" dirty="0">
                <a:solidFill>
                  <a:schemeClr val="accent6"/>
                </a:solidFill>
              </a:rPr>
              <a:t>Html.esc() escapes every dynamic value</a:t>
            </a:r>
            <a:endParaRPr lang="en-US" sz="1300" dirty="0"/>
          </a:p>
        </p:txBody>
      </p:sp>
      <p:sp>
        <p:nvSpPr>
          <p:cNvPr id="35" name="card"/>
          <p:cNvSpPr/>
          <p:nvPr/>
        </p:nvSpPr>
        <p:spPr>
          <a:xfrm>
            <a:off x="6163056" y="3995928"/>
            <a:ext cx="2651760" cy="2057400"/>
          </a:xfrm>
          <a:prstGeom prst="roundRect">
            <a:avLst>
              <a:gd name="adj" fmla="val 3556"/>
            </a:avLst>
          </a:prstGeom>
          <a:solidFill>
            <a:schemeClr val="bg1"/>
          </a:solidFill>
          <a:ln w="12700">
            <a:solidFill>
              <a:srgbClr val="E2E8F0"/>
            </a:solidFill>
            <a:prstDash val="solid"/>
          </a:ln>
        </p:spPr>
      </p:sp>
      <p:sp>
        <p:nvSpPr>
          <p:cNvPr id="36" name="icon-bg"/>
          <p:cNvSpPr/>
          <p:nvPr/>
        </p:nvSpPr>
        <p:spPr>
          <a:xfrm>
            <a:off x="6419088" y="4251960"/>
            <a:ext cx="530352" cy="530352"/>
          </a:xfrm>
          <a:prstGeom prst="ellipse">
            <a:avLst/>
          </a:prstGeom>
          <a:solidFill>
            <a:schemeClr val="tx2"/>
          </a:solidFill>
          <a:ln/>
        </p:spPr>
      </p:sp>
      <p:pic>
        <p:nvPicPr>
          <p:cNvPr id="37" name="icon-FaCookieBite" descr="preencoded.png">    </p:cNvPr>
          <p:cNvPicPr>
            <a:picLocks noChangeAspect="1"/>
          </p:cNvPicPr>
          <p:nvPr/>
        </p:nvPicPr>
        <p:blipFill>
          <a:blip r:embed="rId7"/>
          <a:stretch>
            <a:fillRect/>
          </a:stretch>
        </p:blipFill>
        <p:spPr>
          <a:xfrm>
            <a:off x="6562283" y="4395155"/>
            <a:ext cx="243962" cy="243962"/>
          </a:xfrm>
          <a:prstGeom prst="rect">
            <a:avLst/>
          </a:prstGeom>
        </p:spPr>
      </p:pic>
      <p:sp>
        <p:nvSpPr>
          <p:cNvPr id="38" name="Text 29"/>
          <p:cNvSpPr txBox="1"/>
          <p:nvPr/>
        </p:nvSpPr>
        <p:spPr>
          <a:xfrm>
            <a:off x="6419088" y="4910328"/>
            <a:ext cx="2194560" cy="347472"/>
          </a:xfrm>
          <a:prstGeom prst="rect">
            <a:avLst/>
          </a:prstGeom>
          <a:noFill/>
          <a:ln/>
        </p:spPr>
        <p:txBody>
          <a:bodyPr wrap="square" lIns="0" tIns="0" rIns="0" bIns="0" rtlCol="0" anchor="t"/>
          <a:lstStyle/>
          <a:p>
            <a:pPr indent="0" marL="0">
              <a:buNone/>
            </a:pPr>
            <a:r>
              <a:rPr lang="en-US" sz="1600" b="1" dirty="0">
                <a:solidFill>
                  <a:schemeClr val="tx2"/>
                </a:solidFill>
              </a:rPr>
              <a:t>Secure cookies</a:t>
            </a:r>
            <a:endParaRPr lang="en-US" sz="1600" dirty="0"/>
          </a:p>
        </p:txBody>
      </p:sp>
      <p:sp>
        <p:nvSpPr>
          <p:cNvPr id="39" name="Text 30"/>
          <p:cNvSpPr txBox="1"/>
          <p:nvPr/>
        </p:nvSpPr>
        <p:spPr>
          <a:xfrm>
            <a:off x="6419088" y="5276088"/>
            <a:ext cx="2194560" cy="731520"/>
          </a:xfrm>
          <a:prstGeom prst="rect">
            <a:avLst/>
          </a:prstGeom>
          <a:noFill/>
          <a:ln/>
        </p:spPr>
        <p:txBody>
          <a:bodyPr wrap="square" lIns="0" tIns="0" rIns="0" bIns="0" rtlCol="0" anchor="t"/>
          <a:lstStyle/>
          <a:p>
            <a:pPr indent="0" marL="0">
              <a:buNone/>
            </a:pPr>
            <a:r>
              <a:rPr lang="en-US" sz="1300" dirty="0">
                <a:solidFill>
                  <a:schemeClr val="accent6"/>
                </a:solidFill>
              </a:rPr>
              <a:t>HttpOnly and SameSite=Lax session cookie</a:t>
            </a:r>
            <a:endParaRPr lang="en-US" sz="1300" dirty="0"/>
          </a:p>
        </p:txBody>
      </p:sp>
      <p:sp>
        <p:nvSpPr>
          <p:cNvPr id="40" name="card"/>
          <p:cNvSpPr/>
          <p:nvPr/>
        </p:nvSpPr>
        <p:spPr>
          <a:xfrm>
            <a:off x="8970264" y="3995928"/>
            <a:ext cx="2651760" cy="2057400"/>
          </a:xfrm>
          <a:prstGeom prst="roundRect">
            <a:avLst>
              <a:gd name="adj" fmla="val 3556"/>
            </a:avLst>
          </a:prstGeom>
          <a:solidFill>
            <a:schemeClr val="bg1"/>
          </a:solidFill>
          <a:ln w="12700">
            <a:solidFill>
              <a:srgbClr val="E2E8F0"/>
            </a:solidFill>
            <a:prstDash val="solid"/>
          </a:ln>
        </p:spPr>
      </p:sp>
      <p:sp>
        <p:nvSpPr>
          <p:cNvPr id="41" name="icon-bg"/>
          <p:cNvSpPr/>
          <p:nvPr/>
        </p:nvSpPr>
        <p:spPr>
          <a:xfrm>
            <a:off x="9226296" y="4251960"/>
            <a:ext cx="530352" cy="530352"/>
          </a:xfrm>
          <a:prstGeom prst="ellipse">
            <a:avLst/>
          </a:prstGeom>
          <a:solidFill>
            <a:schemeClr val="tx2"/>
          </a:solidFill>
          <a:ln/>
        </p:spPr>
      </p:sp>
      <p:pic>
        <p:nvPicPr>
          <p:cNvPr id="42" name="icon-FaHourglassHalf" descr="preencoded.png">    </p:cNvPr>
          <p:cNvPicPr>
            <a:picLocks noChangeAspect="1"/>
          </p:cNvPicPr>
          <p:nvPr/>
        </p:nvPicPr>
        <p:blipFill>
          <a:blip r:embed="rId8"/>
          <a:stretch>
            <a:fillRect/>
          </a:stretch>
        </p:blipFill>
        <p:spPr>
          <a:xfrm>
            <a:off x="9369491" y="4395155"/>
            <a:ext cx="243962" cy="243962"/>
          </a:xfrm>
          <a:prstGeom prst="rect">
            <a:avLst/>
          </a:prstGeom>
        </p:spPr>
      </p:pic>
      <p:sp>
        <p:nvSpPr>
          <p:cNvPr id="43" name="Text 33"/>
          <p:cNvSpPr txBox="1"/>
          <p:nvPr/>
        </p:nvSpPr>
        <p:spPr>
          <a:xfrm>
            <a:off x="9226296" y="4910328"/>
            <a:ext cx="2194560" cy="347472"/>
          </a:xfrm>
          <a:prstGeom prst="rect">
            <a:avLst/>
          </a:prstGeom>
          <a:noFill/>
          <a:ln/>
        </p:spPr>
        <p:txBody>
          <a:bodyPr wrap="square" lIns="0" tIns="0" rIns="0" bIns="0" rtlCol="0" anchor="t"/>
          <a:lstStyle/>
          <a:p>
            <a:pPr indent="0" marL="0">
              <a:buNone/>
            </a:pPr>
            <a:r>
              <a:rPr lang="en-US" sz="1600" b="1" dirty="0">
                <a:solidFill>
                  <a:schemeClr val="tx2"/>
                </a:solidFill>
              </a:rPr>
              <a:t>Transfer limits</a:t>
            </a:r>
            <a:endParaRPr lang="en-US" sz="1600" dirty="0"/>
          </a:p>
        </p:txBody>
      </p:sp>
      <p:sp>
        <p:nvSpPr>
          <p:cNvPr id="44" name="Text 34"/>
          <p:cNvSpPr txBox="1"/>
          <p:nvPr/>
        </p:nvSpPr>
        <p:spPr>
          <a:xfrm>
            <a:off x="9226296" y="5276088"/>
            <a:ext cx="2194560" cy="731520"/>
          </a:xfrm>
          <a:prstGeom prst="rect">
            <a:avLst/>
          </a:prstGeom>
          <a:noFill/>
          <a:ln/>
        </p:spPr>
        <p:txBody>
          <a:bodyPr wrap="square" lIns="0" tIns="0" rIns="0" bIns="0" rtlCol="0" anchor="t"/>
          <a:lstStyle/>
          <a:p>
            <a:pPr indent="0" marL="0">
              <a:buNone/>
            </a:pPr>
            <a:r>
              <a:rPr lang="en-US" sz="1300" dirty="0">
                <a:solidFill>
                  <a:schemeClr val="accent6"/>
                </a:solidFill>
              </a:rPr>
              <a:t>Daily, UPI and per-channel caps; 24-hour payee cooling</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TESTING &amp; RESULTS</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Verified by automated tests</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Unit tests for the Java model and end-to-end tests against a real server.</a:t>
            </a:r>
            <a:endParaRPr lang="en-US" sz="1600" dirty="0"/>
          </a:p>
        </p:txBody>
      </p:sp>
      <p:sp>
        <p:nvSpPr>
          <p:cNvPr id="5" name="card"/>
          <p:cNvSpPr/>
          <p:nvPr/>
        </p:nvSpPr>
        <p:spPr>
          <a:xfrm>
            <a:off x="548640" y="1783080"/>
            <a:ext cx="3566160" cy="1234440"/>
          </a:xfrm>
          <a:prstGeom prst="roundRect">
            <a:avLst>
              <a:gd name="adj" fmla="val 5926"/>
            </a:avLst>
          </a:prstGeom>
          <a:solidFill>
            <a:schemeClr val="bg2"/>
          </a:solidFill>
          <a:ln/>
        </p:spPr>
      </p:sp>
      <p:sp>
        <p:nvSpPr>
          <p:cNvPr id="6" name="Text 4"/>
          <p:cNvSpPr txBox="1"/>
          <p:nvPr/>
        </p:nvSpPr>
        <p:spPr>
          <a:xfrm>
            <a:off x="822960" y="1874520"/>
            <a:ext cx="3108960" cy="731520"/>
          </a:xfrm>
          <a:prstGeom prst="rect">
            <a:avLst/>
          </a:prstGeom>
          <a:noFill/>
          <a:ln/>
        </p:spPr>
        <p:txBody>
          <a:bodyPr wrap="square" lIns="0" tIns="0" rIns="0" bIns="0" rtlCol="0" anchor="t"/>
          <a:lstStyle/>
          <a:p>
            <a:pPr indent="0" marL="0">
              <a:buNone/>
            </a:pPr>
            <a:r>
              <a:rPr lang="en-US" sz="4000" b="1" dirty="0">
                <a:solidFill>
                  <a:schemeClr val="accent4"/>
                </a:solidFill>
              </a:rPr>
              <a:t>12 / 12</a:t>
            </a:r>
            <a:endParaRPr lang="en-US" sz="4000" dirty="0"/>
          </a:p>
        </p:txBody>
      </p:sp>
      <p:sp>
        <p:nvSpPr>
          <p:cNvPr id="7" name="Text 5"/>
          <p:cNvSpPr txBox="1"/>
          <p:nvPr/>
        </p:nvSpPr>
        <p:spPr>
          <a:xfrm>
            <a:off x="822960" y="2606040"/>
            <a:ext cx="3108960" cy="320040"/>
          </a:xfrm>
          <a:prstGeom prst="rect">
            <a:avLst/>
          </a:prstGeom>
          <a:noFill/>
          <a:ln/>
        </p:spPr>
        <p:txBody>
          <a:bodyPr wrap="square" lIns="0" tIns="0" rIns="0" bIns="0" rtlCol="0" anchor="t"/>
          <a:lstStyle/>
          <a:p>
            <a:pPr indent="0" marL="0">
              <a:buNone/>
            </a:pPr>
            <a:r>
              <a:rPr lang="en-US" sz="1400" dirty="0">
                <a:solidFill>
                  <a:schemeClr val="accent6"/>
                </a:solidFill>
              </a:rPr>
              <a:t>tests passing</a:t>
            </a:r>
            <a:endParaRPr lang="en-US" sz="1400" dirty="0"/>
          </a:p>
        </p:txBody>
      </p:sp>
      <p:sp>
        <p:nvSpPr>
          <p:cNvPr id="8" name="card"/>
          <p:cNvSpPr/>
          <p:nvPr/>
        </p:nvSpPr>
        <p:spPr>
          <a:xfrm>
            <a:off x="4297680" y="1783080"/>
            <a:ext cx="3566160" cy="1234440"/>
          </a:xfrm>
          <a:prstGeom prst="roundRect">
            <a:avLst>
              <a:gd name="adj" fmla="val 5926"/>
            </a:avLst>
          </a:prstGeom>
          <a:solidFill>
            <a:schemeClr val="bg2"/>
          </a:solidFill>
          <a:ln/>
        </p:spPr>
      </p:sp>
      <p:sp>
        <p:nvSpPr>
          <p:cNvPr id="9" name="Text 7"/>
          <p:cNvSpPr txBox="1"/>
          <p:nvPr/>
        </p:nvSpPr>
        <p:spPr>
          <a:xfrm>
            <a:off x="4572000" y="1874520"/>
            <a:ext cx="3108960" cy="731520"/>
          </a:xfrm>
          <a:prstGeom prst="rect">
            <a:avLst/>
          </a:prstGeom>
          <a:noFill/>
          <a:ln/>
        </p:spPr>
        <p:txBody>
          <a:bodyPr wrap="square" lIns="0" tIns="0" rIns="0" bIns="0" rtlCol="0" anchor="t"/>
          <a:lstStyle/>
          <a:p>
            <a:pPr indent="0" marL="0">
              <a:buNone/>
            </a:pPr>
            <a:r>
              <a:rPr lang="en-US" sz="4000" b="1" dirty="0">
                <a:solidFill>
                  <a:schemeClr val="accent1"/>
                </a:solidFill>
              </a:rPr>
              <a:t>16,000</a:t>
            </a:r>
            <a:endParaRPr lang="en-US" sz="4000" dirty="0"/>
          </a:p>
        </p:txBody>
      </p:sp>
      <p:sp>
        <p:nvSpPr>
          <p:cNvPr id="10" name="Text 8"/>
          <p:cNvSpPr txBox="1"/>
          <p:nvPr/>
        </p:nvSpPr>
        <p:spPr>
          <a:xfrm>
            <a:off x="4572000" y="2606040"/>
            <a:ext cx="3108960" cy="320040"/>
          </a:xfrm>
          <a:prstGeom prst="rect">
            <a:avLst/>
          </a:prstGeom>
          <a:noFill/>
          <a:ln/>
        </p:spPr>
        <p:txBody>
          <a:bodyPr wrap="square" lIns="0" tIns="0" rIns="0" bIns="0" rtlCol="0" anchor="t"/>
          <a:lstStyle/>
          <a:p>
            <a:pPr indent="0" marL="0">
              <a:buNone/>
            </a:pPr>
            <a:r>
              <a:rPr lang="en-US" sz="1400" dirty="0">
                <a:solidFill>
                  <a:schemeClr val="accent6"/>
                </a:solidFill>
              </a:rPr>
              <a:t>concurrent transfers in the stress test</a:t>
            </a:r>
            <a:endParaRPr lang="en-US" sz="1400" dirty="0"/>
          </a:p>
        </p:txBody>
      </p:sp>
      <p:sp>
        <p:nvSpPr>
          <p:cNvPr id="11" name="card"/>
          <p:cNvSpPr/>
          <p:nvPr/>
        </p:nvSpPr>
        <p:spPr>
          <a:xfrm>
            <a:off x="8046720" y="1783080"/>
            <a:ext cx="3566160" cy="1234440"/>
          </a:xfrm>
          <a:prstGeom prst="roundRect">
            <a:avLst>
              <a:gd name="adj" fmla="val 5926"/>
            </a:avLst>
          </a:prstGeom>
          <a:solidFill>
            <a:schemeClr val="bg2"/>
          </a:solidFill>
          <a:ln/>
        </p:spPr>
      </p:sp>
      <p:sp>
        <p:nvSpPr>
          <p:cNvPr id="12" name="Text 10"/>
          <p:cNvSpPr txBox="1"/>
          <p:nvPr/>
        </p:nvSpPr>
        <p:spPr>
          <a:xfrm>
            <a:off x="8321040" y="1874520"/>
            <a:ext cx="3108960" cy="731520"/>
          </a:xfrm>
          <a:prstGeom prst="rect">
            <a:avLst/>
          </a:prstGeom>
          <a:noFill/>
          <a:ln/>
        </p:spPr>
        <p:txBody>
          <a:bodyPr wrap="square" lIns="0" tIns="0" rIns="0" bIns="0" rtlCol="0" anchor="t"/>
          <a:lstStyle/>
          <a:p>
            <a:pPr indent="0" marL="0">
              <a:buNone/>
            </a:pPr>
            <a:r>
              <a:rPr lang="en-US" sz="4000" b="1" dirty="0">
                <a:solidFill>
                  <a:schemeClr val="accent1"/>
                </a:solidFill>
              </a:rPr>
              <a:t>0</a:t>
            </a:r>
            <a:endParaRPr lang="en-US" sz="4000" dirty="0"/>
          </a:p>
        </p:txBody>
      </p:sp>
      <p:sp>
        <p:nvSpPr>
          <p:cNvPr id="13" name="Text 11"/>
          <p:cNvSpPr txBox="1"/>
          <p:nvPr/>
        </p:nvSpPr>
        <p:spPr>
          <a:xfrm>
            <a:off x="8321040" y="2606040"/>
            <a:ext cx="3108960" cy="320040"/>
          </a:xfrm>
          <a:prstGeom prst="rect">
            <a:avLst/>
          </a:prstGeom>
          <a:noFill/>
          <a:ln/>
        </p:spPr>
        <p:txBody>
          <a:bodyPr wrap="square" lIns="0" tIns="0" rIns="0" bIns="0" rtlCol="0" anchor="t"/>
          <a:lstStyle/>
          <a:p>
            <a:pPr indent="0" marL="0">
              <a:buNone/>
            </a:pPr>
            <a:r>
              <a:rPr lang="en-US" sz="1400" dirty="0">
                <a:solidFill>
                  <a:schemeClr val="accent6"/>
                </a:solidFill>
              </a:rPr>
              <a:t>deadlocks or lost rupees</a:t>
            </a:r>
            <a:endParaRPr lang="en-US" sz="1400" dirty="0"/>
          </a:p>
        </p:txBody>
      </p:sp>
      <p:sp>
        <p:nvSpPr>
          <p:cNvPr id="14" name="card"/>
          <p:cNvSpPr/>
          <p:nvPr/>
        </p:nvSpPr>
        <p:spPr>
          <a:xfrm>
            <a:off x="548640" y="3200400"/>
            <a:ext cx="5440680" cy="2971800"/>
          </a:xfrm>
          <a:prstGeom prst="roundRect">
            <a:avLst>
              <a:gd name="adj" fmla="val 2462"/>
            </a:avLst>
          </a:prstGeom>
          <a:solidFill>
            <a:schemeClr val="bg1"/>
          </a:solidFill>
          <a:ln w="12700">
            <a:solidFill>
              <a:srgbClr val="E2E8F0"/>
            </a:solidFill>
            <a:prstDash val="solid"/>
          </a:ln>
        </p:spPr>
      </p:sp>
      <p:sp>
        <p:nvSpPr>
          <p:cNvPr id="15" name="icon-bg"/>
          <p:cNvSpPr/>
          <p:nvPr/>
        </p:nvSpPr>
        <p:spPr>
          <a:xfrm>
            <a:off x="822960" y="3401568"/>
            <a:ext cx="502920" cy="502920"/>
          </a:xfrm>
          <a:prstGeom prst="ellipse">
            <a:avLst/>
          </a:prstGeom>
          <a:solidFill>
            <a:schemeClr val="accent1"/>
          </a:solidFill>
          <a:ln/>
        </p:spPr>
      </p:sp>
      <p:pic>
        <p:nvPicPr>
          <p:cNvPr id="16" name="icon-FaVial" descr="preencoded.png">    </p:cNvPr>
          <p:cNvPicPr>
            <a:picLocks noChangeAspect="1"/>
          </p:cNvPicPr>
          <p:nvPr/>
        </p:nvPicPr>
        <p:blipFill>
          <a:blip r:embed="rId1"/>
          <a:stretch>
            <a:fillRect/>
          </a:stretch>
        </p:blipFill>
        <p:spPr>
          <a:xfrm>
            <a:off x="958748" y="3537356"/>
            <a:ext cx="231343" cy="231343"/>
          </a:xfrm>
          <a:prstGeom prst="rect">
            <a:avLst/>
          </a:prstGeom>
        </p:spPr>
      </p:pic>
      <p:sp>
        <p:nvSpPr>
          <p:cNvPr id="17" name="Text 14"/>
          <p:cNvSpPr txBox="1"/>
          <p:nvPr/>
        </p:nvSpPr>
        <p:spPr>
          <a:xfrm>
            <a:off x="1463040" y="3493008"/>
            <a:ext cx="4389120" cy="365760"/>
          </a:xfrm>
          <a:prstGeom prst="rect">
            <a:avLst/>
          </a:prstGeom>
          <a:noFill/>
          <a:ln/>
        </p:spPr>
        <p:txBody>
          <a:bodyPr wrap="square" lIns="0" tIns="0" rIns="0" bIns="0" rtlCol="0" anchor="t"/>
          <a:lstStyle/>
          <a:p>
            <a:pPr indent="0" marL="0">
              <a:buNone/>
            </a:pPr>
            <a:r>
              <a:rPr lang="en-US" sz="1600" b="1" dirty="0">
                <a:solidFill>
                  <a:schemeClr val="tx2"/>
                </a:solidFill>
              </a:rPr>
              <a:t>BankAccountTest  (unit)</a:t>
            </a:r>
            <a:endParaRPr lang="en-US" sz="1600" dirty="0"/>
          </a:p>
        </p:txBody>
      </p:sp>
      <p:sp>
        <p:nvSpPr>
          <p:cNvPr id="18" name="Text 15"/>
          <p:cNvSpPr txBox="1"/>
          <p:nvPr/>
        </p:nvSpPr>
        <p:spPr>
          <a:xfrm>
            <a:off x="868680" y="411480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Factory builds the right subclass; interest is polymorphic</a:t>
            </a:r>
            <a:endParaRPr lang="en-US" sz="1400" dirty="0"/>
          </a:p>
          <a:p>
            <a:pPr marL="342900" indent="-342900">
              <a:spcAft>
                <a:spcPts val="600"/>
              </a:spcAft>
              <a:buSzPct val="100000"/>
              <a:buChar char="•"/>
            </a:pPr>
            <a:r>
              <a:rPr lang="en-US" sz="1400" dirty="0">
                <a:solidFill>
                  <a:schemeClr val="tx1"/>
                </a:solidFill>
              </a:rPr>
              <a:t>Overdraft, bad amount and frozen account throw exceptions</a:t>
            </a:r>
            <a:endParaRPr lang="en-US" sz="1400" dirty="0"/>
          </a:p>
          <a:p>
            <a:pPr marL="342900" indent="-342900">
              <a:spcAft>
                <a:spcPts val="600"/>
              </a:spcAft>
              <a:buSzPct val="100000"/>
              <a:buChar char="•"/>
            </a:pPr>
            <a:r>
              <a:rPr lang="en-US" sz="1400" dirty="0">
                <a:solidFill>
                  <a:schemeClr val="tx1"/>
                </a:solidFill>
              </a:rPr>
              <a:t>A failed transfer leaves both balances unchanged</a:t>
            </a:r>
            <a:endParaRPr lang="en-US" sz="1400" dirty="0"/>
          </a:p>
          <a:p>
            <a:pPr marL="342900" indent="-342900">
              <a:spcAft>
                <a:spcPts val="600"/>
              </a:spcAft>
              <a:buSzPct val="100000"/>
              <a:buChar char="•"/>
            </a:pPr>
            <a:r>
              <a:rPr lang="en-US" sz="1400" dirty="0">
                <a:solidFill>
                  <a:schemeClr val="tx1"/>
                </a:solidFill>
              </a:rPr>
              <a:t>8-thread stress test: total conserved, no deadlock</a:t>
            </a:r>
            <a:endParaRPr lang="en-US" sz="1400" dirty="0"/>
          </a:p>
        </p:txBody>
      </p:sp>
      <p:sp>
        <p:nvSpPr>
          <p:cNvPr id="19" name="card"/>
          <p:cNvSpPr/>
          <p:nvPr/>
        </p:nvSpPr>
        <p:spPr>
          <a:xfrm>
            <a:off x="6172200" y="3200400"/>
            <a:ext cx="5440680" cy="2971800"/>
          </a:xfrm>
          <a:prstGeom prst="roundRect">
            <a:avLst>
              <a:gd name="adj" fmla="val 2462"/>
            </a:avLst>
          </a:prstGeom>
          <a:solidFill>
            <a:schemeClr val="bg1"/>
          </a:solidFill>
          <a:ln w="12700">
            <a:solidFill>
              <a:srgbClr val="E2E8F0"/>
            </a:solidFill>
            <a:prstDash val="solid"/>
          </a:ln>
        </p:spPr>
      </p:sp>
      <p:sp>
        <p:nvSpPr>
          <p:cNvPr id="20" name="icon-bg"/>
          <p:cNvSpPr/>
          <p:nvPr/>
        </p:nvSpPr>
        <p:spPr>
          <a:xfrm>
            <a:off x="6446520" y="3401568"/>
            <a:ext cx="502920" cy="502920"/>
          </a:xfrm>
          <a:prstGeom prst="ellipse">
            <a:avLst/>
          </a:prstGeom>
          <a:solidFill>
            <a:schemeClr val="accent1"/>
          </a:solidFill>
          <a:ln/>
        </p:spPr>
      </p:sp>
      <p:pic>
        <p:nvPicPr>
          <p:cNvPr id="21" name="icon-FaServer" descr="preencoded.png">    </p:cNvPr>
          <p:cNvPicPr>
            <a:picLocks noChangeAspect="1"/>
          </p:cNvPicPr>
          <p:nvPr/>
        </p:nvPicPr>
        <p:blipFill>
          <a:blip r:embed="rId2"/>
          <a:stretch>
            <a:fillRect/>
          </a:stretch>
        </p:blipFill>
        <p:spPr>
          <a:xfrm>
            <a:off x="6582308" y="3537356"/>
            <a:ext cx="231343" cy="231343"/>
          </a:xfrm>
          <a:prstGeom prst="rect">
            <a:avLst/>
          </a:prstGeom>
        </p:spPr>
      </p:pic>
      <p:sp>
        <p:nvSpPr>
          <p:cNvPr id="22" name="Text 18"/>
          <p:cNvSpPr txBox="1"/>
          <p:nvPr/>
        </p:nvSpPr>
        <p:spPr>
          <a:xfrm>
            <a:off x="7086600" y="3493008"/>
            <a:ext cx="4389120" cy="365760"/>
          </a:xfrm>
          <a:prstGeom prst="rect">
            <a:avLst/>
          </a:prstGeom>
          <a:noFill/>
          <a:ln/>
        </p:spPr>
        <p:txBody>
          <a:bodyPr wrap="square" lIns="0" tIns="0" rIns="0" bIns="0" rtlCol="0" anchor="t"/>
          <a:lstStyle/>
          <a:p>
            <a:pPr indent="0" marL="0">
              <a:buNone/>
            </a:pPr>
            <a:r>
              <a:rPr lang="en-US" sz="1600" b="1" dirty="0">
                <a:solidFill>
                  <a:schemeClr val="tx2"/>
                </a:solidFill>
              </a:rPr>
              <a:t>ServletPortalIntegrationTest  (end-to-end)</a:t>
            </a:r>
            <a:endParaRPr lang="en-US" sz="1600" dirty="0"/>
          </a:p>
        </p:txBody>
      </p:sp>
      <p:sp>
        <p:nvSpPr>
          <p:cNvPr id="23" name="Text 19"/>
          <p:cNvSpPr txBox="1"/>
          <p:nvPr/>
        </p:nvSpPr>
        <p:spPr>
          <a:xfrm>
            <a:off x="6492240" y="4114800"/>
            <a:ext cx="493776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Starts the real server on H2 with demo data</a:t>
            </a:r>
            <a:endParaRPr lang="en-US" sz="1400" dirty="0"/>
          </a:p>
          <a:p>
            <a:pPr marL="342900" indent="-342900">
              <a:spcAft>
                <a:spcPts val="600"/>
              </a:spcAft>
              <a:buSzPct val="100000"/>
              <a:buChar char="•"/>
            </a:pPr>
            <a:r>
              <a:rPr lang="en-US" sz="1400" dirty="0">
                <a:solidFill>
                  <a:schemeClr val="tx1"/>
                </a:solidFill>
              </a:rPr>
              <a:t>Login, logout and redirect when not signed in</a:t>
            </a:r>
            <a:endParaRPr lang="en-US" sz="1400" dirty="0"/>
          </a:p>
          <a:p>
            <a:pPr marL="342900" indent="-342900">
              <a:spcAft>
                <a:spcPts val="600"/>
              </a:spcAft>
              <a:buSzPct val="100000"/>
              <a:buChar char="•"/>
            </a:pPr>
            <a:r>
              <a:rPr lang="en-US" sz="1400" dirty="0">
                <a:solidFill>
                  <a:schemeClr val="tx1"/>
                </a:solidFill>
              </a:rPr>
              <a:t>400 for bad input, 404 for another customer's account</a:t>
            </a:r>
            <a:endParaRPr lang="en-US" sz="1400" dirty="0"/>
          </a:p>
          <a:p>
            <a:pPr marL="342900" indent="-342900">
              <a:spcAft>
                <a:spcPts val="600"/>
              </a:spcAft>
              <a:buSzPct val="100000"/>
              <a:buChar char="•"/>
            </a:pPr>
            <a:r>
              <a:rPr lang="en-US" sz="1400" dirty="0">
                <a:solidFill>
                  <a:schemeClr val="tx1"/>
                </a:solidFill>
              </a:rPr>
              <a:t>DAOs, audit batch and threaded report all checked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256032"/>
          </a:xfrm>
          <a:prstGeom prst="rect">
            <a:avLst/>
          </a:prstGeom>
          <a:noFill/>
          <a:ln/>
        </p:spPr>
        <p:txBody>
          <a:bodyPr wrap="square" lIns="0" tIns="0" rIns="0" bIns="0" rtlCol="0"/>
          <a:lstStyle/>
          <a:p>
            <a:pPr algn="l" indent="0" marL="0">
              <a:buNone/>
            </a:pPr>
            <a:r>
              <a:rPr lang="en-US" sz="1200" b="1" spc="200" kern="0" dirty="0">
                <a:solidFill>
                  <a:schemeClr val="accent1"/>
                </a:solidFill>
              </a:rPr>
              <a:t>LEARNINGS</a:t>
            </a:r>
            <a:endParaRPr lang="en-US" sz="1200" dirty="0"/>
          </a:p>
        </p:txBody>
      </p:sp>
      <p:sp>
        <p:nvSpPr>
          <p:cNvPr id="3" name="Text 0"/>
          <p:cNvSpPr/>
          <p:nvPr>
            <p:ph idx="101" type="title" hasCustomPrompt="1"/>
          </p:nvPr>
        </p:nvSpPr>
        <p:spPr>
          <a:xfrm>
            <a:off x="548640" y="603504"/>
            <a:ext cx="11064240" cy="548640"/>
          </a:xfrm>
          <a:prstGeom prst="rect">
            <a:avLst/>
          </a:prstGeom>
          <a:noFill/>
          <a:ln/>
        </p:spPr>
        <p:txBody>
          <a:bodyPr wrap="square" lIns="0" tIns="0" rIns="0" bIns="0" rtlCol="0" anchor="t"/>
          <a:lstStyle/>
          <a:p>
            <a:pPr algn="l" indent="0" marL="0">
              <a:buNone/>
            </a:pPr>
            <a:r>
              <a:rPr lang="en-US" sz="3000" b="1" dirty="0">
                <a:solidFill>
                  <a:schemeClr val="tx2"/>
                </a:solidFill>
              </a:rPr>
              <a:t>Challenges &amp; future scope</a:t>
            </a:r>
            <a:endParaRPr lang="en-US" sz="3000" dirty="0"/>
          </a:p>
        </p:txBody>
      </p:sp>
      <p:sp>
        <p:nvSpPr>
          <p:cNvPr id="4" name="Text 0"/>
          <p:cNvSpPr/>
          <p:nvPr>
            <p:ph idx="102" type="body" hasCustomPrompt="1"/>
          </p:nvPr>
        </p:nvSpPr>
        <p:spPr>
          <a:xfrm>
            <a:off x="548640" y="1188720"/>
            <a:ext cx="11064240" cy="347472"/>
          </a:xfrm>
          <a:prstGeom prst="rect">
            <a:avLst/>
          </a:prstGeom>
          <a:noFill/>
          <a:ln/>
        </p:spPr>
        <p:txBody>
          <a:bodyPr wrap="square" lIns="0" tIns="0" rIns="0" bIns="0" rtlCol="0" anchor="t"/>
          <a:lstStyle/>
          <a:p>
            <a:pPr algn="l" indent="0" marL="0">
              <a:buNone/>
            </a:pPr>
            <a:r>
              <a:rPr lang="en-US" sz="1600" dirty="0">
                <a:solidFill>
                  <a:schemeClr val="accent6"/>
                </a:solidFill>
              </a:rPr>
              <a:t>What was hard, how it was solved, and where the project can go next.</a:t>
            </a:r>
            <a:endParaRPr lang="en-US" sz="1600" dirty="0"/>
          </a:p>
        </p:txBody>
      </p:sp>
      <p:sp>
        <p:nvSpPr>
          <p:cNvPr id="5" name="Text 3"/>
          <p:cNvSpPr txBox="1"/>
          <p:nvPr/>
        </p:nvSpPr>
        <p:spPr>
          <a:xfrm>
            <a:off x="548640" y="1783080"/>
            <a:ext cx="6400800" cy="365760"/>
          </a:xfrm>
          <a:prstGeom prst="rect">
            <a:avLst/>
          </a:prstGeom>
          <a:noFill/>
          <a:ln/>
        </p:spPr>
        <p:txBody>
          <a:bodyPr wrap="square" lIns="0" tIns="0" rIns="0" bIns="0" rtlCol="0" anchor="t"/>
          <a:lstStyle/>
          <a:p>
            <a:pPr indent="0" marL="0">
              <a:buNone/>
            </a:pPr>
            <a:r>
              <a:rPr lang="en-US" sz="1800" b="1" dirty="0">
                <a:solidFill>
                  <a:schemeClr val="tx2"/>
                </a:solidFill>
              </a:rPr>
              <a:t>Challenges and solutions</a:t>
            </a:r>
            <a:endParaRPr lang="en-US" sz="1800" dirty="0"/>
          </a:p>
        </p:txBody>
      </p:sp>
      <p:sp>
        <p:nvSpPr>
          <p:cNvPr id="6" name="card"/>
          <p:cNvSpPr/>
          <p:nvPr/>
        </p:nvSpPr>
        <p:spPr>
          <a:xfrm>
            <a:off x="548640" y="2240280"/>
            <a:ext cx="6949440" cy="868680"/>
          </a:xfrm>
          <a:prstGeom prst="roundRect">
            <a:avLst>
              <a:gd name="adj" fmla="val 8421"/>
            </a:avLst>
          </a:prstGeom>
          <a:solidFill>
            <a:schemeClr val="bg2"/>
          </a:solidFill>
          <a:ln/>
        </p:spPr>
      </p:sp>
      <p:sp>
        <p:nvSpPr>
          <p:cNvPr id="7" name="Text 5"/>
          <p:cNvSpPr txBox="1"/>
          <p:nvPr/>
        </p:nvSpPr>
        <p:spPr>
          <a:xfrm>
            <a:off x="777240" y="2359152"/>
            <a:ext cx="3108960" cy="640080"/>
          </a:xfrm>
          <a:prstGeom prst="rect">
            <a:avLst/>
          </a:prstGeom>
          <a:noFill/>
          <a:ln/>
        </p:spPr>
        <p:txBody>
          <a:bodyPr wrap="square" lIns="0" tIns="0" rIns="0" bIns="0" rtlCol="0" anchor="ctr"/>
          <a:lstStyle/>
          <a:p>
            <a:pPr indent="0" marL="0">
              <a:buNone/>
            </a:pPr>
            <a:r>
              <a:rPr lang="en-US" sz="1400" b="1" dirty="0">
                <a:solidFill>
                  <a:schemeClr val="tx1"/>
                </a:solidFill>
              </a:rPr>
              <a:t>Concurrent transfers could overdraw or deadlock</a:t>
            </a:r>
            <a:endParaRPr lang="en-US" sz="1400" dirty="0"/>
          </a:p>
        </p:txBody>
      </p:sp>
      <p:sp>
        <p:nvSpPr>
          <p:cNvPr id="8" name="Shape 6"/>
          <p:cNvSpPr/>
          <p:nvPr/>
        </p:nvSpPr>
        <p:spPr>
          <a:xfrm>
            <a:off x="3977640" y="2670048"/>
            <a:ext cx="365760" cy="0"/>
          </a:xfrm>
          <a:prstGeom prst="line">
            <a:avLst/>
          </a:prstGeom>
          <a:noFill/>
          <a:ln w="22225">
            <a:solidFill>
              <a:schemeClr val="accent1"/>
            </a:solidFill>
            <a:prstDash val="solid"/>
            <a:tailEnd type="triangle"/>
          </a:ln>
        </p:spPr>
      </p:sp>
      <p:sp>
        <p:nvSpPr>
          <p:cNvPr id="9" name="Text 7"/>
          <p:cNvSpPr txBox="1"/>
          <p:nvPr/>
        </p:nvSpPr>
        <p:spPr>
          <a:xfrm>
            <a:off x="4480560" y="2359152"/>
            <a:ext cx="2880360" cy="640080"/>
          </a:xfrm>
          <a:prstGeom prst="rect">
            <a:avLst/>
          </a:prstGeom>
          <a:noFill/>
          <a:ln/>
        </p:spPr>
        <p:txBody>
          <a:bodyPr wrap="square" lIns="0" tIns="0" rIns="0" bIns="0" rtlCol="0" anchor="ctr"/>
          <a:lstStyle/>
          <a:p>
            <a:pPr indent="0" marL="0">
              <a:buNone/>
            </a:pPr>
            <a:r>
              <a:rPr lang="en-US" sz="1400" dirty="0">
                <a:solidFill>
                  <a:schemeClr val="accent6"/>
                </a:solidFill>
              </a:rPr>
              <a:t>Row locks and synchronized blocks taken in a fixed order</a:t>
            </a:r>
            <a:endParaRPr lang="en-US" sz="1400" dirty="0"/>
          </a:p>
        </p:txBody>
      </p:sp>
      <p:sp>
        <p:nvSpPr>
          <p:cNvPr id="10" name="card"/>
          <p:cNvSpPr/>
          <p:nvPr/>
        </p:nvSpPr>
        <p:spPr>
          <a:xfrm>
            <a:off x="548640" y="3227832"/>
            <a:ext cx="6949440" cy="868680"/>
          </a:xfrm>
          <a:prstGeom prst="roundRect">
            <a:avLst>
              <a:gd name="adj" fmla="val 8421"/>
            </a:avLst>
          </a:prstGeom>
          <a:solidFill>
            <a:schemeClr val="bg2"/>
          </a:solidFill>
          <a:ln/>
        </p:spPr>
      </p:sp>
      <p:sp>
        <p:nvSpPr>
          <p:cNvPr id="11" name="Text 9"/>
          <p:cNvSpPr txBox="1"/>
          <p:nvPr/>
        </p:nvSpPr>
        <p:spPr>
          <a:xfrm>
            <a:off x="777240" y="3346704"/>
            <a:ext cx="3108960" cy="640080"/>
          </a:xfrm>
          <a:prstGeom prst="rect">
            <a:avLst/>
          </a:prstGeom>
          <a:noFill/>
          <a:ln/>
        </p:spPr>
        <p:txBody>
          <a:bodyPr wrap="square" lIns="0" tIns="0" rIns="0" bIns="0" rtlCol="0" anchor="ctr"/>
          <a:lstStyle/>
          <a:p>
            <a:pPr indent="0" marL="0">
              <a:buNone/>
            </a:pPr>
            <a:r>
              <a:rPr lang="en-US" sz="1400" b="1" dirty="0">
                <a:solidFill>
                  <a:schemeClr val="tx1"/>
                </a:solidFill>
              </a:rPr>
              <a:t>Audit logging slowed down every page</a:t>
            </a:r>
            <a:endParaRPr lang="en-US" sz="1400" dirty="0"/>
          </a:p>
        </p:txBody>
      </p:sp>
      <p:sp>
        <p:nvSpPr>
          <p:cNvPr id="12" name="Shape 10"/>
          <p:cNvSpPr/>
          <p:nvPr/>
        </p:nvSpPr>
        <p:spPr>
          <a:xfrm>
            <a:off x="3977640" y="3657600"/>
            <a:ext cx="365760" cy="0"/>
          </a:xfrm>
          <a:prstGeom prst="line">
            <a:avLst/>
          </a:prstGeom>
          <a:noFill/>
          <a:ln w="22225">
            <a:solidFill>
              <a:schemeClr val="accent1"/>
            </a:solidFill>
            <a:prstDash val="solid"/>
            <a:tailEnd type="triangle"/>
          </a:ln>
        </p:spPr>
      </p:sp>
      <p:sp>
        <p:nvSpPr>
          <p:cNvPr id="13" name="Text 11"/>
          <p:cNvSpPr txBox="1"/>
          <p:nvPr/>
        </p:nvSpPr>
        <p:spPr>
          <a:xfrm>
            <a:off x="4480560" y="3346704"/>
            <a:ext cx="2880360" cy="640080"/>
          </a:xfrm>
          <a:prstGeom prst="rect">
            <a:avLst/>
          </a:prstGeom>
          <a:noFill/>
          <a:ln/>
        </p:spPr>
        <p:txBody>
          <a:bodyPr wrap="square" lIns="0" tIns="0" rIns="0" bIns="0" rtlCol="0" anchor="ctr"/>
          <a:lstStyle/>
          <a:p>
            <a:pPr indent="0" marL="0">
              <a:buNone/>
            </a:pPr>
            <a:r>
              <a:rPr lang="en-US" sz="1400" dirty="0">
                <a:solidFill>
                  <a:schemeClr val="accent6"/>
                </a:solidFill>
              </a:rPr>
              <a:t>Producer-consumer queue with batched JDBC inserts</a:t>
            </a:r>
            <a:endParaRPr lang="en-US" sz="1400" dirty="0"/>
          </a:p>
        </p:txBody>
      </p:sp>
      <p:sp>
        <p:nvSpPr>
          <p:cNvPr id="14" name="card"/>
          <p:cNvSpPr/>
          <p:nvPr/>
        </p:nvSpPr>
        <p:spPr>
          <a:xfrm>
            <a:off x="548640" y="4215384"/>
            <a:ext cx="6949440" cy="868680"/>
          </a:xfrm>
          <a:prstGeom prst="roundRect">
            <a:avLst>
              <a:gd name="adj" fmla="val 8421"/>
            </a:avLst>
          </a:prstGeom>
          <a:solidFill>
            <a:schemeClr val="bg2"/>
          </a:solidFill>
          <a:ln/>
        </p:spPr>
      </p:sp>
      <p:sp>
        <p:nvSpPr>
          <p:cNvPr id="15" name="Text 13"/>
          <p:cNvSpPr txBox="1"/>
          <p:nvPr/>
        </p:nvSpPr>
        <p:spPr>
          <a:xfrm>
            <a:off x="777240" y="4334256"/>
            <a:ext cx="3108960" cy="640080"/>
          </a:xfrm>
          <a:prstGeom prst="rect">
            <a:avLst/>
          </a:prstGeom>
          <a:noFill/>
          <a:ln/>
        </p:spPr>
        <p:txBody>
          <a:bodyPr wrap="square" lIns="0" tIns="0" rIns="0" bIns="0" rtlCol="0" anchor="ctr"/>
          <a:lstStyle/>
          <a:p>
            <a:pPr indent="0" marL="0">
              <a:buNone/>
            </a:pPr>
            <a:r>
              <a:rPr lang="en-US" sz="1400" b="1" dirty="0">
                <a:solidFill>
                  <a:schemeClr val="tx1"/>
                </a:solidFill>
              </a:rPr>
              <a:t>Customers guessing other account ids</a:t>
            </a:r>
            <a:endParaRPr lang="en-US" sz="1400" dirty="0"/>
          </a:p>
        </p:txBody>
      </p:sp>
      <p:sp>
        <p:nvSpPr>
          <p:cNvPr id="16" name="Shape 14"/>
          <p:cNvSpPr/>
          <p:nvPr/>
        </p:nvSpPr>
        <p:spPr>
          <a:xfrm>
            <a:off x="3977640" y="4645152"/>
            <a:ext cx="365760" cy="0"/>
          </a:xfrm>
          <a:prstGeom prst="line">
            <a:avLst/>
          </a:prstGeom>
          <a:noFill/>
          <a:ln w="22225">
            <a:solidFill>
              <a:schemeClr val="accent1"/>
            </a:solidFill>
            <a:prstDash val="solid"/>
            <a:tailEnd type="triangle"/>
          </a:ln>
        </p:spPr>
      </p:sp>
      <p:sp>
        <p:nvSpPr>
          <p:cNvPr id="17" name="Text 15"/>
          <p:cNvSpPr txBox="1"/>
          <p:nvPr/>
        </p:nvSpPr>
        <p:spPr>
          <a:xfrm>
            <a:off x="4480560" y="4334256"/>
            <a:ext cx="2880360" cy="640080"/>
          </a:xfrm>
          <a:prstGeom prst="rect">
            <a:avLst/>
          </a:prstGeom>
          <a:noFill/>
          <a:ln/>
        </p:spPr>
        <p:txBody>
          <a:bodyPr wrap="square" lIns="0" tIns="0" rIns="0" bIns="0" rtlCol="0" anchor="ctr"/>
          <a:lstStyle/>
          <a:p>
            <a:pPr indent="0" marL="0">
              <a:buNone/>
            </a:pPr>
            <a:r>
              <a:rPr lang="en-US" sz="1400" dirty="0">
                <a:solidFill>
                  <a:schemeClr val="accent6"/>
                </a:solidFill>
              </a:rPr>
              <a:t>Ownership check inside the SQL WHERE clause</a:t>
            </a:r>
            <a:endParaRPr lang="en-US" sz="1400" dirty="0"/>
          </a:p>
        </p:txBody>
      </p:sp>
      <p:sp>
        <p:nvSpPr>
          <p:cNvPr id="18" name="card"/>
          <p:cNvSpPr/>
          <p:nvPr/>
        </p:nvSpPr>
        <p:spPr>
          <a:xfrm>
            <a:off x="548640" y="5202936"/>
            <a:ext cx="6949440" cy="868680"/>
          </a:xfrm>
          <a:prstGeom prst="roundRect">
            <a:avLst>
              <a:gd name="adj" fmla="val 8421"/>
            </a:avLst>
          </a:prstGeom>
          <a:solidFill>
            <a:schemeClr val="bg2"/>
          </a:solidFill>
          <a:ln/>
        </p:spPr>
      </p:sp>
      <p:sp>
        <p:nvSpPr>
          <p:cNvPr id="19" name="Text 17"/>
          <p:cNvSpPr txBox="1"/>
          <p:nvPr/>
        </p:nvSpPr>
        <p:spPr>
          <a:xfrm>
            <a:off x="777240" y="5321808"/>
            <a:ext cx="3108960" cy="640080"/>
          </a:xfrm>
          <a:prstGeom prst="rect">
            <a:avLst/>
          </a:prstGeom>
          <a:noFill/>
          <a:ln/>
        </p:spPr>
        <p:txBody>
          <a:bodyPr wrap="square" lIns="0" tIns="0" rIns="0" bIns="0" rtlCol="0" anchor="ctr"/>
          <a:lstStyle/>
          <a:p>
            <a:pPr indent="0" marL="0">
              <a:buNone/>
            </a:pPr>
            <a:r>
              <a:rPr lang="en-US" sz="1400" b="1" dirty="0">
                <a:solidFill>
                  <a:schemeClr val="tx1"/>
                </a:solidFill>
              </a:rPr>
              <a:t>Demo needed to run without MySQL</a:t>
            </a:r>
            <a:endParaRPr lang="en-US" sz="1400" dirty="0"/>
          </a:p>
        </p:txBody>
      </p:sp>
      <p:sp>
        <p:nvSpPr>
          <p:cNvPr id="20" name="Shape 18"/>
          <p:cNvSpPr/>
          <p:nvPr/>
        </p:nvSpPr>
        <p:spPr>
          <a:xfrm>
            <a:off x="3977640" y="5632704"/>
            <a:ext cx="365760" cy="0"/>
          </a:xfrm>
          <a:prstGeom prst="line">
            <a:avLst/>
          </a:prstGeom>
          <a:noFill/>
          <a:ln w="22225">
            <a:solidFill>
              <a:schemeClr val="accent1"/>
            </a:solidFill>
            <a:prstDash val="solid"/>
            <a:tailEnd type="triangle"/>
          </a:ln>
        </p:spPr>
      </p:sp>
      <p:sp>
        <p:nvSpPr>
          <p:cNvPr id="21" name="Text 19"/>
          <p:cNvSpPr txBox="1"/>
          <p:nvPr/>
        </p:nvSpPr>
        <p:spPr>
          <a:xfrm>
            <a:off x="4480560" y="5321808"/>
            <a:ext cx="2880360" cy="640080"/>
          </a:xfrm>
          <a:prstGeom prst="rect">
            <a:avLst/>
          </a:prstGeom>
          <a:noFill/>
          <a:ln/>
        </p:spPr>
        <p:txBody>
          <a:bodyPr wrap="square" lIns="0" tIns="0" rIns="0" bIns="0" rtlCol="0" anchor="ctr"/>
          <a:lstStyle/>
          <a:p>
            <a:pPr indent="0" marL="0">
              <a:buNone/>
            </a:pPr>
            <a:r>
              <a:rPr lang="en-US" sz="1400" dirty="0">
                <a:solidFill>
                  <a:schemeClr val="accent6"/>
                </a:solidFill>
              </a:rPr>
              <a:t>dev profile with in-memory H2 and seeded data</a:t>
            </a:r>
            <a:endParaRPr lang="en-US" sz="1400" dirty="0"/>
          </a:p>
        </p:txBody>
      </p:sp>
      <p:sp>
        <p:nvSpPr>
          <p:cNvPr id="22" name="Text 20"/>
          <p:cNvSpPr txBox="1"/>
          <p:nvPr/>
        </p:nvSpPr>
        <p:spPr>
          <a:xfrm>
            <a:off x="7863840" y="1783080"/>
            <a:ext cx="3657600" cy="365760"/>
          </a:xfrm>
          <a:prstGeom prst="rect">
            <a:avLst/>
          </a:prstGeom>
          <a:noFill/>
          <a:ln/>
        </p:spPr>
        <p:txBody>
          <a:bodyPr wrap="square" lIns="0" tIns="0" rIns="0" bIns="0" rtlCol="0" anchor="t"/>
          <a:lstStyle/>
          <a:p>
            <a:pPr indent="0" marL="0">
              <a:buNone/>
            </a:pPr>
            <a:r>
              <a:rPr lang="en-US" sz="1800" b="1" dirty="0">
                <a:solidFill>
                  <a:schemeClr val="tx2"/>
                </a:solidFill>
              </a:rPr>
              <a:t>Future scope</a:t>
            </a:r>
            <a:endParaRPr lang="en-US" sz="1800" dirty="0"/>
          </a:p>
        </p:txBody>
      </p:sp>
      <p:sp>
        <p:nvSpPr>
          <p:cNvPr id="23" name="icon-bg"/>
          <p:cNvSpPr/>
          <p:nvPr/>
        </p:nvSpPr>
        <p:spPr>
          <a:xfrm>
            <a:off x="7863840" y="2240280"/>
            <a:ext cx="457200" cy="457200"/>
          </a:xfrm>
          <a:prstGeom prst="ellipse">
            <a:avLst/>
          </a:prstGeom>
          <a:solidFill>
            <a:schemeClr val="bg2"/>
          </a:solidFill>
          <a:ln/>
        </p:spPr>
      </p:sp>
      <p:pic>
        <p:nvPicPr>
          <p:cNvPr id="24" name="icon-FaMobileScreen" descr="preencoded.png">    </p:cNvPr>
          <p:cNvPicPr>
            <a:picLocks noChangeAspect="1"/>
          </p:cNvPicPr>
          <p:nvPr/>
        </p:nvPicPr>
        <p:blipFill>
          <a:blip r:embed="rId1"/>
          <a:stretch>
            <a:fillRect/>
          </a:stretch>
        </p:blipFill>
        <p:spPr>
          <a:xfrm>
            <a:off x="7987284" y="2363724"/>
            <a:ext cx="210312" cy="210312"/>
          </a:xfrm>
          <a:prstGeom prst="rect">
            <a:avLst/>
          </a:prstGeom>
        </p:spPr>
      </p:pic>
      <p:sp>
        <p:nvSpPr>
          <p:cNvPr id="25" name="Text 22"/>
          <p:cNvSpPr txBox="1"/>
          <p:nvPr/>
        </p:nvSpPr>
        <p:spPr>
          <a:xfrm>
            <a:off x="8503920" y="2313432"/>
            <a:ext cx="3108960" cy="365760"/>
          </a:xfrm>
          <a:prstGeom prst="rect">
            <a:avLst/>
          </a:prstGeom>
          <a:noFill/>
          <a:ln/>
        </p:spPr>
        <p:txBody>
          <a:bodyPr wrap="square" lIns="0" tIns="0" rIns="0" bIns="0" rtlCol="0" anchor="t"/>
          <a:lstStyle/>
          <a:p>
            <a:pPr indent="0" marL="0">
              <a:buNone/>
            </a:pPr>
            <a:r>
              <a:rPr lang="en-US" sz="1600" dirty="0">
                <a:solidFill>
                  <a:schemeClr val="tx1"/>
                </a:solidFill>
              </a:rPr>
              <a:t>OTP two-factor login</a:t>
            </a:r>
            <a:endParaRPr lang="en-US" sz="1600" dirty="0"/>
          </a:p>
        </p:txBody>
      </p:sp>
      <p:sp>
        <p:nvSpPr>
          <p:cNvPr id="26" name="icon-bg"/>
          <p:cNvSpPr/>
          <p:nvPr/>
        </p:nvSpPr>
        <p:spPr>
          <a:xfrm>
            <a:off x="7863840" y="3026664"/>
            <a:ext cx="457200" cy="457200"/>
          </a:xfrm>
          <a:prstGeom prst="ellipse">
            <a:avLst/>
          </a:prstGeom>
          <a:solidFill>
            <a:schemeClr val="bg2"/>
          </a:solidFill>
          <a:ln/>
        </p:spPr>
      </p:sp>
      <p:pic>
        <p:nvPicPr>
          <p:cNvPr id="27" name="icon-FaEnvelope" descr="preencoded.png">    </p:cNvPr>
          <p:cNvPicPr>
            <a:picLocks noChangeAspect="1"/>
          </p:cNvPicPr>
          <p:nvPr/>
        </p:nvPicPr>
        <p:blipFill>
          <a:blip r:embed="rId2"/>
          <a:stretch>
            <a:fillRect/>
          </a:stretch>
        </p:blipFill>
        <p:spPr>
          <a:xfrm>
            <a:off x="7987284" y="3150108"/>
            <a:ext cx="210312" cy="210312"/>
          </a:xfrm>
          <a:prstGeom prst="rect">
            <a:avLst/>
          </a:prstGeom>
        </p:spPr>
      </p:pic>
      <p:sp>
        <p:nvSpPr>
          <p:cNvPr id="28" name="Text 24"/>
          <p:cNvSpPr txBox="1"/>
          <p:nvPr/>
        </p:nvSpPr>
        <p:spPr>
          <a:xfrm>
            <a:off x="8503920" y="3099816"/>
            <a:ext cx="3108960" cy="365760"/>
          </a:xfrm>
          <a:prstGeom prst="rect">
            <a:avLst/>
          </a:prstGeom>
          <a:noFill/>
          <a:ln/>
        </p:spPr>
        <p:txBody>
          <a:bodyPr wrap="square" lIns="0" tIns="0" rIns="0" bIns="0" rtlCol="0" anchor="t"/>
          <a:lstStyle/>
          <a:p>
            <a:pPr indent="0" marL="0">
              <a:buNone/>
            </a:pPr>
            <a:r>
              <a:rPr lang="en-US" sz="1600" dirty="0">
                <a:solidFill>
                  <a:schemeClr val="tx1"/>
                </a:solidFill>
              </a:rPr>
              <a:t>Email and SMS alerts</a:t>
            </a:r>
            <a:endParaRPr lang="en-US" sz="1600" dirty="0"/>
          </a:p>
        </p:txBody>
      </p:sp>
      <p:sp>
        <p:nvSpPr>
          <p:cNvPr id="29" name="icon-bg"/>
          <p:cNvSpPr/>
          <p:nvPr/>
        </p:nvSpPr>
        <p:spPr>
          <a:xfrm>
            <a:off x="7863840" y="3813048"/>
            <a:ext cx="457200" cy="457200"/>
          </a:xfrm>
          <a:prstGeom prst="ellipse">
            <a:avLst/>
          </a:prstGeom>
          <a:solidFill>
            <a:schemeClr val="bg2"/>
          </a:solidFill>
          <a:ln/>
        </p:spPr>
      </p:sp>
      <p:pic>
        <p:nvPicPr>
          <p:cNvPr id="30" name="icon-FaDocker" descr="preencoded.png">    </p:cNvPr>
          <p:cNvPicPr>
            <a:picLocks noChangeAspect="1"/>
          </p:cNvPicPr>
          <p:nvPr/>
        </p:nvPicPr>
        <p:blipFill>
          <a:blip r:embed="rId3"/>
          <a:stretch>
            <a:fillRect/>
          </a:stretch>
        </p:blipFill>
        <p:spPr>
          <a:xfrm>
            <a:off x="7987284" y="3936492"/>
            <a:ext cx="210312" cy="210312"/>
          </a:xfrm>
          <a:prstGeom prst="rect">
            <a:avLst/>
          </a:prstGeom>
        </p:spPr>
      </p:pic>
      <p:sp>
        <p:nvSpPr>
          <p:cNvPr id="31" name="Text 26"/>
          <p:cNvSpPr txBox="1"/>
          <p:nvPr/>
        </p:nvSpPr>
        <p:spPr>
          <a:xfrm>
            <a:off x="8503920" y="3886200"/>
            <a:ext cx="3108960" cy="365760"/>
          </a:xfrm>
          <a:prstGeom prst="rect">
            <a:avLst/>
          </a:prstGeom>
          <a:noFill/>
          <a:ln/>
        </p:spPr>
        <p:txBody>
          <a:bodyPr wrap="square" lIns="0" tIns="0" rIns="0" bIns="0" rtlCol="0" anchor="t"/>
          <a:lstStyle/>
          <a:p>
            <a:pPr indent="0" marL="0">
              <a:buNone/>
            </a:pPr>
            <a:r>
              <a:rPr lang="en-US" sz="1600" dirty="0">
                <a:solidFill>
                  <a:schemeClr val="tx1"/>
                </a:solidFill>
              </a:rPr>
              <a:t>Docker deployment</a:t>
            </a:r>
            <a:endParaRPr lang="en-US" sz="1600" dirty="0"/>
          </a:p>
        </p:txBody>
      </p:sp>
      <p:sp>
        <p:nvSpPr>
          <p:cNvPr id="32" name="icon-bg"/>
          <p:cNvSpPr/>
          <p:nvPr/>
        </p:nvSpPr>
        <p:spPr>
          <a:xfrm>
            <a:off x="7863840" y="4599432"/>
            <a:ext cx="457200" cy="457200"/>
          </a:xfrm>
          <a:prstGeom prst="ellipse">
            <a:avLst/>
          </a:prstGeom>
          <a:solidFill>
            <a:schemeClr val="bg2"/>
          </a:solidFill>
          <a:ln/>
        </p:spPr>
      </p:sp>
      <p:pic>
        <p:nvPicPr>
          <p:cNvPr id="33" name="icon-FaCodeBranch" descr="preencoded.png">    </p:cNvPr>
          <p:cNvPicPr>
            <a:picLocks noChangeAspect="1"/>
          </p:cNvPicPr>
          <p:nvPr/>
        </p:nvPicPr>
        <p:blipFill>
          <a:blip r:embed="rId4"/>
          <a:stretch>
            <a:fillRect/>
          </a:stretch>
        </p:blipFill>
        <p:spPr>
          <a:xfrm>
            <a:off x="7987284" y="4722876"/>
            <a:ext cx="210312" cy="210312"/>
          </a:xfrm>
          <a:prstGeom prst="rect">
            <a:avLst/>
          </a:prstGeom>
        </p:spPr>
      </p:pic>
      <p:sp>
        <p:nvSpPr>
          <p:cNvPr id="34" name="Text 28"/>
          <p:cNvSpPr txBox="1"/>
          <p:nvPr/>
        </p:nvSpPr>
        <p:spPr>
          <a:xfrm>
            <a:off x="8503920" y="4672584"/>
            <a:ext cx="3108960" cy="365760"/>
          </a:xfrm>
          <a:prstGeom prst="rect">
            <a:avLst/>
          </a:prstGeom>
          <a:noFill/>
          <a:ln/>
        </p:spPr>
        <p:txBody>
          <a:bodyPr wrap="square" lIns="0" tIns="0" rIns="0" bIns="0" rtlCol="0" anchor="t"/>
          <a:lstStyle/>
          <a:p>
            <a:pPr indent="0" marL="0">
              <a:buNone/>
            </a:pPr>
            <a:r>
              <a:rPr lang="en-US" sz="1600" dirty="0">
                <a:solidFill>
                  <a:schemeClr val="tx1"/>
                </a:solidFill>
              </a:rPr>
              <a:t>CI pipeline on every push</a:t>
            </a:r>
            <a:endParaRPr lang="en-US" sz="1600" dirty="0"/>
          </a:p>
        </p:txBody>
      </p:sp>
      <p:sp>
        <p:nvSpPr>
          <p:cNvPr id="35" name="icon-bg"/>
          <p:cNvSpPr/>
          <p:nvPr/>
        </p:nvSpPr>
        <p:spPr>
          <a:xfrm>
            <a:off x="7863840" y="5385816"/>
            <a:ext cx="457200" cy="457200"/>
          </a:xfrm>
          <a:prstGeom prst="ellipse">
            <a:avLst/>
          </a:prstGeom>
          <a:solidFill>
            <a:schemeClr val="bg2"/>
          </a:solidFill>
          <a:ln/>
        </p:spPr>
      </p:sp>
      <p:pic>
        <p:nvPicPr>
          <p:cNvPr id="36" name="icon-FaChartLine" descr="preencoded.png">    </p:cNvPr>
          <p:cNvPicPr>
            <a:picLocks noChangeAspect="1"/>
          </p:cNvPicPr>
          <p:nvPr/>
        </p:nvPicPr>
        <p:blipFill>
          <a:blip r:embed="rId5"/>
          <a:stretch>
            <a:fillRect/>
          </a:stretch>
        </p:blipFill>
        <p:spPr>
          <a:xfrm>
            <a:off x="7987284" y="5509260"/>
            <a:ext cx="210312" cy="210312"/>
          </a:xfrm>
          <a:prstGeom prst="rect">
            <a:avLst/>
          </a:prstGeom>
        </p:spPr>
      </p:pic>
      <p:sp>
        <p:nvSpPr>
          <p:cNvPr id="37" name="Text 30"/>
          <p:cNvSpPr txBox="1"/>
          <p:nvPr/>
        </p:nvSpPr>
        <p:spPr>
          <a:xfrm>
            <a:off x="8503920" y="5458968"/>
            <a:ext cx="3108960" cy="365760"/>
          </a:xfrm>
          <a:prstGeom prst="rect">
            <a:avLst/>
          </a:prstGeom>
          <a:noFill/>
          <a:ln/>
        </p:spPr>
        <p:txBody>
          <a:bodyPr wrap="square" lIns="0" tIns="0" rIns="0" bIns="0" rtlCol="0" anchor="t"/>
          <a:lstStyle/>
          <a:p>
            <a:pPr indent="0" marL="0">
              <a:buNone/>
            </a:pPr>
            <a:r>
              <a:rPr lang="en-US" sz="1600" dirty="0">
                <a:solidFill>
                  <a:schemeClr val="tx1"/>
                </a:solidFill>
              </a:rPr>
              <a:t>Spending insights with ML</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40080" y="1737360"/>
            <a:ext cx="5486400" cy="274320"/>
          </a:xfrm>
          <a:prstGeom prst="rect">
            <a:avLst/>
          </a:prstGeom>
          <a:noFill/>
          <a:ln/>
        </p:spPr>
        <p:txBody>
          <a:bodyPr wrap="square" lIns="0" tIns="0" rIns="0" bIns="0" rtlCol="0" anchor="t"/>
          <a:lstStyle/>
          <a:p>
            <a:pPr indent="0" marL="0">
              <a:buNone/>
            </a:pPr>
            <a:r>
              <a:rPr lang="en-US" sz="1300" b="1" spc="300" kern="0" dirty="0">
                <a:solidFill>
                  <a:schemeClr val="accent2"/>
                </a:solidFill>
              </a:rPr>
              <a:t>CONCLUSION</a:t>
            </a:r>
            <a:endParaRPr lang="en-US" sz="1300" dirty="0"/>
          </a:p>
        </p:txBody>
      </p:sp>
      <p:sp>
        <p:nvSpPr>
          <p:cNvPr id="3" name="Text 0"/>
          <p:cNvSpPr/>
          <p:nvPr>
            <p:ph idx="100" type="title" hasCustomPrompt="1"/>
          </p:nvPr>
        </p:nvSpPr>
        <p:spPr>
          <a:xfrm>
            <a:off x="640080" y="2103120"/>
            <a:ext cx="5577840" cy="914400"/>
          </a:xfrm>
          <a:prstGeom prst="rect">
            <a:avLst/>
          </a:prstGeom>
          <a:noFill/>
          <a:ln/>
        </p:spPr>
        <p:txBody>
          <a:bodyPr wrap="square" lIns="0" tIns="0" rIns="0" bIns="0" rtlCol="0" anchor="b"/>
          <a:lstStyle/>
          <a:p>
            <a:pPr algn="l" indent="0" marL="0">
              <a:buNone/>
            </a:pPr>
            <a:r>
              <a:rPr lang="en-US" sz="4400" b="1" dirty="0">
                <a:solidFill>
                  <a:schemeClr val="bg1"/>
                </a:solidFill>
              </a:rPr>
              <a:t>Thank you</a:t>
            </a:r>
            <a:endParaRPr lang="en-US" sz="4400" dirty="0"/>
          </a:p>
        </p:txBody>
      </p:sp>
      <p:sp>
        <p:nvSpPr>
          <p:cNvPr id="4" name="Text 0"/>
          <p:cNvSpPr/>
          <p:nvPr>
            <p:ph idx="101" type="body" hasCustomPrompt="1"/>
          </p:nvPr>
        </p:nvSpPr>
        <p:spPr>
          <a:xfrm>
            <a:off x="640080" y="3127248"/>
            <a:ext cx="5577840" cy="1097280"/>
          </a:xfrm>
          <a:prstGeom prst="rect">
            <a:avLst/>
          </a:prstGeom>
          <a:noFill/>
          <a:ln/>
        </p:spPr>
        <p:txBody>
          <a:bodyPr wrap="square" lIns="0" tIns="0" rIns="0" bIns="0" rtlCol="0" anchor="t"/>
          <a:lstStyle/>
          <a:p>
            <a:pPr algn="l" indent="0" marL="0">
              <a:buNone/>
            </a:pPr>
            <a:r>
              <a:rPr lang="en-US" sz="1800" dirty="0">
                <a:solidFill>
                  <a:srgbClr val="CBD5E1"/>
                </a:solidFill>
              </a:rPr>
              <a:t>Questions and live demo</a:t>
            </a:r>
            <a:endParaRPr lang="en-US" sz="1800" dirty="0"/>
          </a:p>
        </p:txBody>
      </p:sp>
      <p:sp>
        <p:nvSpPr>
          <p:cNvPr id="5" name="card"/>
          <p:cNvSpPr/>
          <p:nvPr/>
        </p:nvSpPr>
        <p:spPr>
          <a:xfrm>
            <a:off x="6675120" y="2011680"/>
            <a:ext cx="4937760" cy="1024128"/>
          </a:xfrm>
          <a:prstGeom prst="roundRect">
            <a:avLst>
              <a:gd name="adj" fmla="val 7143"/>
            </a:avLst>
          </a:prstGeom>
          <a:solidFill>
            <a:srgbClr val="16304F"/>
          </a:solidFill>
          <a:ln/>
        </p:spPr>
      </p:sp>
      <p:sp>
        <p:nvSpPr>
          <p:cNvPr id="6" name="Text 4"/>
          <p:cNvSpPr txBox="1"/>
          <p:nvPr/>
        </p:nvSpPr>
        <p:spPr>
          <a:xfrm>
            <a:off x="6949440" y="2148840"/>
            <a:ext cx="4480560" cy="320040"/>
          </a:xfrm>
          <a:prstGeom prst="rect">
            <a:avLst/>
          </a:prstGeom>
          <a:noFill/>
          <a:ln/>
        </p:spPr>
        <p:txBody>
          <a:bodyPr wrap="square" lIns="0" tIns="0" rIns="0" bIns="0" rtlCol="0" anchor="t"/>
          <a:lstStyle/>
          <a:p>
            <a:pPr indent="0" marL="0">
              <a:buNone/>
            </a:pPr>
            <a:r>
              <a:rPr lang="en-US" sz="1700" b="1" dirty="0">
                <a:solidFill>
                  <a:schemeClr val="accent2"/>
                </a:solidFill>
              </a:rPr>
              <a:t>Core Java</a:t>
            </a:r>
            <a:endParaRPr lang="en-US" sz="1700" dirty="0"/>
          </a:p>
        </p:txBody>
      </p:sp>
      <p:sp>
        <p:nvSpPr>
          <p:cNvPr id="7" name="Text 5"/>
          <p:cNvSpPr txBox="1"/>
          <p:nvPr/>
        </p:nvSpPr>
        <p:spPr>
          <a:xfrm>
            <a:off x="6949440" y="2487168"/>
            <a:ext cx="4480560" cy="502920"/>
          </a:xfrm>
          <a:prstGeom prst="rect">
            <a:avLst/>
          </a:prstGeom>
          <a:noFill/>
          <a:ln/>
        </p:spPr>
        <p:txBody>
          <a:bodyPr wrap="square" lIns="0" tIns="0" rIns="0" bIns="0" rtlCol="0" anchor="t"/>
          <a:lstStyle/>
          <a:p>
            <a:pPr indent="0" marL="0">
              <a:buNone/>
            </a:pPr>
            <a:r>
              <a:rPr lang="en-US" sz="1400" dirty="0">
                <a:solidFill>
                  <a:schemeClr val="bg1"/>
                </a:solidFill>
              </a:rPr>
              <a:t>Abstract classes, interfaces, polymorphism, checked exceptions, generics</a:t>
            </a:r>
            <a:endParaRPr lang="en-US" sz="1400" dirty="0"/>
          </a:p>
        </p:txBody>
      </p:sp>
      <p:sp>
        <p:nvSpPr>
          <p:cNvPr id="8" name="card"/>
          <p:cNvSpPr/>
          <p:nvPr/>
        </p:nvSpPr>
        <p:spPr>
          <a:xfrm>
            <a:off x="6675120" y="3200400"/>
            <a:ext cx="4937760" cy="1024128"/>
          </a:xfrm>
          <a:prstGeom prst="roundRect">
            <a:avLst>
              <a:gd name="adj" fmla="val 7143"/>
            </a:avLst>
          </a:prstGeom>
          <a:solidFill>
            <a:srgbClr val="16304F"/>
          </a:solidFill>
          <a:ln/>
        </p:spPr>
      </p:sp>
      <p:sp>
        <p:nvSpPr>
          <p:cNvPr id="9" name="Text 7"/>
          <p:cNvSpPr txBox="1"/>
          <p:nvPr/>
        </p:nvSpPr>
        <p:spPr>
          <a:xfrm>
            <a:off x="6949440" y="3337560"/>
            <a:ext cx="4480560" cy="320040"/>
          </a:xfrm>
          <a:prstGeom prst="rect">
            <a:avLst/>
          </a:prstGeom>
          <a:noFill/>
          <a:ln/>
        </p:spPr>
        <p:txBody>
          <a:bodyPr wrap="square" lIns="0" tIns="0" rIns="0" bIns="0" rtlCol="0" anchor="t"/>
          <a:lstStyle/>
          <a:p>
            <a:pPr indent="0" marL="0">
              <a:buNone/>
            </a:pPr>
            <a:r>
              <a:rPr lang="en-US" sz="1700" b="1" dirty="0">
                <a:solidFill>
                  <a:schemeClr val="accent2"/>
                </a:solidFill>
              </a:rPr>
              <a:t>Concurrency</a:t>
            </a:r>
            <a:endParaRPr lang="en-US" sz="1700" dirty="0"/>
          </a:p>
        </p:txBody>
      </p:sp>
      <p:sp>
        <p:nvSpPr>
          <p:cNvPr id="10" name="Text 8"/>
          <p:cNvSpPr txBox="1"/>
          <p:nvPr/>
        </p:nvSpPr>
        <p:spPr>
          <a:xfrm>
            <a:off x="6949440" y="3675888"/>
            <a:ext cx="4480560" cy="502920"/>
          </a:xfrm>
          <a:prstGeom prst="rect">
            <a:avLst/>
          </a:prstGeom>
          <a:noFill/>
          <a:ln/>
        </p:spPr>
        <p:txBody>
          <a:bodyPr wrap="square" lIns="0" tIns="0" rIns="0" bIns="0" rtlCol="0" anchor="t"/>
          <a:lstStyle/>
          <a:p>
            <a:pPr indent="0" marL="0">
              <a:buNone/>
            </a:pPr>
            <a:r>
              <a:rPr lang="en-US" sz="1400" dirty="0">
                <a:solidFill>
                  <a:schemeClr val="bg1"/>
                </a:solidFill>
              </a:rPr>
              <a:t>Deadlock-free synchronized transfers, thread pool, producer-consumer</a:t>
            </a:r>
            <a:endParaRPr lang="en-US" sz="1400" dirty="0"/>
          </a:p>
        </p:txBody>
      </p:sp>
      <p:sp>
        <p:nvSpPr>
          <p:cNvPr id="11" name="card"/>
          <p:cNvSpPr/>
          <p:nvPr/>
        </p:nvSpPr>
        <p:spPr>
          <a:xfrm>
            <a:off x="6675120" y="4389120"/>
            <a:ext cx="4937760" cy="1024128"/>
          </a:xfrm>
          <a:prstGeom prst="roundRect">
            <a:avLst>
              <a:gd name="adj" fmla="val 7143"/>
            </a:avLst>
          </a:prstGeom>
          <a:solidFill>
            <a:srgbClr val="16304F"/>
          </a:solidFill>
          <a:ln/>
        </p:spPr>
      </p:sp>
      <p:sp>
        <p:nvSpPr>
          <p:cNvPr id="12" name="Text 10"/>
          <p:cNvSpPr txBox="1"/>
          <p:nvPr/>
        </p:nvSpPr>
        <p:spPr>
          <a:xfrm>
            <a:off x="6949440" y="4526280"/>
            <a:ext cx="4480560" cy="320040"/>
          </a:xfrm>
          <a:prstGeom prst="rect">
            <a:avLst/>
          </a:prstGeom>
          <a:noFill/>
          <a:ln/>
        </p:spPr>
        <p:txBody>
          <a:bodyPr wrap="square" lIns="0" tIns="0" rIns="0" bIns="0" rtlCol="0" anchor="t"/>
          <a:lstStyle/>
          <a:p>
            <a:pPr indent="0" marL="0">
              <a:buNone/>
            </a:pPr>
            <a:r>
              <a:rPr lang="en-US" sz="1700" b="1" dirty="0">
                <a:solidFill>
                  <a:schemeClr val="accent2"/>
                </a:solidFill>
              </a:rPr>
              <a:t>JDBC + Servlets</a:t>
            </a:r>
            <a:endParaRPr lang="en-US" sz="1700" dirty="0"/>
          </a:p>
        </p:txBody>
      </p:sp>
      <p:sp>
        <p:nvSpPr>
          <p:cNvPr id="13" name="Text 11"/>
          <p:cNvSpPr txBox="1"/>
          <p:nvPr/>
        </p:nvSpPr>
        <p:spPr>
          <a:xfrm>
            <a:off x="6949440" y="4864608"/>
            <a:ext cx="4480560" cy="502920"/>
          </a:xfrm>
          <a:prstGeom prst="rect">
            <a:avLst/>
          </a:prstGeom>
          <a:noFill/>
          <a:ln/>
        </p:spPr>
        <p:txBody>
          <a:bodyPr wrap="square" lIns="0" tIns="0" rIns="0" bIns="0" rtlCol="0" anchor="t"/>
          <a:lstStyle/>
          <a:p>
            <a:pPr indent="0" marL="0">
              <a:buNone/>
            </a:pPr>
            <a:r>
              <a:rPr lang="en-US" sz="1400" dirty="0">
                <a:solidFill>
                  <a:schemeClr val="bg1"/>
                </a:solidFill>
              </a:rPr>
              <a:t>DAO pattern over PreparedStatement; filter, listener and session portal</a:t>
            </a:r>
            <a:endParaRPr lang="en-US" sz="1400" dirty="0"/>
          </a:p>
        </p:txBody>
      </p:sp>
    </p:spTree>
  </p:cSld>
  <p:clrMapOvr>
    <a:masterClrMapping/>
  </p:clrMapOvr>
</p:sld>
</file>

<file path=ppt/theme/theme1.xml><?xml version="1.0" encoding="utf-8"?>
<a:theme xmlns:a="http://schemas.openxmlformats.org/drawingml/2006/main" name="BNB Professional">
  <a:themeElements>
    <a:clrScheme name="BNB Professional">
      <a:dk1>
        <a:srgbClr val="0F172A"/>
      </a:dk1>
      <a:lt1>
        <a:srgbClr val="FFFFFF"/>
      </a:lt1>
      <a:dk2>
        <a:srgbClr val="0B1F3A"/>
      </a:dk2>
      <a:lt2>
        <a:srgbClr val="F1F5F9"/>
      </a:lt2>
      <a:accent1>
        <a:srgbClr val="1D4ED8"/>
      </a:accent1>
      <a:accent2>
        <a:srgbClr val="F59E0B"/>
      </a:accent2>
      <a:accent3>
        <a:srgbClr val="0E7490"/>
      </a:accent3>
      <a:accent4>
        <a:srgbClr val="15803D"/>
      </a:accent4>
      <a:accent5>
        <a:srgbClr val="B91C1C"/>
      </a:accent5>
      <a:accent6>
        <a:srgbClr val="64748B"/>
      </a:accent6>
      <a:hlink>
        <a:srgbClr val="1D4ED8"/>
      </a:hlink>
      <a:folHlink>
        <a:srgbClr val="64748B"/>
      </a:folHlink>
    </a:clrScheme>
    <a:fontScheme name="BNB Professi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Bharat National Bank - Online Banking System</dc:title>
  <dc:subject>PptxGenJS Presentation</dc:subject>
  <dc:creator>Manish</dc:creator>
  <cp:lastModifiedBy>Manish</cp:lastModifiedBy>
  <cp:revision>1</cp:revision>
  <dcterms:created xsi:type="dcterms:W3CDTF">2026-10-13T19:30:25Z</dcterms:created>
  <dcterms:modified xsi:type="dcterms:W3CDTF">2026-10-13T19:30:25Z</dcterms:modified>
</cp:coreProperties>
</file>